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363759"/>
            <a:ext cx="7715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2450" b="1" spc="-2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85838" y="2135284"/>
            <a:ext cx="7443788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Evertec Dupie — Análise Técnica</a:t>
            </a: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Detalhada para Equipe de TI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985838" y="3122516"/>
            <a:ext cx="7443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Avaliação Arquitetônica, Segurança, Operações e Conformidade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01A4D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286250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650581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4618434"/>
            <a:ext cx="159841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BCB 339/2023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705" y="4650581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95017" y="4618434"/>
            <a:ext cx="9519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Prazo: Q2/2027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672" y="4650581"/>
            <a:ext cx="160734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79131" y="4618434"/>
            <a:ext cx="338435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Audiência: Arquitetos, Eng. Segurança, DevOps, DBAs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85788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51905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SaaS: Multi-tenant Cloud com Integração via APIs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71985"/>
            <a:ext cx="4723442" cy="1187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71985"/>
            <a:ext cx="4723442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850566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1814847"/>
            <a:ext cx="26449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Componentes Core &amp; Infraestrutura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143460"/>
            <a:ext cx="114300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122029"/>
            <a:ext cx="417016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Cloud (AWS/Azure). Multi-tenant com isolamento lógico.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2334890"/>
            <a:ext cx="114300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" y="2313459"/>
            <a:ext cx="39719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REST/GraphQL para integração com sistemas legados.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2526320"/>
            <a:ext cx="114300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0100" y="2504889"/>
            <a:ext cx="433447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Persistência: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PostgreSQL/Oracle com replicação para alta disponibilidade.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2717750"/>
            <a:ext cx="114300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0100" y="2696319"/>
            <a:ext cx="3661172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Mensageria: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RabbitMQ/Kafka para processamento assíncrono.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71500" y="2987762"/>
            <a:ext cx="4723442" cy="99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2987762"/>
            <a:ext cx="4723442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3066343"/>
            <a:ext cx="142875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8675" y="3030624"/>
            <a:ext cx="217884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Segurança e Observabilidade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3" y="3359237"/>
            <a:ext cx="114300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00100" y="3337806"/>
            <a:ext cx="295572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TLS 1.3 e KMS para dados em repouso.</a:t>
            </a:r>
            <a:endParaRPr lang="en-US" sz="8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3" y="3550667"/>
            <a:ext cx="114300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00100" y="3529236"/>
            <a:ext cx="22056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Perímetro: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WAF e proteção Anti-DDoS.</a:t>
            </a:r>
            <a:endParaRPr lang="en-US" sz="8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3" y="3742097"/>
            <a:ext cx="114300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800100" y="3720666"/>
            <a:ext cx="404872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Observabilidade: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ELK para logs e Prometheus/Grafana para métricas.</a:t>
            </a:r>
            <a:endParaRPr lang="en-US" sz="800" dirty="0"/>
          </a:p>
        </p:txBody>
      </p:sp>
      <p:sp>
        <p:nvSpPr>
          <p:cNvPr id="28" name="Shape 16"/>
          <p:cNvSpPr/>
          <p:nvPr/>
        </p:nvSpPr>
        <p:spPr>
          <a:xfrm>
            <a:off x="5423529" y="1771985"/>
            <a:ext cx="3148971" cy="13287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7"/>
          <p:cNvSpPr/>
          <p:nvPr/>
        </p:nvSpPr>
        <p:spPr>
          <a:xfrm>
            <a:off x="5423529" y="1771985"/>
            <a:ext cx="28575" cy="13287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6392" y="1846994"/>
            <a:ext cx="128588" cy="12858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652129" y="1814847"/>
            <a:ext cx="1357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5466392" y="2050591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Auto-scaling: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Escalabilidade automática conforme carga.</a:t>
            </a:r>
            <a:endParaRPr lang="en-US" sz="750" dirty="0"/>
          </a:p>
        </p:txBody>
      </p:sp>
      <p:sp>
        <p:nvSpPr>
          <p:cNvPr id="33" name="Text 20"/>
          <p:cNvSpPr/>
          <p:nvPr/>
        </p:nvSpPr>
        <p:spPr>
          <a:xfrm>
            <a:off x="5466392" y="2372060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Atualizações aplicadas com rolling deploy.</a:t>
            </a:r>
            <a:endParaRPr lang="en-US" sz="750" dirty="0"/>
          </a:p>
        </p:txBody>
      </p:sp>
      <p:sp>
        <p:nvSpPr>
          <p:cNvPr id="34" name="Text 21"/>
          <p:cNvSpPr/>
          <p:nvPr/>
        </p:nvSpPr>
        <p:spPr>
          <a:xfrm>
            <a:off x="5466392" y="269352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 Gerenciada: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Evertec: backup, DR e compliance.</a:t>
            </a:r>
            <a:endParaRPr lang="en-US" sz="750" dirty="0"/>
          </a:p>
        </p:txBody>
      </p:sp>
      <p:sp>
        <p:nvSpPr>
          <p:cNvPr id="35" name="Text 22"/>
          <p:cNvSpPr/>
          <p:nvPr/>
        </p:nvSpPr>
        <p:spPr>
          <a:xfrm>
            <a:off x="5466392" y="2875694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SLA Garantido: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99.99% disponibilidade.</a:t>
            </a:r>
            <a:endParaRPr lang="en-US" sz="750" dirty="0"/>
          </a:p>
        </p:txBody>
      </p:sp>
      <p:sp>
        <p:nvSpPr>
          <p:cNvPr id="36" name="Shape 23"/>
          <p:cNvSpPr/>
          <p:nvPr/>
        </p:nvSpPr>
        <p:spPr>
          <a:xfrm>
            <a:off x="5423529" y="3157872"/>
            <a:ext cx="3148971" cy="11894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4"/>
          <p:cNvSpPr/>
          <p:nvPr/>
        </p:nvSpPr>
        <p:spPr>
          <a:xfrm>
            <a:off x="5423529" y="3157872"/>
            <a:ext cx="28575" cy="1189434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8" name="Text 25"/>
          <p:cNvSpPr/>
          <p:nvPr/>
        </p:nvSpPr>
        <p:spPr>
          <a:xfrm>
            <a:off x="5466392" y="2064879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9" name="Text 26"/>
          <p:cNvSpPr/>
          <p:nvPr/>
        </p:nvSpPr>
        <p:spPr>
          <a:xfrm>
            <a:off x="5466392" y="2386347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0" name="Text 27"/>
          <p:cNvSpPr/>
          <p:nvPr/>
        </p:nvSpPr>
        <p:spPr>
          <a:xfrm>
            <a:off x="5466392" y="270781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1" name="Text 28"/>
          <p:cNvSpPr/>
          <p:nvPr/>
        </p:nvSpPr>
        <p:spPr>
          <a:xfrm>
            <a:off x="5466392" y="2889982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6392" y="3232882"/>
            <a:ext cx="128588" cy="12858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652129" y="3200735"/>
            <a:ext cx="11340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e Riscos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5466392" y="343647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Externa: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Overhead de rede (50-100ms).</a:t>
            </a:r>
            <a:endParaRPr lang="en-US" sz="750" dirty="0"/>
          </a:p>
        </p:txBody>
      </p:sp>
      <p:sp>
        <p:nvSpPr>
          <p:cNvPr id="45" name="Text 31"/>
          <p:cNvSpPr/>
          <p:nvPr/>
        </p:nvSpPr>
        <p:spPr>
          <a:xfrm>
            <a:off x="5466392" y="3618644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Vendor Lock-in: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Limitações de customização.</a:t>
            </a:r>
            <a:endParaRPr lang="en-US" sz="750" dirty="0"/>
          </a:p>
        </p:txBody>
      </p:sp>
      <p:sp>
        <p:nvSpPr>
          <p:cNvPr id="46" name="Text 32"/>
          <p:cNvSpPr/>
          <p:nvPr/>
        </p:nvSpPr>
        <p:spPr>
          <a:xfrm>
            <a:off x="5466392" y="3800810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Dependência de API: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Sem acesso direto ao banco para queries ad-hoc.</a:t>
            </a:r>
            <a:endParaRPr lang="en-US" sz="750" dirty="0"/>
          </a:p>
        </p:txBody>
      </p:sp>
      <p:sp>
        <p:nvSpPr>
          <p:cNvPr id="47" name="Text 33"/>
          <p:cNvSpPr/>
          <p:nvPr/>
        </p:nvSpPr>
        <p:spPr>
          <a:xfrm>
            <a:off x="5466392" y="412227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Noisy Neighbor: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em picos multi-tenant.</a:t>
            </a:r>
            <a:endParaRPr lang="en-US" sz="750" dirty="0"/>
          </a:p>
        </p:txBody>
      </p:sp>
      <p:sp>
        <p:nvSpPr>
          <p:cNvPr id="48" name="Text 34"/>
          <p:cNvSpPr/>
          <p:nvPr/>
        </p:nvSpPr>
        <p:spPr>
          <a:xfrm>
            <a:off x="5466392" y="345076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9" name="Text 35"/>
          <p:cNvSpPr/>
          <p:nvPr/>
        </p:nvSpPr>
        <p:spPr>
          <a:xfrm>
            <a:off x="5466392" y="3632932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0" name="Text 36"/>
          <p:cNvSpPr/>
          <p:nvPr/>
        </p:nvSpPr>
        <p:spPr>
          <a:xfrm>
            <a:off x="5466392" y="3815097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1" name="Text 37"/>
          <p:cNvSpPr/>
          <p:nvPr/>
        </p:nvSpPr>
        <p:spPr>
          <a:xfrm>
            <a:off x="5466392" y="413656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94767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On-Premise: Controle Total, Infraestrutura Interna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893429"/>
            <a:ext cx="3143250" cy="13930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893429"/>
            <a:ext cx="28575" cy="1393031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82725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4388" y="1950579"/>
            <a:ext cx="1357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8650" y="22006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 Total: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Domínio absoluto sobre arquitetura, código-fonte e dados.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28650" y="25435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Sem Latência: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Comunicação interna ao data center (&lt;1ms) com sistemas legados.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28650" y="28864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Acesso Direto: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Integração nativa com banco de dados para queries ad-hoc.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71500" y="3343610"/>
            <a:ext cx="3143250" cy="17359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3343610"/>
            <a:ext cx="28575" cy="173593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Text 11"/>
          <p:cNvSpPr/>
          <p:nvPr/>
        </p:nvSpPr>
        <p:spPr>
          <a:xfrm>
            <a:off x="628650" y="22148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628650" y="25577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628650" y="29006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32907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4388" y="3400760"/>
            <a:ext cx="11340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e Riscos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8650" y="36507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 Manual: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Requer planejamento de capacidade e investimento (CAPEX).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28650" y="39936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Overhead Operacional: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Necessidade de equipe dedicada (15-20 eng.) para operação.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28650" y="43365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Atualizações de SO e segurança exigem downtime planejado.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628650" y="46794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Risco de Execução: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Concentração de vulnerabilidades no desenvolvimento próprio.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28650" y="36650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628650" y="40079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628650" y="43508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628650" y="46937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Shape 23"/>
          <p:cNvSpPr/>
          <p:nvPr/>
        </p:nvSpPr>
        <p:spPr>
          <a:xfrm>
            <a:off x="3857625" y="1893429"/>
            <a:ext cx="4714875" cy="1567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3857625" y="1893429"/>
            <a:ext cx="4714875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986297"/>
            <a:ext cx="142875" cy="1428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129088" y="1950579"/>
            <a:ext cx="26449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Componentes Core &amp; Infraestrutura</a:t>
            </a:r>
            <a:endParaRPr lang="en-US" sz="10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314910"/>
            <a:ext cx="75009" cy="10001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1222" y="2286335"/>
            <a:ext cx="445412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Servidores dedicados no data center do Banco ou em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infraestrutura cloud privada (AWS VPC, Azure Private Cloud).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2677790"/>
            <a:ext cx="112514" cy="10001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98727" y="2649215"/>
            <a:ext cx="441662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Soluções internas (Kong/Nginx) para exposição de serviços e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balanceamento de carga (F5/HAProxy).</a:t>
            </a:r>
            <a:endParaRPr lang="en-US" sz="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4775" y="3040670"/>
            <a:ext cx="87511" cy="10001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73723" y="3012095"/>
            <a:ext cx="444162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Persistência: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de Dados Relacional (Oracle/PostgreSQL) com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replicação master-slave para Alta Disponibilidade.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3857625" y="3489275"/>
            <a:ext cx="4714875" cy="1567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0"/>
          <p:cNvSpPr/>
          <p:nvPr/>
        </p:nvSpPr>
        <p:spPr>
          <a:xfrm>
            <a:off x="3857625" y="3489275"/>
            <a:ext cx="4714875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4775" y="3582144"/>
            <a:ext cx="142875" cy="14287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129088" y="3546425"/>
            <a:ext cx="2996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Postura de Segurança e Observabilidade</a:t>
            </a:r>
            <a:endParaRPr lang="en-US" sz="10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4775" y="3910757"/>
            <a:ext cx="93120" cy="10001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079332" y="3882182"/>
            <a:ext cx="443601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TLS 1.3 em trânsito e criptografia em repouso via HSM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corporativo ou KMS interno.</a:t>
            </a:r>
            <a:endParaRPr lang="en-US" sz="8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4775" y="4273637"/>
            <a:ext cx="88683" cy="100013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074895" y="4245062"/>
            <a:ext cx="444045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Identidade: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MFA e autenticação nativamente integradas com o sistema IAM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corporativo do Banco.</a:t>
            </a:r>
            <a:endParaRPr lang="en-US" sz="8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775" y="4636517"/>
            <a:ext cx="100013" cy="100013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086225" y="4607942"/>
            <a:ext cx="4429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Observabilidade: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SIEM corporativo para correlação de eventos de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segurança e Datadog/Splunk para métricas.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45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2875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414338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709017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Visão Arquitetônica: Infográfico Comparativo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211926"/>
            <a:ext cx="3857625" cy="4192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11926"/>
            <a:ext cx="3857625" cy="42863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777" y="1369981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7527" y="1326226"/>
            <a:ext cx="199132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7988" y="1728062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7"/>
          <p:cNvSpPr/>
          <p:nvPr/>
        </p:nvSpPr>
        <p:spPr>
          <a:xfrm>
            <a:off x="957988" y="1728062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8"/>
          <p:cNvSpPr/>
          <p:nvPr/>
        </p:nvSpPr>
        <p:spPr>
          <a:xfrm>
            <a:off x="4028349" y="1728062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9"/>
          <p:cNvSpPr/>
          <p:nvPr/>
        </p:nvSpPr>
        <p:spPr>
          <a:xfrm>
            <a:off x="957988" y="220917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988" y="1728062"/>
            <a:ext cx="42863" cy="49540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Shape 11"/>
          <p:cNvSpPr/>
          <p:nvPr/>
        </p:nvSpPr>
        <p:spPr>
          <a:xfrm>
            <a:off x="1043713" y="1818587"/>
            <a:ext cx="285750" cy="285750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94" y="1897168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5188" y="1813787"/>
            <a:ext cx="133230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Bancário BS2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415188" y="1997739"/>
            <a:ext cx="133230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Sistemas legados e usuários</a:t>
            </a:r>
            <a:endParaRPr lang="en-US" sz="650" dirty="0"/>
          </a:p>
        </p:txBody>
      </p:sp>
      <p:sp>
        <p:nvSpPr>
          <p:cNvPr id="19" name="Shape 14"/>
          <p:cNvSpPr/>
          <p:nvPr/>
        </p:nvSpPr>
        <p:spPr>
          <a:xfrm>
            <a:off x="1922562" y="2294902"/>
            <a:ext cx="1155502" cy="17145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FF9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143" y="2337764"/>
            <a:ext cx="75009" cy="857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11871" y="2316333"/>
            <a:ext cx="8876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100-200ms Latência</a:t>
            </a:r>
            <a:endParaRPr lang="en-US" sz="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306" y="2387771"/>
            <a:ext cx="100013" cy="1143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57988" y="2566364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17"/>
          <p:cNvSpPr/>
          <p:nvPr/>
        </p:nvSpPr>
        <p:spPr>
          <a:xfrm>
            <a:off x="957988" y="256636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18"/>
          <p:cNvSpPr/>
          <p:nvPr/>
        </p:nvSpPr>
        <p:spPr>
          <a:xfrm>
            <a:off x="4028349" y="2566364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19"/>
          <p:cNvSpPr/>
          <p:nvPr/>
        </p:nvSpPr>
        <p:spPr>
          <a:xfrm>
            <a:off x="957988" y="304747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0"/>
          <p:cNvSpPr/>
          <p:nvPr/>
        </p:nvSpPr>
        <p:spPr>
          <a:xfrm>
            <a:off x="957988" y="2566364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8" name="Shape 21"/>
          <p:cNvSpPr/>
          <p:nvPr/>
        </p:nvSpPr>
        <p:spPr>
          <a:xfrm>
            <a:off x="1043713" y="2656889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294" y="2735470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5188" y="2652089"/>
            <a:ext cx="189309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 Externo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1415188" y="2836041"/>
            <a:ext cx="18930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REST/GraphQL via Internet</a:t>
            </a:r>
            <a:endParaRPr lang="en-US" sz="6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306" y="3226073"/>
            <a:ext cx="100013" cy="1143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957988" y="3404667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25"/>
          <p:cNvSpPr/>
          <p:nvPr/>
        </p:nvSpPr>
        <p:spPr>
          <a:xfrm>
            <a:off x="957988" y="340466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26"/>
          <p:cNvSpPr/>
          <p:nvPr/>
        </p:nvSpPr>
        <p:spPr>
          <a:xfrm>
            <a:off x="4028349" y="3404667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Shape 27"/>
          <p:cNvSpPr/>
          <p:nvPr/>
        </p:nvSpPr>
        <p:spPr>
          <a:xfrm>
            <a:off x="957988" y="3885781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28"/>
          <p:cNvSpPr/>
          <p:nvPr/>
        </p:nvSpPr>
        <p:spPr>
          <a:xfrm>
            <a:off x="957988" y="3404667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8" name="Shape 29"/>
          <p:cNvSpPr/>
          <p:nvPr/>
        </p:nvSpPr>
        <p:spPr>
          <a:xfrm>
            <a:off x="1043713" y="3495191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21" y="3573773"/>
            <a:ext cx="160734" cy="128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415188" y="3490392"/>
            <a:ext cx="175736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Aplicação DUPIE (AWS/Azure)</a:t>
            </a:r>
            <a:endParaRPr lang="en-US" sz="800" dirty="0"/>
          </a:p>
        </p:txBody>
      </p:sp>
      <p:sp>
        <p:nvSpPr>
          <p:cNvPr id="41" name="Text 31"/>
          <p:cNvSpPr/>
          <p:nvPr/>
        </p:nvSpPr>
        <p:spPr>
          <a:xfrm>
            <a:off x="1415188" y="3674343"/>
            <a:ext cx="17573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Multi-tenant</a:t>
            </a:r>
            <a:endParaRPr lang="en-US" sz="6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306" y="4064375"/>
            <a:ext cx="100013" cy="11430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57988" y="4242969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Shape 33"/>
          <p:cNvSpPr/>
          <p:nvPr/>
        </p:nvSpPr>
        <p:spPr>
          <a:xfrm>
            <a:off x="957988" y="424296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34"/>
          <p:cNvSpPr/>
          <p:nvPr/>
        </p:nvSpPr>
        <p:spPr>
          <a:xfrm>
            <a:off x="4028349" y="4242969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Shape 35"/>
          <p:cNvSpPr/>
          <p:nvPr/>
        </p:nvSpPr>
        <p:spPr>
          <a:xfrm>
            <a:off x="957988" y="472408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Shape 36"/>
          <p:cNvSpPr/>
          <p:nvPr/>
        </p:nvSpPr>
        <p:spPr>
          <a:xfrm>
            <a:off x="957988" y="4242969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8" name="Shape 37"/>
          <p:cNvSpPr/>
          <p:nvPr/>
        </p:nvSpPr>
        <p:spPr>
          <a:xfrm>
            <a:off x="1043713" y="4333494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331" y="4412075"/>
            <a:ext cx="112514" cy="12858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415188" y="4328694"/>
            <a:ext cx="18288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Banco de Dados &amp; Webhooks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1415188" y="4512645"/>
            <a:ext cx="182880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Persistência e Notificações Assíncronas</a:t>
            </a:r>
            <a:endParaRPr lang="en-US" sz="650" dirty="0"/>
          </a:p>
        </p:txBody>
      </p:sp>
      <p:sp>
        <p:nvSpPr>
          <p:cNvPr id="52" name="Shape 40"/>
          <p:cNvSpPr/>
          <p:nvPr/>
        </p:nvSpPr>
        <p:spPr>
          <a:xfrm>
            <a:off x="685800" y="4866959"/>
            <a:ext cx="3629025" cy="423267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53" name="Text 41"/>
          <p:cNvSpPr/>
          <p:nvPr/>
        </p:nvSpPr>
        <p:spPr>
          <a:xfrm>
            <a:off x="1203415" y="4924109"/>
            <a:ext cx="1339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1h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1194485" y="5116990"/>
            <a:ext cx="1518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RTO</a:t>
            </a:r>
            <a:endParaRPr lang="en-US" sz="550" dirty="0"/>
          </a:p>
        </p:txBody>
      </p:sp>
      <p:sp>
        <p:nvSpPr>
          <p:cNvPr id="55" name="Text 43"/>
          <p:cNvSpPr/>
          <p:nvPr/>
        </p:nvSpPr>
        <p:spPr>
          <a:xfrm>
            <a:off x="2249360" y="4924109"/>
            <a:ext cx="314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2262755" y="5116990"/>
            <a:ext cx="2875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</a:t>
            </a:r>
            <a:endParaRPr lang="en-US" sz="550" dirty="0"/>
          </a:p>
        </p:txBody>
      </p:sp>
      <p:sp>
        <p:nvSpPr>
          <p:cNvPr id="57" name="Text 45"/>
          <p:cNvSpPr/>
          <p:nvPr/>
        </p:nvSpPr>
        <p:spPr>
          <a:xfrm>
            <a:off x="3466756" y="4924109"/>
            <a:ext cx="3393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OPEX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3503368" y="5116990"/>
            <a:ext cx="2661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endParaRPr lang="en-US" sz="550" dirty="0"/>
          </a:p>
        </p:txBody>
      </p:sp>
      <p:sp>
        <p:nvSpPr>
          <p:cNvPr id="59" name="Shape 47"/>
          <p:cNvSpPr/>
          <p:nvPr/>
        </p:nvSpPr>
        <p:spPr>
          <a:xfrm>
            <a:off x="4714875" y="1211926"/>
            <a:ext cx="3857625" cy="4192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8"/>
          <p:cNvSpPr/>
          <p:nvPr/>
        </p:nvSpPr>
        <p:spPr>
          <a:xfrm>
            <a:off x="4714875" y="1211926"/>
            <a:ext cx="3857625" cy="42863"/>
          </a:xfrm>
          <a:prstGeom prst="rect">
            <a:avLst/>
          </a:prstGeom>
          <a:solidFill>
            <a:srgbClr val="009900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6241" y="1369981"/>
            <a:ext cx="171450" cy="17145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5889129" y="1326226"/>
            <a:ext cx="175200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200" dirty="0"/>
          </a:p>
        </p:txBody>
      </p:sp>
      <p:sp>
        <p:nvSpPr>
          <p:cNvPr id="63" name="Shape 50"/>
          <p:cNvSpPr/>
          <p:nvPr/>
        </p:nvSpPr>
        <p:spPr>
          <a:xfrm>
            <a:off x="5101363" y="1728062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4" name="Shape 51"/>
          <p:cNvSpPr/>
          <p:nvPr/>
        </p:nvSpPr>
        <p:spPr>
          <a:xfrm>
            <a:off x="5101363" y="1728062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5" name="Shape 52"/>
          <p:cNvSpPr/>
          <p:nvPr/>
        </p:nvSpPr>
        <p:spPr>
          <a:xfrm>
            <a:off x="8171724" y="1728062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6" name="Shape 53"/>
          <p:cNvSpPr/>
          <p:nvPr/>
        </p:nvSpPr>
        <p:spPr>
          <a:xfrm>
            <a:off x="5101363" y="220917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7" name="Shape 54"/>
          <p:cNvSpPr/>
          <p:nvPr/>
        </p:nvSpPr>
        <p:spPr>
          <a:xfrm>
            <a:off x="5101363" y="1728062"/>
            <a:ext cx="42863" cy="49540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68" name="Shape 55"/>
          <p:cNvSpPr/>
          <p:nvPr/>
        </p:nvSpPr>
        <p:spPr>
          <a:xfrm>
            <a:off x="5187088" y="1818587"/>
            <a:ext cx="285750" cy="285750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5669" y="1897168"/>
            <a:ext cx="128588" cy="128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558563" y="1813787"/>
            <a:ext cx="133230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Bancário BS2</a:t>
            </a:r>
            <a:endParaRPr lang="en-US" sz="800" dirty="0"/>
          </a:p>
        </p:txBody>
      </p:sp>
      <p:sp>
        <p:nvSpPr>
          <p:cNvPr id="71" name="Text 57"/>
          <p:cNvSpPr/>
          <p:nvPr/>
        </p:nvSpPr>
        <p:spPr>
          <a:xfrm>
            <a:off x="5558563" y="1997739"/>
            <a:ext cx="133230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Sistemas legados e usuários</a:t>
            </a:r>
            <a:endParaRPr lang="en-US" sz="650" dirty="0"/>
          </a:p>
        </p:txBody>
      </p:sp>
      <p:sp>
        <p:nvSpPr>
          <p:cNvPr id="72" name="Shape 58"/>
          <p:cNvSpPr/>
          <p:nvPr/>
        </p:nvSpPr>
        <p:spPr>
          <a:xfrm>
            <a:off x="6209705" y="2294902"/>
            <a:ext cx="867966" cy="17145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009900"/>
            </a:solidFill>
            <a:prstDash val="solid"/>
          </a:ln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8286" y="2337764"/>
            <a:ext cx="64294" cy="85725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6388298" y="2316333"/>
            <a:ext cx="6107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&lt;1ms Latência</a:t>
            </a:r>
            <a:endParaRPr lang="en-US" sz="6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3681" y="2387771"/>
            <a:ext cx="100013" cy="114300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5101363" y="2566364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7" name="Shape 61"/>
          <p:cNvSpPr/>
          <p:nvPr/>
        </p:nvSpPr>
        <p:spPr>
          <a:xfrm>
            <a:off x="5101363" y="256636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8" name="Shape 62"/>
          <p:cNvSpPr/>
          <p:nvPr/>
        </p:nvSpPr>
        <p:spPr>
          <a:xfrm>
            <a:off x="8171724" y="2566364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Shape 63"/>
          <p:cNvSpPr/>
          <p:nvPr/>
        </p:nvSpPr>
        <p:spPr>
          <a:xfrm>
            <a:off x="5101363" y="304747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0" name="Shape 64"/>
          <p:cNvSpPr/>
          <p:nvPr/>
        </p:nvSpPr>
        <p:spPr>
          <a:xfrm>
            <a:off x="5101363" y="2566364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81" name="Shape 65"/>
          <p:cNvSpPr/>
          <p:nvPr/>
        </p:nvSpPr>
        <p:spPr>
          <a:xfrm>
            <a:off x="5187088" y="2656889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8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9596" y="2735470"/>
            <a:ext cx="160734" cy="128588"/>
          </a:xfrm>
          <a:prstGeom prst="rect">
            <a:avLst/>
          </a:prstGeom>
        </p:spPr>
      </p:pic>
      <p:sp>
        <p:nvSpPr>
          <p:cNvPr id="83" name="Text 66"/>
          <p:cNvSpPr/>
          <p:nvPr/>
        </p:nvSpPr>
        <p:spPr>
          <a:xfrm>
            <a:off x="5558563" y="2652089"/>
            <a:ext cx="154305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Camada de Integração</a:t>
            </a:r>
            <a:endParaRPr lang="en-US" sz="800" dirty="0"/>
          </a:p>
        </p:txBody>
      </p:sp>
      <p:sp>
        <p:nvSpPr>
          <p:cNvPr id="84" name="Text 67"/>
          <p:cNvSpPr/>
          <p:nvPr/>
        </p:nvSpPr>
        <p:spPr>
          <a:xfrm>
            <a:off x="5558563" y="2836041"/>
            <a:ext cx="154305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Interna gRPC/REST</a:t>
            </a:r>
            <a:endParaRPr lang="en-US" sz="650" dirty="0"/>
          </a:p>
        </p:txBody>
      </p:sp>
      <p:pic>
        <p:nvPicPr>
          <p:cNvPr id="8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3681" y="3226073"/>
            <a:ext cx="100013" cy="114300"/>
          </a:xfrm>
          <a:prstGeom prst="rect">
            <a:avLst/>
          </a:prstGeom>
        </p:spPr>
      </p:pic>
      <p:sp>
        <p:nvSpPr>
          <p:cNvPr id="86" name="Shape 68"/>
          <p:cNvSpPr/>
          <p:nvPr/>
        </p:nvSpPr>
        <p:spPr>
          <a:xfrm>
            <a:off x="5101363" y="3404667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7" name="Shape 69"/>
          <p:cNvSpPr/>
          <p:nvPr/>
        </p:nvSpPr>
        <p:spPr>
          <a:xfrm>
            <a:off x="5101363" y="340466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8" name="Shape 70"/>
          <p:cNvSpPr/>
          <p:nvPr/>
        </p:nvSpPr>
        <p:spPr>
          <a:xfrm>
            <a:off x="8171724" y="3404667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9" name="Shape 71"/>
          <p:cNvSpPr/>
          <p:nvPr/>
        </p:nvSpPr>
        <p:spPr>
          <a:xfrm>
            <a:off x="5101363" y="3885781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0" name="Shape 72"/>
          <p:cNvSpPr/>
          <p:nvPr/>
        </p:nvSpPr>
        <p:spPr>
          <a:xfrm>
            <a:off x="5101363" y="3404667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91" name="Shape 73"/>
          <p:cNvSpPr/>
          <p:nvPr/>
        </p:nvSpPr>
        <p:spPr>
          <a:xfrm>
            <a:off x="5187088" y="3495191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9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5669" y="3573773"/>
            <a:ext cx="128588" cy="128588"/>
          </a:xfrm>
          <a:prstGeom prst="rect">
            <a:avLst/>
          </a:prstGeom>
        </p:spPr>
      </p:pic>
      <p:sp>
        <p:nvSpPr>
          <p:cNvPr id="93" name="Text 74"/>
          <p:cNvSpPr/>
          <p:nvPr/>
        </p:nvSpPr>
        <p:spPr>
          <a:xfrm>
            <a:off x="5558563" y="3490392"/>
            <a:ext cx="175914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Aplicação DUPIE Interna</a:t>
            </a:r>
            <a:endParaRPr lang="en-US" sz="800" dirty="0"/>
          </a:p>
        </p:txBody>
      </p:sp>
      <p:sp>
        <p:nvSpPr>
          <p:cNvPr id="94" name="Text 75"/>
          <p:cNvSpPr/>
          <p:nvPr/>
        </p:nvSpPr>
        <p:spPr>
          <a:xfrm>
            <a:off x="5558563" y="3674343"/>
            <a:ext cx="175914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em Data Center Local</a:t>
            </a:r>
            <a:endParaRPr lang="en-US" sz="650" dirty="0"/>
          </a:p>
        </p:txBody>
      </p:sp>
      <p:pic>
        <p:nvPicPr>
          <p:cNvPr id="9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3681" y="4064375"/>
            <a:ext cx="100013" cy="114300"/>
          </a:xfrm>
          <a:prstGeom prst="rect">
            <a:avLst/>
          </a:prstGeom>
        </p:spPr>
      </p:pic>
      <p:sp>
        <p:nvSpPr>
          <p:cNvPr id="96" name="Shape 76"/>
          <p:cNvSpPr/>
          <p:nvPr/>
        </p:nvSpPr>
        <p:spPr>
          <a:xfrm>
            <a:off x="5101363" y="4242969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7" name="Shape 77"/>
          <p:cNvSpPr/>
          <p:nvPr/>
        </p:nvSpPr>
        <p:spPr>
          <a:xfrm>
            <a:off x="5101363" y="424296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8" name="Shape 78"/>
          <p:cNvSpPr/>
          <p:nvPr/>
        </p:nvSpPr>
        <p:spPr>
          <a:xfrm>
            <a:off x="8171724" y="4242969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9" name="Shape 79"/>
          <p:cNvSpPr/>
          <p:nvPr/>
        </p:nvSpPr>
        <p:spPr>
          <a:xfrm>
            <a:off x="5101363" y="472408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0" name="Shape 80"/>
          <p:cNvSpPr/>
          <p:nvPr/>
        </p:nvSpPr>
        <p:spPr>
          <a:xfrm>
            <a:off x="5101363" y="4242969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101" name="Shape 81"/>
          <p:cNvSpPr/>
          <p:nvPr/>
        </p:nvSpPr>
        <p:spPr>
          <a:xfrm>
            <a:off x="5187088" y="4333494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10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3706" y="4412075"/>
            <a:ext cx="112514" cy="128588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5558563" y="4328694"/>
            <a:ext cx="203061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Banco de Dados &amp; Message Queue</a:t>
            </a:r>
            <a:endParaRPr lang="en-US" sz="800" dirty="0"/>
          </a:p>
        </p:txBody>
      </p:sp>
      <p:sp>
        <p:nvSpPr>
          <p:cNvPr id="104" name="Text 83"/>
          <p:cNvSpPr/>
          <p:nvPr/>
        </p:nvSpPr>
        <p:spPr>
          <a:xfrm>
            <a:off x="5558563" y="4512645"/>
            <a:ext cx="203061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Persistência e Notificações Síncronas</a:t>
            </a:r>
            <a:endParaRPr lang="en-US" sz="650" dirty="0"/>
          </a:p>
        </p:txBody>
      </p:sp>
      <p:sp>
        <p:nvSpPr>
          <p:cNvPr id="105" name="Shape 84"/>
          <p:cNvSpPr/>
          <p:nvPr/>
        </p:nvSpPr>
        <p:spPr>
          <a:xfrm>
            <a:off x="4829175" y="4709796"/>
            <a:ext cx="3629025" cy="423267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06" name="Text 85"/>
          <p:cNvSpPr/>
          <p:nvPr/>
        </p:nvSpPr>
        <p:spPr>
          <a:xfrm>
            <a:off x="5263158" y="4766946"/>
            <a:ext cx="3214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2-4h</a:t>
            </a:r>
            <a:endParaRPr lang="en-US" sz="900" dirty="0"/>
          </a:p>
        </p:txBody>
      </p:sp>
      <p:sp>
        <p:nvSpPr>
          <p:cNvPr id="107" name="Text 86"/>
          <p:cNvSpPr/>
          <p:nvPr/>
        </p:nvSpPr>
        <p:spPr>
          <a:xfrm>
            <a:off x="5347990" y="4959827"/>
            <a:ext cx="1518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RTO</a:t>
            </a:r>
            <a:endParaRPr lang="en-US" sz="550" dirty="0"/>
          </a:p>
        </p:txBody>
      </p:sp>
      <p:sp>
        <p:nvSpPr>
          <p:cNvPr id="108" name="Text 87"/>
          <p:cNvSpPr/>
          <p:nvPr/>
        </p:nvSpPr>
        <p:spPr>
          <a:xfrm>
            <a:off x="6338292" y="4766946"/>
            <a:ext cx="50184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Manual</a:t>
            </a:r>
            <a:endParaRPr lang="en-US" sz="900" dirty="0"/>
          </a:p>
        </p:txBody>
      </p:sp>
      <p:sp>
        <p:nvSpPr>
          <p:cNvPr id="109" name="Text 88"/>
          <p:cNvSpPr/>
          <p:nvPr/>
        </p:nvSpPr>
        <p:spPr>
          <a:xfrm>
            <a:off x="6445448" y="4959827"/>
            <a:ext cx="2875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</a:t>
            </a:r>
            <a:endParaRPr lang="en-US" sz="550" dirty="0"/>
          </a:p>
        </p:txBody>
      </p:sp>
      <p:sp>
        <p:nvSpPr>
          <p:cNvPr id="110" name="Text 89"/>
          <p:cNvSpPr/>
          <p:nvPr/>
        </p:nvSpPr>
        <p:spPr>
          <a:xfrm>
            <a:off x="7593806" y="4766946"/>
            <a:ext cx="4304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CAPEX</a:t>
            </a:r>
            <a:endParaRPr lang="en-US" sz="900" dirty="0"/>
          </a:p>
        </p:txBody>
      </p:sp>
      <p:sp>
        <p:nvSpPr>
          <p:cNvPr id="111" name="Text 90"/>
          <p:cNvSpPr/>
          <p:nvPr/>
        </p:nvSpPr>
        <p:spPr>
          <a:xfrm>
            <a:off x="7675959" y="4959827"/>
            <a:ext cx="2661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94767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Estratégias de Integração com Sistemas Legados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97676"/>
            <a:ext cx="3893344" cy="3720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97676"/>
            <a:ext cx="389334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94117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1554826"/>
            <a:ext cx="2312789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 Dupie)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8650" y="1876295"/>
            <a:ext cx="3779044" cy="453628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28650" y="1876295"/>
            <a:ext cx="28575" cy="45362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Text 8"/>
          <p:cNvSpPr/>
          <p:nvPr/>
        </p:nvSpPr>
        <p:spPr>
          <a:xfrm>
            <a:off x="628650" y="1876295"/>
            <a:ext cx="3779044" cy="45362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Padrão: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APIs RESTful + Webhooks para notificações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assíncronas.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50474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5813" y="2415648"/>
            <a:ext cx="89118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Fluxo de Dados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28650" y="2663893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legado (Core) envia requisição via API REST.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28650" y="2856774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processa a transação em sua infraestrutura.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28650" y="304965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Webhooks notificam o Banco sobre mudanças de status (aprovação, liquidação).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28650" y="26781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9" name="Text 14"/>
          <p:cNvSpPr/>
          <p:nvPr/>
        </p:nvSpPr>
        <p:spPr>
          <a:xfrm>
            <a:off x="628650" y="287106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0" name="Text 15"/>
          <p:cNvSpPr/>
          <p:nvPr/>
        </p:nvSpPr>
        <p:spPr>
          <a:xfrm>
            <a:off x="628650" y="306394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513106"/>
            <a:ext cx="100013" cy="1000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5813" y="3478281"/>
            <a:ext cx="10626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Técnicos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28650" y="3726526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de Rede: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Overhead de 50-100ms por requisição externa.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28650" y="3919407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Rate Limiting: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Limites de APIs (tipicamente 1k-5k TPS).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628650" y="4112289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Dependência: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Queda de conectividade paralisa o processamento.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628650" y="37408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1"/>
          <p:cNvSpPr/>
          <p:nvPr/>
        </p:nvSpPr>
        <p:spPr>
          <a:xfrm>
            <a:off x="628650" y="393369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2"/>
          <p:cNvSpPr/>
          <p:nvPr/>
        </p:nvSpPr>
        <p:spPr>
          <a:xfrm>
            <a:off x="628650" y="4126576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425721"/>
            <a:ext cx="100013" cy="1000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5813" y="4390895"/>
            <a:ext cx="156269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Mitigações Arquitetônicas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28650" y="4639140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Implementação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Circuit Breaker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Retry Logic.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28650" y="4832021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de filas assíncronas (RabbitMQ/Kafka) para absorver picos.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679156" y="1497676"/>
            <a:ext cx="3893344" cy="3720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4679156" y="1497676"/>
            <a:ext cx="3893344" cy="2857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28"/>
          <p:cNvSpPr/>
          <p:nvPr/>
        </p:nvSpPr>
        <p:spPr>
          <a:xfrm>
            <a:off x="628650" y="465342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6" name="Text 29"/>
          <p:cNvSpPr/>
          <p:nvPr/>
        </p:nvSpPr>
        <p:spPr>
          <a:xfrm>
            <a:off x="628650" y="484630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306" y="1594117"/>
            <a:ext cx="157163" cy="15716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964906" y="1554826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736306" y="1876295"/>
            <a:ext cx="3779044" cy="453628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40" name="Shape 32"/>
          <p:cNvSpPr/>
          <p:nvPr/>
        </p:nvSpPr>
        <p:spPr>
          <a:xfrm>
            <a:off x="4736306" y="1876295"/>
            <a:ext cx="28575" cy="45362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1" name="Text 33"/>
          <p:cNvSpPr/>
          <p:nvPr/>
        </p:nvSpPr>
        <p:spPr>
          <a:xfrm>
            <a:off x="4736306" y="1876295"/>
            <a:ext cx="3779044" cy="45362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Padrão: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Integração direta via Banco de Dados ou APIs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Internas.</a:t>
            </a:r>
            <a:endParaRPr lang="en-US" sz="8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306" y="2450474"/>
            <a:ext cx="87511" cy="10001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880967" y="2415648"/>
            <a:ext cx="89118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Fluxo de Dados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4736306" y="2663893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legado escreve diretamente na base ou via API interna (gRPC/REST).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736306" y="3006793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ocorre no mesmo data center (latência &lt;1ms).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4736306" y="3199674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Notificações distribuídas via Message Queue interna corporativa.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4736306" y="26781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8" name="Text 39"/>
          <p:cNvSpPr/>
          <p:nvPr/>
        </p:nvSpPr>
        <p:spPr>
          <a:xfrm>
            <a:off x="4736306" y="30210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9" name="Text 40"/>
          <p:cNvSpPr/>
          <p:nvPr/>
        </p:nvSpPr>
        <p:spPr>
          <a:xfrm>
            <a:off x="4736306" y="321396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306" y="3513106"/>
            <a:ext cx="100013" cy="10001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893469" y="3478281"/>
            <a:ext cx="121800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4736306" y="372652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Baixa Latência: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Comunicação local elimina overhead de rede externa.</a:t>
            </a:r>
            <a:endParaRPr lang="en-US" sz="750" dirty="0"/>
          </a:p>
        </p:txBody>
      </p:sp>
      <p:sp>
        <p:nvSpPr>
          <p:cNvPr id="53" name="Text 43"/>
          <p:cNvSpPr/>
          <p:nvPr/>
        </p:nvSpPr>
        <p:spPr>
          <a:xfrm>
            <a:off x="4736306" y="406942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Consistência: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Possibilidade de transações distribuídas (2-phase commit).</a:t>
            </a:r>
            <a:endParaRPr lang="en-US" sz="750" dirty="0"/>
          </a:p>
        </p:txBody>
      </p:sp>
      <p:sp>
        <p:nvSpPr>
          <p:cNvPr id="54" name="Text 44"/>
          <p:cNvSpPr/>
          <p:nvPr/>
        </p:nvSpPr>
        <p:spPr>
          <a:xfrm>
            <a:off x="4736306" y="37408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5" name="Text 45"/>
          <p:cNvSpPr/>
          <p:nvPr/>
        </p:nvSpPr>
        <p:spPr>
          <a:xfrm>
            <a:off x="4736306" y="40837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306" y="4532877"/>
            <a:ext cx="100013" cy="100013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4893469" y="4498051"/>
            <a:ext cx="10626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Técnicos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4736306" y="4746296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Complexidade: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Desenho de integração não é plug-and-play.</a:t>
            </a:r>
            <a:endParaRPr lang="en-US" sz="750" dirty="0"/>
          </a:p>
        </p:txBody>
      </p:sp>
      <p:sp>
        <p:nvSpPr>
          <p:cNvPr id="59" name="Text 48"/>
          <p:cNvSpPr/>
          <p:nvPr/>
        </p:nvSpPr>
        <p:spPr>
          <a:xfrm>
            <a:off x="4736306" y="4939178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Acoplamento: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acoplamento forte entre o Core e o DUPIE.</a:t>
            </a:r>
            <a:endParaRPr lang="en-US" sz="750" dirty="0"/>
          </a:p>
        </p:txBody>
      </p:sp>
      <p:sp>
        <p:nvSpPr>
          <p:cNvPr id="60" name="Text 49"/>
          <p:cNvSpPr/>
          <p:nvPr/>
        </p:nvSpPr>
        <p:spPr>
          <a:xfrm>
            <a:off x="4736306" y="476058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61" name="Text 50"/>
          <p:cNvSpPr/>
          <p:nvPr/>
        </p:nvSpPr>
        <p:spPr>
          <a:xfrm>
            <a:off x="4736306" y="495346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Postura de Segurança: Controles Críticos em Ambos os Modelos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650541"/>
            <a:ext cx="5089196" cy="3315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50541"/>
            <a:ext cx="5089196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1836641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Controle de Segurança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43785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3108927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843785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5" name="Text 12"/>
          <p:cNvSpPr/>
          <p:nvPr/>
        </p:nvSpPr>
        <p:spPr>
          <a:xfrm>
            <a:off x="1843785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SaaS (Evertec)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16070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1212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116070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9" name="Text 16"/>
          <p:cNvSpPr/>
          <p:nvPr/>
        </p:nvSpPr>
        <p:spPr>
          <a:xfrm>
            <a:off x="3116070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On-Premise (Banco)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388355" y="1650541"/>
            <a:ext cx="1272341" cy="425053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4388355" y="2061307"/>
            <a:ext cx="1272341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22" name="Text 19"/>
          <p:cNvSpPr/>
          <p:nvPr/>
        </p:nvSpPr>
        <p:spPr>
          <a:xfrm>
            <a:off x="4388355" y="1650541"/>
            <a:ext cx="1272341" cy="425053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 se Ausente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1500" y="2075594"/>
            <a:ext cx="1272285" cy="4507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836641" y="2075594"/>
            <a:ext cx="7144" cy="4507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2519204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WAF (Web App Firewall)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843785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 e gerencia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116070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gerencia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88355" y="2075594"/>
            <a:ext cx="1272341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Exposição a ataques OWASP Top 10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71500" y="252634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836641" y="252634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2843519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MFA (Múltiplo Fator)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843785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Obrigatória para acessos admin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116070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Integrada com IAM corporativo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388355" y="252634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Comprometimento de credenciais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571500" y="2850663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836641" y="2850663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316783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0" name="Text 37"/>
          <p:cNvSpPr/>
          <p:nvPr/>
        </p:nvSpPr>
        <p:spPr>
          <a:xfrm>
            <a:off x="571500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 em Trânsito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843785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garante (TLS 1.3)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116070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valida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388355" y="2850663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Interceptação de dados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571500" y="317497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836641" y="317497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" y="3492150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7" name="Text 44"/>
          <p:cNvSpPr/>
          <p:nvPr/>
        </p:nvSpPr>
        <p:spPr>
          <a:xfrm>
            <a:off x="571500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 em Repouso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843785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gerencia chaves (KMS)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3116070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gerencia via HSM corporativo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388355" y="317497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Exposição de dados em repouso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571500" y="3499293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836641" y="3499293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3" name="Shape 50"/>
          <p:cNvSpPr/>
          <p:nvPr/>
        </p:nvSpPr>
        <p:spPr>
          <a:xfrm>
            <a:off x="571500" y="381646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4" name="Text 51"/>
          <p:cNvSpPr/>
          <p:nvPr/>
        </p:nvSpPr>
        <p:spPr>
          <a:xfrm>
            <a:off x="571500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Acessos (RBAC)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843785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fornece, Banco valida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116070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gerencia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388355" y="3499293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Acesso não autorizado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571500" y="382360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836641" y="382360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571500" y="4140780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1" name="Text 58"/>
          <p:cNvSpPr/>
          <p:nvPr/>
        </p:nvSpPr>
        <p:spPr>
          <a:xfrm>
            <a:off x="571500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 de Acessos (Logs)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1843785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centraliza, Banco audita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3116070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centraliza e audita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4388355" y="382360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Impossibilidade de rastreabilidade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571500" y="4147924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1836641" y="4147924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7" name="Shape 64"/>
          <p:cNvSpPr/>
          <p:nvPr/>
        </p:nvSpPr>
        <p:spPr>
          <a:xfrm>
            <a:off x="571500" y="446509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8" name="Text 65"/>
          <p:cNvSpPr/>
          <p:nvPr/>
        </p:nvSpPr>
        <p:spPr>
          <a:xfrm>
            <a:off x="571500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Vulnerabilidades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1843785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realiza SAST/DAST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3116070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realiza SAST/DAST contínuo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388355" y="4147924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Exploração de falhas conhecidas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571500" y="4472239"/>
            <a:ext cx="1272285" cy="4507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1836641" y="4472239"/>
            <a:ext cx="7144" cy="4507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4" name="Text 71"/>
          <p:cNvSpPr/>
          <p:nvPr/>
        </p:nvSpPr>
        <p:spPr>
          <a:xfrm>
            <a:off x="571500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Subcontratados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1843785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subcontratados da Evertec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3116070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seus próprios subcontratados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4388355" y="4472239"/>
            <a:ext cx="1272341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 de exfiltração (Caso Sinqia)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5832146" y="1650541"/>
            <a:ext cx="2740354" cy="273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6"/>
          <p:cNvSpPr/>
          <p:nvPr/>
        </p:nvSpPr>
        <p:spPr>
          <a:xfrm>
            <a:off x="5832146" y="1650541"/>
            <a:ext cx="42863" cy="2734438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59" y="1768413"/>
            <a:ext cx="128588" cy="128588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6117896" y="1736266"/>
            <a:ext cx="198774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Caso Sinqia — Lições Técnicas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5932159" y="1986297"/>
            <a:ext cx="254032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Vetor de Ataque: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Credenciais de terceiro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(subcontratado) foram comprometidas.</a:t>
            </a:r>
            <a:endParaRPr lang="en-US" sz="700" dirty="0"/>
          </a:p>
        </p:txBody>
      </p:sp>
      <p:sp>
        <p:nvSpPr>
          <p:cNvPr id="83" name="Text 79"/>
          <p:cNvSpPr/>
          <p:nvPr/>
        </p:nvSpPr>
        <p:spPr>
          <a:xfrm>
            <a:off x="5932159" y="2309161"/>
            <a:ext cx="254032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Faltantes: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Falta de MFA em acessos de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terceiros, ausência de allowlists de IP 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inadequado de acessos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anormais.</a:t>
            </a:r>
            <a:endParaRPr lang="en-US" sz="700" dirty="0"/>
          </a:p>
        </p:txBody>
      </p:sp>
      <p:pic>
        <p:nvPicPr>
          <p:cNvPr id="8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59" y="2889898"/>
            <a:ext cx="128588" cy="128588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6117896" y="2857751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 Técnica Obrigatória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5932159" y="3107782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MFA para todos os acessos (incluindo terceiros)</a:t>
            </a:r>
            <a:endParaRPr lang="en-US" sz="650" dirty="0"/>
          </a:p>
        </p:txBody>
      </p:sp>
      <p:sp>
        <p:nvSpPr>
          <p:cNvPr id="87" name="Text 82"/>
          <p:cNvSpPr/>
          <p:nvPr/>
        </p:nvSpPr>
        <p:spPr>
          <a:xfrm>
            <a:off x="7238042" y="3107782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Allowlists rigorosas (apenas IPs conhecidos)</a:t>
            </a:r>
            <a:endParaRPr lang="en-US" sz="650" dirty="0"/>
          </a:p>
        </p:txBody>
      </p:sp>
      <p:sp>
        <p:nvSpPr>
          <p:cNvPr id="88" name="Text 83"/>
          <p:cNvSpPr/>
          <p:nvPr/>
        </p:nvSpPr>
        <p:spPr>
          <a:xfrm>
            <a:off x="5932159" y="3512800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contínuo de acessos (SIEM)</a:t>
            </a:r>
            <a:endParaRPr lang="en-US" sz="650" dirty="0"/>
          </a:p>
        </p:txBody>
      </p:sp>
      <p:sp>
        <p:nvSpPr>
          <p:cNvPr id="89" name="Text 84"/>
          <p:cNvSpPr/>
          <p:nvPr/>
        </p:nvSpPr>
        <p:spPr>
          <a:xfrm>
            <a:off x="7238042" y="3512800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Rotação automática de credenciais (90 dias)</a:t>
            </a:r>
            <a:endParaRPr lang="en-US" sz="650" dirty="0"/>
          </a:p>
        </p:txBody>
      </p:sp>
      <p:sp>
        <p:nvSpPr>
          <p:cNvPr id="90" name="Text 85"/>
          <p:cNvSpPr/>
          <p:nvPr/>
        </p:nvSpPr>
        <p:spPr>
          <a:xfrm>
            <a:off x="5932159" y="3917817"/>
            <a:ext cx="1234446" cy="2414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Segmentação de rede estrita</a:t>
            </a:r>
            <a:endParaRPr lang="en-US" sz="650" dirty="0"/>
          </a:p>
        </p:txBody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59" y="3122070"/>
            <a:ext cx="71438" cy="92869"/>
          </a:xfrm>
          <a:prstGeom prst="rect">
            <a:avLst/>
          </a:prstGeom>
        </p:spPr>
      </p:pic>
      <p:pic>
        <p:nvPicPr>
          <p:cNvPr id="9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042" y="3122070"/>
            <a:ext cx="71438" cy="92869"/>
          </a:xfrm>
          <a:prstGeom prst="rect">
            <a:avLst/>
          </a:prstGeom>
        </p:spPr>
      </p:pic>
      <p:pic>
        <p:nvPicPr>
          <p:cNvPr id="9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159" y="3527087"/>
            <a:ext cx="71438" cy="92869"/>
          </a:xfrm>
          <a:prstGeom prst="rect">
            <a:avLst/>
          </a:prstGeom>
        </p:spPr>
      </p:pic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042" y="3527087"/>
            <a:ext cx="71438" cy="92869"/>
          </a:xfrm>
          <a:prstGeom prst="rect">
            <a:avLst/>
          </a:prstGeom>
        </p:spPr>
      </p:pic>
      <p:pic>
        <p:nvPicPr>
          <p:cNvPr id="9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159" y="3932104"/>
            <a:ext cx="71438" cy="92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02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994767"/>
            <a:ext cx="8286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Operações: Escalabilidade, Performance e Capacidade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2036304"/>
            <a:ext cx="5286375" cy="3245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036304"/>
            <a:ext cx="5286375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036304"/>
            <a:ext cx="1105495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1526977" y="2036304"/>
            <a:ext cx="7144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557797"/>
            <a:ext cx="110549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036304"/>
            <a:ext cx="1105495" cy="535781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Métrica / Operação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34120" y="2036304"/>
            <a:ext cx="2091696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8672" y="2036304"/>
            <a:ext cx="7144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534120" y="2557797"/>
            <a:ext cx="2091696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5" name="Text 12"/>
          <p:cNvSpPr/>
          <p:nvPr/>
        </p:nvSpPr>
        <p:spPr>
          <a:xfrm>
            <a:off x="1534120" y="2036304"/>
            <a:ext cx="2091696" cy="535781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SaaS (Evertec Dupie)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25816" y="2036304"/>
            <a:ext cx="2089184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5816" y="2557797"/>
            <a:ext cx="2089184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8" name="Text 15"/>
          <p:cNvSpPr/>
          <p:nvPr/>
        </p:nvSpPr>
        <p:spPr>
          <a:xfrm>
            <a:off x="3625816" y="2036304"/>
            <a:ext cx="2089184" cy="535781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On-Premise (Interno)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2564941"/>
            <a:ext cx="1105495" cy="59215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6977" y="2564941"/>
            <a:ext cx="7144" cy="59215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149947"/>
            <a:ext cx="110549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2564941"/>
            <a:ext cx="1105495" cy="592150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644848" y="2631021"/>
            <a:ext cx="159305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Automática (Auto-scaling)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644848" y="2631021"/>
            <a:ext cx="1753791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Sem necessidade de capacity planning.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741818" y="2631021"/>
            <a:ext cx="43755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Manual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41818" y="2631021"/>
            <a:ext cx="1775222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Requer planejamento de capacidade e investimento prévio.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28625" y="3157091"/>
            <a:ext cx="1101923" cy="59572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523405" y="3157091"/>
            <a:ext cx="7144" cy="59572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745669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3157091"/>
            <a:ext cx="1101923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Throughput Estimado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530548" y="3157091"/>
            <a:ext cx="2093398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5.000 a 10.000 TPS (Transações por Segundo).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623946" y="3157091"/>
            <a:ext cx="2091054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 da infraestrutura provisionada (5k-20k TPS com HW adequado).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28625" y="3752813"/>
            <a:ext cx="1101923" cy="4471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523405" y="3752813"/>
            <a:ext cx="7144" cy="4471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192823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6" name="Text 33"/>
          <p:cNvSpPr/>
          <p:nvPr/>
        </p:nvSpPr>
        <p:spPr>
          <a:xfrm>
            <a:off x="428625" y="3752813"/>
            <a:ext cx="1101923" cy="44715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de Integração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644848" y="3822464"/>
            <a:ext cx="65186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100-200ms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644848" y="3822464"/>
            <a:ext cx="1764506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(overhead de rede externa + processamento).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741762" y="3822464"/>
            <a:ext cx="29110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&lt;1ms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741762" y="3822464"/>
            <a:ext cx="1809155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(comunicação interna ao data center).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8625" y="4199967"/>
            <a:ext cx="1101923" cy="59572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523405" y="4199967"/>
            <a:ext cx="7144" cy="59572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3" name="Shape 40"/>
          <p:cNvSpPr/>
          <p:nvPr/>
        </p:nvSpPr>
        <p:spPr>
          <a:xfrm>
            <a:off x="428625" y="4788545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4" name="Text 41"/>
          <p:cNvSpPr/>
          <p:nvPr/>
        </p:nvSpPr>
        <p:spPr>
          <a:xfrm>
            <a:off x="428625" y="4199967"/>
            <a:ext cx="1101923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644848" y="4269618"/>
            <a:ext cx="86618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Zero Downtime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644848" y="4269618"/>
            <a:ext cx="1687711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(rolling deployment gerenciado pela Evertec).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3741762" y="4269618"/>
            <a:ext cx="119122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Downtime Planejado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741762" y="4418186"/>
            <a:ext cx="1571625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(tipicamente 2-4 horas em janelas de manutenção).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28625" y="4795689"/>
            <a:ext cx="1101923" cy="44358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523405" y="4795689"/>
            <a:ext cx="7144" cy="44358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1" name="Text 48"/>
          <p:cNvSpPr/>
          <p:nvPr/>
        </p:nvSpPr>
        <p:spPr>
          <a:xfrm>
            <a:off x="428625" y="4795689"/>
            <a:ext cx="1101923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de Custo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530548" y="4795689"/>
            <a:ext cx="2093342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OPEX (Pay-as-you-go). Escala linearmente com o volume.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623890" y="4795689"/>
            <a:ext cx="2091110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CAPEX (Infraestrutura) + OPEX (Equipe, energia, licenças).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000750" y="2036304"/>
            <a:ext cx="2714625" cy="366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6000750" y="2036304"/>
            <a:ext cx="42863" cy="366653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763" y="2250616"/>
            <a:ext cx="144661" cy="128588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302573" y="2122029"/>
            <a:ext cx="231278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Comportamento em Cenários de Estresse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6100763" y="2579229"/>
            <a:ext cx="1566267" cy="3037880"/>
          </a:xfrm>
          <a:prstGeom prst="rect">
            <a:avLst/>
          </a:prstGeom>
          <a:solidFill>
            <a:srgbClr val="003366">
              <a:alpha val="3000"/>
            </a:srgbClr>
          </a:solidFill>
          <a:ln w="9144">
            <a:solidFill>
              <a:srgbClr val="003366">
                <a:alpha val="1000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172200" y="2650666"/>
            <a:ext cx="140910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Crescimento Súbito de 50% no Volume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6172200" y="3047144"/>
            <a:ext cx="1409105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Absorve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automaticamente via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auto-scaling. Custo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aumenta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proporcionalmente.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Requer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compra/provisionamento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novos servidores.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Risco de gargalo se não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antecipado.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7738467" y="2579229"/>
            <a:ext cx="1089422" cy="3037880"/>
          </a:xfrm>
          <a:prstGeom prst="rect">
            <a:avLst/>
          </a:prstGeom>
          <a:solidFill>
            <a:srgbClr val="003366">
              <a:alpha val="3000"/>
            </a:srgbClr>
          </a:solidFill>
          <a:ln w="9144">
            <a:solidFill>
              <a:srgbClr val="003366">
                <a:alpha val="1000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809905" y="2650666"/>
            <a:ext cx="932259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Pico de Carga Extremo (ex: Black Friday)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809905" y="3216808"/>
            <a:ext cx="932259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Filas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(Message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Queues)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absorvem 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pico. Risco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"noisy neighbor"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 cloud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saturar.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degradação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ou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indisponibilidade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o limite do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for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atingido.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6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Regulatória: LGPD e BCB 339/2023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390520"/>
            <a:ext cx="8001000" cy="385763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0520"/>
            <a:ext cx="42863" cy="385763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11964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119" y="1476245"/>
            <a:ext cx="13894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Requisitos BCB 339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78" y="1540539"/>
            <a:ext cx="85725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96753" y="1503034"/>
            <a:ext cx="9358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Seguro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884" y="1540539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89759" y="1503034"/>
            <a:ext cx="157698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Controlado/Auditado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042" y="1540539"/>
            <a:ext cx="85725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23917" y="1503034"/>
            <a:ext cx="137338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e DR Obrigatórios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603" y="1540539"/>
            <a:ext cx="85725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54478" y="1503034"/>
            <a:ext cx="109478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Conformidade LGPD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71500" y="1904870"/>
            <a:ext cx="3929063" cy="3251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1904870"/>
            <a:ext cx="3929063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029885"/>
            <a:ext cx="196453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82266" y="1990595"/>
            <a:ext cx="181272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2437079"/>
            <a:ext cx="160734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7972" y="2404932"/>
            <a:ext cx="13180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LGPD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700088" y="2654964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Papel: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 é processadora; Banco é controlador.</a:t>
            </a:r>
            <a:endParaRPr lang="en-US" sz="750" dirty="0"/>
          </a:p>
        </p:txBody>
      </p:sp>
      <p:sp>
        <p:nvSpPr>
          <p:cNvPr id="25" name="Text 15"/>
          <p:cNvSpPr/>
          <p:nvPr/>
        </p:nvSpPr>
        <p:spPr>
          <a:xfrm>
            <a:off x="700088" y="2862132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Contrato: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DPA (Data Processing Agreement) obrigatório.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700088" y="3069301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Localização de dados incerta (pode estar fora do Brasil, violando LGPD implicitamente).</a:t>
            </a:r>
            <a:endParaRPr lang="en-US" sz="750" dirty="0"/>
          </a:p>
        </p:txBody>
      </p:sp>
      <p:sp>
        <p:nvSpPr>
          <p:cNvPr id="27" name="Text 17"/>
          <p:cNvSpPr/>
          <p:nvPr/>
        </p:nvSpPr>
        <p:spPr>
          <a:xfrm>
            <a:off x="700088" y="266925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18"/>
          <p:cNvSpPr/>
          <p:nvPr/>
        </p:nvSpPr>
        <p:spPr>
          <a:xfrm>
            <a:off x="700088" y="287642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9" name="Text 19"/>
          <p:cNvSpPr/>
          <p:nvPr/>
        </p:nvSpPr>
        <p:spPr>
          <a:xfrm>
            <a:off x="700088" y="308358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8" y="3544360"/>
            <a:ext cx="128588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85825" y="3512214"/>
            <a:ext cx="18788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BCB 339/2023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700088" y="3762245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é responsável por validar controles da Evertec.</a:t>
            </a:r>
            <a:endParaRPr lang="en-US" sz="750" dirty="0"/>
          </a:p>
        </p:txBody>
      </p:sp>
      <p:sp>
        <p:nvSpPr>
          <p:cNvPr id="33" name="Text 22"/>
          <p:cNvSpPr/>
          <p:nvPr/>
        </p:nvSpPr>
        <p:spPr>
          <a:xfrm>
            <a:off x="700088" y="3969414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Jurisdição porto-riquenha pode conflitar com regulações brasileiras.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700088" y="4412326"/>
            <a:ext cx="3671888" cy="629710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35" name="Shape 24"/>
          <p:cNvSpPr/>
          <p:nvPr/>
        </p:nvSpPr>
        <p:spPr>
          <a:xfrm>
            <a:off x="700088" y="4412326"/>
            <a:ext cx="28575" cy="62971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6" name="Text 25"/>
          <p:cNvSpPr/>
          <p:nvPr/>
        </p:nvSpPr>
        <p:spPr>
          <a:xfrm>
            <a:off x="700088" y="377653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7" name="Text 26"/>
          <p:cNvSpPr/>
          <p:nvPr/>
        </p:nvSpPr>
        <p:spPr>
          <a:xfrm>
            <a:off x="700088" y="398370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8" name="Text 27"/>
          <p:cNvSpPr/>
          <p:nvPr/>
        </p:nvSpPr>
        <p:spPr>
          <a:xfrm>
            <a:off x="757238" y="4469476"/>
            <a:ext cx="35575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Mitigações Obrigatórias</a:t>
            </a:r>
            <a:endParaRPr lang="en-US" sz="8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238" y="4717721"/>
            <a:ext cx="85725" cy="8572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0113" y="4696290"/>
            <a:ext cx="34147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Cláusula contratual de residência de dados no Brasil e direito de auditoria.</a:t>
            </a:r>
            <a:endParaRPr lang="en-US" sz="750" dirty="0"/>
          </a:p>
        </p:txBody>
      </p:sp>
      <p:sp>
        <p:nvSpPr>
          <p:cNvPr id="41" name="Shape 29"/>
          <p:cNvSpPr/>
          <p:nvPr/>
        </p:nvSpPr>
        <p:spPr>
          <a:xfrm>
            <a:off x="4643438" y="1904870"/>
            <a:ext cx="3929063" cy="3222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0"/>
          <p:cNvSpPr/>
          <p:nvPr/>
        </p:nvSpPr>
        <p:spPr>
          <a:xfrm>
            <a:off x="4643438" y="1904870"/>
            <a:ext cx="3929063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2029885"/>
            <a:ext cx="157163" cy="15716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014913" y="1990595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2025" y="2437079"/>
            <a:ext cx="160734" cy="12858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989909" y="2404932"/>
            <a:ext cx="13180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LGPD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4772025" y="2654964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Papel: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é controlador e responsável integral.</a:t>
            </a:r>
            <a:endParaRPr lang="en-US" sz="750" dirty="0"/>
          </a:p>
        </p:txBody>
      </p:sp>
      <p:sp>
        <p:nvSpPr>
          <p:cNvPr id="48" name="Text 34"/>
          <p:cNvSpPr/>
          <p:nvPr/>
        </p:nvSpPr>
        <p:spPr>
          <a:xfrm>
            <a:off x="4772025" y="2862132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Implementação: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Controles de acesso, criptografia e auditoria sob responsabilidade do Banco.</a:t>
            </a:r>
            <a:endParaRPr lang="en-US" sz="750" dirty="0"/>
          </a:p>
        </p:txBody>
      </p:sp>
      <p:sp>
        <p:nvSpPr>
          <p:cNvPr id="49" name="Text 35"/>
          <p:cNvSpPr/>
          <p:nvPr/>
        </p:nvSpPr>
        <p:spPr>
          <a:xfrm>
            <a:off x="4772025" y="3219320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Direito de auditoria interna garantido.</a:t>
            </a:r>
            <a:endParaRPr lang="en-US" sz="750" dirty="0"/>
          </a:p>
        </p:txBody>
      </p:sp>
      <p:sp>
        <p:nvSpPr>
          <p:cNvPr id="50" name="Text 36"/>
          <p:cNvSpPr/>
          <p:nvPr/>
        </p:nvSpPr>
        <p:spPr>
          <a:xfrm>
            <a:off x="4772025" y="266925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1" name="Text 37"/>
          <p:cNvSpPr/>
          <p:nvPr/>
        </p:nvSpPr>
        <p:spPr>
          <a:xfrm>
            <a:off x="4772025" y="287642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2" name="Text 38"/>
          <p:cNvSpPr/>
          <p:nvPr/>
        </p:nvSpPr>
        <p:spPr>
          <a:xfrm>
            <a:off x="4772025" y="323360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2025" y="3544360"/>
            <a:ext cx="128588" cy="12858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957763" y="3512214"/>
            <a:ext cx="18788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BCB 339/2023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4772025" y="3762245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implementa e valida todos os controles.</a:t>
            </a:r>
            <a:endParaRPr lang="en-US" sz="750" dirty="0"/>
          </a:p>
        </p:txBody>
      </p:sp>
      <p:sp>
        <p:nvSpPr>
          <p:cNvPr id="56" name="Text 41"/>
          <p:cNvSpPr/>
          <p:nvPr/>
        </p:nvSpPr>
        <p:spPr>
          <a:xfrm>
            <a:off x="4772025" y="3969414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Residência: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Dados residem no Brasil (data center do Banco ou cloud privada brasileira).</a:t>
            </a:r>
            <a:endParaRPr lang="en-US" sz="750" dirty="0"/>
          </a:p>
        </p:txBody>
      </p:sp>
      <p:sp>
        <p:nvSpPr>
          <p:cNvPr id="57" name="Text 42"/>
          <p:cNvSpPr/>
          <p:nvPr/>
        </p:nvSpPr>
        <p:spPr>
          <a:xfrm>
            <a:off x="4772025" y="4326601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Responsabilidade: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Integral do Banco.</a:t>
            </a:r>
            <a:endParaRPr lang="en-US" sz="750" dirty="0"/>
          </a:p>
        </p:txBody>
      </p:sp>
      <p:sp>
        <p:nvSpPr>
          <p:cNvPr id="58" name="Text 43"/>
          <p:cNvSpPr/>
          <p:nvPr/>
        </p:nvSpPr>
        <p:spPr>
          <a:xfrm>
            <a:off x="4772025" y="377653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9" name="Text 44"/>
          <p:cNvSpPr/>
          <p:nvPr/>
        </p:nvSpPr>
        <p:spPr>
          <a:xfrm>
            <a:off x="4772025" y="398370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60" name="Text 45"/>
          <p:cNvSpPr/>
          <p:nvPr/>
        </p:nvSpPr>
        <p:spPr>
          <a:xfrm>
            <a:off x="4772025" y="434088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8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Resiliência: RTO, RPO e Estratégias de Disaster Recovery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50554"/>
            <a:ext cx="3893344" cy="3677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50554"/>
            <a:ext cx="389334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875569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2266" y="1836279"/>
            <a:ext cx="181272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14375" y="2272047"/>
            <a:ext cx="1750219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14375" y="2272047"/>
            <a:ext cx="28575" cy="61079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Text 8"/>
          <p:cNvSpPr/>
          <p:nvPr/>
        </p:nvSpPr>
        <p:spPr>
          <a:xfrm>
            <a:off x="800100" y="2357772"/>
            <a:ext cx="15644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RTO (Recovery Time)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00100" y="2538152"/>
            <a:ext cx="15644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 Hora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57463" y="2272047"/>
            <a:ext cx="1764506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2557463" y="2272047"/>
            <a:ext cx="28575" cy="61079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6" name="Text 12"/>
          <p:cNvSpPr/>
          <p:nvPr/>
        </p:nvSpPr>
        <p:spPr>
          <a:xfrm>
            <a:off x="2657475" y="2357772"/>
            <a:ext cx="1578769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RPO (Recovery Point)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657475" y="2538152"/>
            <a:ext cx="157876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15 Minutos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22141"/>
            <a:ext cx="144661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6186" y="2989994"/>
            <a:ext cx="12483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 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14375" y="3240025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Replicação geográfica (dados replicados em múltiplas regiões AWS/Azure).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714375" y="3597213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Testes de DR: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 realiza testes periódicos (tipicamente trimestrais).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714375" y="3954400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Dependência da Evertec para validar e testar DR; Banco tem visibilidade limitada.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714375" y="4418744"/>
            <a:ext cx="3607594" cy="87402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14375" y="4418744"/>
            <a:ext cx="28575" cy="87402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0"/>
          <p:cNvSpPr/>
          <p:nvPr/>
        </p:nvSpPr>
        <p:spPr>
          <a:xfrm>
            <a:off x="714375" y="325431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714375" y="361150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714375" y="396868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800100" y="4504469"/>
            <a:ext cx="343614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 Contratual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752715"/>
            <a:ext cx="64294" cy="857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1544" y="4731283"/>
            <a:ext cx="3314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Exigir cláusula contratual para testes de DR semestrais com participação do Banco.</a:t>
            </a:r>
            <a:endParaRPr lang="en-US" sz="7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055598"/>
            <a:ext cx="64294" cy="857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1544" y="5034167"/>
            <a:ext cx="228957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Garantia de SLA com penalidades financeiras.</a:t>
            </a:r>
            <a:endParaRPr lang="en-US" sz="750" dirty="0"/>
          </a:p>
        </p:txBody>
      </p:sp>
      <p:sp>
        <p:nvSpPr>
          <p:cNvPr id="33" name="Shape 26"/>
          <p:cNvSpPr/>
          <p:nvPr/>
        </p:nvSpPr>
        <p:spPr>
          <a:xfrm>
            <a:off x="4679156" y="1750554"/>
            <a:ext cx="3893344" cy="3649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4679156" y="1750554"/>
            <a:ext cx="3893344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875569"/>
            <a:ext cx="157163" cy="15716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050631" y="1836279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822031" y="2272047"/>
            <a:ext cx="1750219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38" name="Shape 30"/>
          <p:cNvSpPr/>
          <p:nvPr/>
        </p:nvSpPr>
        <p:spPr>
          <a:xfrm>
            <a:off x="4822031" y="2272047"/>
            <a:ext cx="28575" cy="6107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1"/>
          <p:cNvSpPr/>
          <p:nvPr/>
        </p:nvSpPr>
        <p:spPr>
          <a:xfrm>
            <a:off x="4907756" y="2357772"/>
            <a:ext cx="15644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RTO (Recovery Time)</a:t>
            </a:r>
            <a:endParaRPr lang="en-US" sz="700" dirty="0"/>
          </a:p>
        </p:txBody>
      </p:sp>
      <p:sp>
        <p:nvSpPr>
          <p:cNvPr id="40" name="Text 32"/>
          <p:cNvSpPr/>
          <p:nvPr/>
        </p:nvSpPr>
        <p:spPr>
          <a:xfrm>
            <a:off x="4907756" y="2538152"/>
            <a:ext cx="15644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2-4 Horas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665119" y="2272047"/>
            <a:ext cx="1764506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6665119" y="2272047"/>
            <a:ext cx="28575" cy="6107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Text 35"/>
          <p:cNvSpPr/>
          <p:nvPr/>
        </p:nvSpPr>
        <p:spPr>
          <a:xfrm>
            <a:off x="6765131" y="2357772"/>
            <a:ext cx="1578769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RPO (Recovery Point)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6765131" y="2538152"/>
            <a:ext cx="157876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 Hora</a:t>
            </a:r>
            <a:endParaRPr lang="en-US" sz="1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022141"/>
            <a:ext cx="144661" cy="128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023842" y="2989994"/>
            <a:ext cx="12483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 e Testes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4822031" y="3240025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Site secundário (standby) com replicação de dados em tempo real.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4822031" y="3597213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Testes de DR: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realiza testes periódicos (tipicamente semestrais).</a:t>
            </a:r>
            <a:endParaRPr lang="en-US" sz="750" dirty="0"/>
          </a:p>
        </p:txBody>
      </p:sp>
      <p:sp>
        <p:nvSpPr>
          <p:cNvPr id="49" name="Text 40"/>
          <p:cNvSpPr/>
          <p:nvPr/>
        </p:nvSpPr>
        <p:spPr>
          <a:xfrm>
            <a:off x="4822031" y="3954400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Custo: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Investimento significativo em infraestrutura secundária (50-100% do custo primário).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4822031" y="4418744"/>
            <a:ext cx="3607594" cy="701148"/>
          </a:xfrm>
          <a:prstGeom prst="rect">
            <a:avLst/>
          </a:prstGeom>
          <a:solidFill>
            <a:srgbClr val="333333">
              <a:alpha val="5000"/>
            </a:srgbClr>
          </a:solidFill>
          <a:ln/>
        </p:spPr>
      </p:sp>
      <p:sp>
        <p:nvSpPr>
          <p:cNvPr id="51" name="Shape 42"/>
          <p:cNvSpPr/>
          <p:nvPr/>
        </p:nvSpPr>
        <p:spPr>
          <a:xfrm>
            <a:off x="4822031" y="4418744"/>
            <a:ext cx="28575" cy="7011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2" name="Text 43"/>
          <p:cNvSpPr/>
          <p:nvPr/>
        </p:nvSpPr>
        <p:spPr>
          <a:xfrm>
            <a:off x="4822031" y="325431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3" name="Text 44"/>
          <p:cNvSpPr/>
          <p:nvPr/>
        </p:nvSpPr>
        <p:spPr>
          <a:xfrm>
            <a:off x="4822031" y="361150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4" name="Text 45"/>
          <p:cNvSpPr/>
          <p:nvPr/>
        </p:nvSpPr>
        <p:spPr>
          <a:xfrm>
            <a:off x="4822031" y="396868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5" name="Text 46"/>
          <p:cNvSpPr/>
          <p:nvPr/>
        </p:nvSpPr>
        <p:spPr>
          <a:xfrm>
            <a:off x="4907756" y="4504469"/>
            <a:ext cx="343614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Vantagem Estratégica</a:t>
            </a:r>
            <a:endParaRPr lang="en-US" sz="8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7756" y="4752715"/>
            <a:ext cx="85725" cy="85725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050631" y="4731283"/>
            <a:ext cx="32932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Controle total sobre RTO/RPO; Banco define estratégia conforme necessidade.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38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Terceiros: Mitigação Técnica do Risco Sinqia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50554"/>
            <a:ext cx="2740354" cy="16300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50554"/>
            <a:ext cx="42863" cy="1630087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889857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1857710"/>
            <a:ext cx="1500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Análise do Caso Sinqia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78656" y="2122029"/>
            <a:ext cx="25260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Vetor de Ataque: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Credenciais de terceiro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(subcontratado) comprometidas via phishing.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78656" y="2459180"/>
            <a:ext cx="25260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Propagação: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Acesso à infraestrutura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exfiltração de dados.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78656" y="2796332"/>
            <a:ext cx="252604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Faltantes: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Ausência de MFA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terceiros, falta de Allowlists de IP 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inadequado.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571500" y="3494940"/>
            <a:ext cx="2740354" cy="22430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3494940"/>
            <a:ext cx="274035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634243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394" y="3602096"/>
            <a:ext cx="163234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Onboarding de Terceiros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8656" y="3944996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Mapeamento: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Identificar todos os terceiros com acesso ao DUPIE.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678656" y="4276455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Avaliação: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Validar certificações e políticas de segurança do terceiro.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678656" y="4607914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Implementação: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Aplicar controles técnicos (MFA, Allowlists, VPN).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678656" y="4939373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Revisar logs de acesso mensalmente.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78656" y="5270832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Renovação: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Revisão anual de contratos e acessos.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678656" y="3944996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3" name="Text 18"/>
          <p:cNvSpPr/>
          <p:nvPr/>
        </p:nvSpPr>
        <p:spPr>
          <a:xfrm>
            <a:off x="678656" y="3944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4" name="Shape 19"/>
          <p:cNvSpPr/>
          <p:nvPr/>
        </p:nvSpPr>
        <p:spPr>
          <a:xfrm>
            <a:off x="678656" y="4276455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5" name="Text 20"/>
          <p:cNvSpPr/>
          <p:nvPr/>
        </p:nvSpPr>
        <p:spPr>
          <a:xfrm>
            <a:off x="678656" y="42764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678656" y="4607914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7" name="Text 22"/>
          <p:cNvSpPr/>
          <p:nvPr/>
        </p:nvSpPr>
        <p:spPr>
          <a:xfrm>
            <a:off x="678656" y="46079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8" name="Shape 23"/>
          <p:cNvSpPr/>
          <p:nvPr/>
        </p:nvSpPr>
        <p:spPr>
          <a:xfrm>
            <a:off x="678656" y="4939373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9" name="Text 24"/>
          <p:cNvSpPr/>
          <p:nvPr/>
        </p:nvSpPr>
        <p:spPr>
          <a:xfrm>
            <a:off x="678656" y="49393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30" name="Shape 25"/>
          <p:cNvSpPr/>
          <p:nvPr/>
        </p:nvSpPr>
        <p:spPr>
          <a:xfrm>
            <a:off x="678656" y="5270832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1" name="Text 26"/>
          <p:cNvSpPr/>
          <p:nvPr/>
        </p:nvSpPr>
        <p:spPr>
          <a:xfrm>
            <a:off x="678656" y="52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32" name="Shape 27"/>
          <p:cNvSpPr/>
          <p:nvPr/>
        </p:nvSpPr>
        <p:spPr>
          <a:xfrm>
            <a:off x="3483304" y="1750554"/>
            <a:ext cx="5089196" cy="34167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3483304" y="1750554"/>
            <a:ext cx="508919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4" name="Shape 29"/>
          <p:cNvSpPr/>
          <p:nvPr/>
        </p:nvSpPr>
        <p:spPr>
          <a:xfrm>
            <a:off x="3483304" y="1750554"/>
            <a:ext cx="1526753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5" name="Shape 30"/>
          <p:cNvSpPr/>
          <p:nvPr/>
        </p:nvSpPr>
        <p:spPr>
          <a:xfrm>
            <a:off x="5002913" y="1750554"/>
            <a:ext cx="7144" cy="5179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1"/>
          <p:cNvSpPr/>
          <p:nvPr/>
        </p:nvSpPr>
        <p:spPr>
          <a:xfrm>
            <a:off x="3483304" y="2254188"/>
            <a:ext cx="1526753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37" name="Text 32"/>
          <p:cNvSpPr/>
          <p:nvPr/>
        </p:nvSpPr>
        <p:spPr>
          <a:xfrm>
            <a:off x="3483304" y="1750554"/>
            <a:ext cx="1526753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Controle Técnico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5010057" y="1750554"/>
            <a:ext cx="1781194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Shape 34"/>
          <p:cNvSpPr/>
          <p:nvPr/>
        </p:nvSpPr>
        <p:spPr>
          <a:xfrm>
            <a:off x="6784107" y="1750554"/>
            <a:ext cx="7144" cy="5179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5010057" y="2254188"/>
            <a:ext cx="1781194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41" name="Text 36"/>
          <p:cNvSpPr/>
          <p:nvPr/>
        </p:nvSpPr>
        <p:spPr>
          <a:xfrm>
            <a:off x="5010057" y="1750554"/>
            <a:ext cx="1781194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Implementação SaaS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6791251" y="1750554"/>
            <a:ext cx="1781249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Shape 38"/>
          <p:cNvSpPr/>
          <p:nvPr/>
        </p:nvSpPr>
        <p:spPr>
          <a:xfrm>
            <a:off x="6791251" y="2254188"/>
            <a:ext cx="1781249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44" name="Text 39"/>
          <p:cNvSpPr/>
          <p:nvPr/>
        </p:nvSpPr>
        <p:spPr>
          <a:xfrm>
            <a:off x="6791251" y="1750554"/>
            <a:ext cx="1781249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Implementação On-Premise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3483304" y="2261332"/>
            <a:ext cx="1526753" cy="406468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5002913" y="2261332"/>
            <a:ext cx="7144" cy="406468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7" name="Shape 42"/>
          <p:cNvSpPr/>
          <p:nvPr/>
        </p:nvSpPr>
        <p:spPr>
          <a:xfrm>
            <a:off x="3483304" y="266065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8" name="Text 43"/>
          <p:cNvSpPr/>
          <p:nvPr/>
        </p:nvSpPr>
        <p:spPr>
          <a:xfrm>
            <a:off x="3483304" y="2261332"/>
            <a:ext cx="1526753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MFA para Terceiros</a:t>
            </a:r>
            <a:endParaRPr lang="en-US" sz="700" dirty="0"/>
          </a:p>
        </p:txBody>
      </p:sp>
      <p:sp>
        <p:nvSpPr>
          <p:cNvPr id="49" name="Text 44"/>
          <p:cNvSpPr/>
          <p:nvPr/>
        </p:nvSpPr>
        <p:spPr>
          <a:xfrm>
            <a:off x="5010057" y="2261332"/>
            <a:ext cx="1781194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implementa, Banco valida evidências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6791251" y="2261332"/>
            <a:ext cx="1781249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via IAM corporativo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3483304" y="266780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5002913" y="266780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3" name="Shape 48"/>
          <p:cNvSpPr/>
          <p:nvPr/>
        </p:nvSpPr>
        <p:spPr>
          <a:xfrm>
            <a:off x="3483304" y="307069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4" name="Text 49"/>
          <p:cNvSpPr/>
          <p:nvPr/>
        </p:nvSpPr>
        <p:spPr>
          <a:xfrm>
            <a:off x="3483304" y="266780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Allowlists de IP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5010057" y="266780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configura, Banco fornece IPs autorizados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6791251" y="266780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configura no firewall corporativo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3483304" y="307784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8" name="Shape 53"/>
          <p:cNvSpPr/>
          <p:nvPr/>
        </p:nvSpPr>
        <p:spPr>
          <a:xfrm>
            <a:off x="5002913" y="307784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9" name="Shape 54"/>
          <p:cNvSpPr/>
          <p:nvPr/>
        </p:nvSpPr>
        <p:spPr>
          <a:xfrm>
            <a:off x="3483304" y="348073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0" name="Text 55"/>
          <p:cNvSpPr/>
          <p:nvPr/>
        </p:nvSpPr>
        <p:spPr>
          <a:xfrm>
            <a:off x="3483304" y="307784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Monitoramento de Acessos</a:t>
            </a:r>
            <a:endParaRPr lang="en-US" sz="700" dirty="0"/>
          </a:p>
        </p:txBody>
      </p:sp>
      <p:sp>
        <p:nvSpPr>
          <p:cNvPr id="61" name="Text 56"/>
          <p:cNvSpPr/>
          <p:nvPr/>
        </p:nvSpPr>
        <p:spPr>
          <a:xfrm>
            <a:off x="5010057" y="307784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 da Evertec, Banco audita logs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6791251" y="307784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 corporativo do Banco</a:t>
            </a:r>
            <a:endParaRPr lang="en-US" sz="750" dirty="0"/>
          </a:p>
        </p:txBody>
      </p:sp>
      <p:sp>
        <p:nvSpPr>
          <p:cNvPr id="63" name="Shape 58"/>
          <p:cNvSpPr/>
          <p:nvPr/>
        </p:nvSpPr>
        <p:spPr>
          <a:xfrm>
            <a:off x="3483304" y="348788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64" name="Shape 59"/>
          <p:cNvSpPr/>
          <p:nvPr/>
        </p:nvSpPr>
        <p:spPr>
          <a:xfrm>
            <a:off x="5002913" y="348788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5" name="Shape 60"/>
          <p:cNvSpPr/>
          <p:nvPr/>
        </p:nvSpPr>
        <p:spPr>
          <a:xfrm>
            <a:off x="3483304" y="389077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6" name="Text 61"/>
          <p:cNvSpPr/>
          <p:nvPr/>
        </p:nvSpPr>
        <p:spPr>
          <a:xfrm>
            <a:off x="3483304" y="348788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Rotação de Credenciais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5010057" y="348788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 (política de 90 dias)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6791251" y="348788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via gestão de identidade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3483304" y="389792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0" name="Shape 65"/>
          <p:cNvSpPr/>
          <p:nvPr/>
        </p:nvSpPr>
        <p:spPr>
          <a:xfrm>
            <a:off x="5002913" y="389792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1" name="Shape 66"/>
          <p:cNvSpPr/>
          <p:nvPr/>
        </p:nvSpPr>
        <p:spPr>
          <a:xfrm>
            <a:off x="3483304" y="4300817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2" name="Text 67"/>
          <p:cNvSpPr/>
          <p:nvPr/>
        </p:nvSpPr>
        <p:spPr>
          <a:xfrm>
            <a:off x="3483304" y="389792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Segmentação de Rede</a:t>
            </a:r>
            <a:endParaRPr lang="en-US" sz="700" dirty="0"/>
          </a:p>
        </p:txBody>
      </p:sp>
      <p:sp>
        <p:nvSpPr>
          <p:cNvPr id="73" name="Text 68"/>
          <p:cNvSpPr/>
          <p:nvPr/>
        </p:nvSpPr>
        <p:spPr>
          <a:xfrm>
            <a:off x="5010057" y="389792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restrito via VPN site-to-site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6791251" y="389792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restrito via regras de firewall interno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3483304" y="430796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6" name="Shape 71"/>
          <p:cNvSpPr/>
          <p:nvPr/>
        </p:nvSpPr>
        <p:spPr>
          <a:xfrm>
            <a:off x="5002913" y="430796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7" name="Shape 72"/>
          <p:cNvSpPr/>
          <p:nvPr/>
        </p:nvSpPr>
        <p:spPr>
          <a:xfrm>
            <a:off x="3483304" y="4710857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8" name="Text 73"/>
          <p:cNvSpPr/>
          <p:nvPr/>
        </p:nvSpPr>
        <p:spPr>
          <a:xfrm>
            <a:off x="3483304" y="430796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 Contínua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5010057" y="430796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logs de acesso mensalmente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6791251" y="430796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logs de acesso mensalmente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3483304" y="4718000"/>
            <a:ext cx="1526753" cy="406468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5002913" y="4718000"/>
            <a:ext cx="7144" cy="406468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83" name="Text 78"/>
          <p:cNvSpPr/>
          <p:nvPr/>
        </p:nvSpPr>
        <p:spPr>
          <a:xfrm>
            <a:off x="3483304" y="4718000"/>
            <a:ext cx="1526753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 de Penetração</a:t>
            </a:r>
            <a:endParaRPr lang="en-US" sz="700" dirty="0"/>
          </a:p>
        </p:txBody>
      </p:sp>
      <p:sp>
        <p:nvSpPr>
          <p:cNvPr id="84" name="Text 79"/>
          <p:cNvSpPr/>
          <p:nvPr/>
        </p:nvSpPr>
        <p:spPr>
          <a:xfrm>
            <a:off x="5010057" y="4718000"/>
            <a:ext cx="1781194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contrata terceiro para testar (anual)</a:t>
            </a:r>
            <a:endParaRPr lang="en-US" sz="750" dirty="0"/>
          </a:p>
        </p:txBody>
      </p:sp>
      <p:sp>
        <p:nvSpPr>
          <p:cNvPr id="85" name="Text 80"/>
          <p:cNvSpPr/>
          <p:nvPr/>
        </p:nvSpPr>
        <p:spPr>
          <a:xfrm>
            <a:off x="6791251" y="4718000"/>
            <a:ext cx="1781249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contrata terceiro para testar (anual)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Recomendações Técnicas e Critérios de Decisão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54801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531" y="1319082"/>
            <a:ext cx="20734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Critérios de Decisão Técnica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71500" y="1676270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676270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789677"/>
            <a:ext cx="142875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7250" y="1761995"/>
            <a:ext cx="1403747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e Performance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57225" y="1988809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100-200ms (aceitável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assíncrono).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57225" y="2277405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&lt;1ms (crítico para síncrono).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657225" y="2450278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Se latência for crítica para o Core, On-Premise é preferível.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2963233" y="1676270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2963233" y="1676270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8" y="1789677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20408" y="1761995"/>
            <a:ext cx="87332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048958" y="1988809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Automática (ideal para picos).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3048958" y="2147395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Manual (requer capacity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planning).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3048958" y="2450278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Se o crescimento for imprevisível, SaaS mitiga o risco.</a:t>
            </a:r>
            <a:endParaRPr lang="en-US" sz="650" dirty="0"/>
          </a:p>
        </p:txBody>
      </p:sp>
      <p:sp>
        <p:nvSpPr>
          <p:cNvPr id="22" name="Shape 16"/>
          <p:cNvSpPr/>
          <p:nvPr/>
        </p:nvSpPr>
        <p:spPr>
          <a:xfrm>
            <a:off x="571500" y="2950341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2950341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063748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8675" y="3036066"/>
            <a:ext cx="129659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(LGPD)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657225" y="3262880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dados fora do Brasil.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657225" y="3421466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Residência garantida no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Brasil.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657225" y="3724349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Exigir cláusula de residência de dados no Brasil para SaaS.</a:t>
            </a:r>
            <a:endParaRPr lang="en-US" sz="650" dirty="0"/>
          </a:p>
        </p:txBody>
      </p:sp>
      <p:sp>
        <p:nvSpPr>
          <p:cNvPr id="29" name="Shape 22"/>
          <p:cNvSpPr/>
          <p:nvPr/>
        </p:nvSpPr>
        <p:spPr>
          <a:xfrm>
            <a:off x="2963233" y="2950341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2963233" y="2950341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958" y="3063748"/>
            <a:ext cx="142875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248983" y="3036066"/>
            <a:ext cx="1489472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Capacidade Operacional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048958" y="3262880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Equipe enxuta (5-10 pessoas).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3048958" y="3421466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Equipe dedicada (15-20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pessoas).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3048958" y="3724349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Avaliar capacidade real de alocação de recursos internos.</a:t>
            </a:r>
            <a:endParaRPr lang="en-US" sz="6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91" y="1354801"/>
            <a:ext cx="142875" cy="1428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655004" y="1319082"/>
            <a:ext cx="191809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Próximos Passos Técnicos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40691" y="1676270"/>
            <a:ext cx="3131809" cy="2462417"/>
          </a:xfrm>
          <a:prstGeom prst="rect">
            <a:avLst/>
          </a:prstGeom>
          <a:solidFill>
            <a:srgbClr val="003366">
              <a:alpha val="3000"/>
            </a:srgbClr>
          </a:solidFill>
          <a:ln/>
        </p:spPr>
      </p:sp>
      <p:sp>
        <p:nvSpPr>
          <p:cNvPr id="39" name="Shape 30"/>
          <p:cNvSpPr/>
          <p:nvPr/>
        </p:nvSpPr>
        <p:spPr>
          <a:xfrm>
            <a:off x="5440691" y="1676270"/>
            <a:ext cx="3131809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0" name="Shape 31"/>
          <p:cNvSpPr/>
          <p:nvPr/>
        </p:nvSpPr>
        <p:spPr>
          <a:xfrm>
            <a:off x="5547847" y="1783426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1" name="Text 32"/>
          <p:cNvSpPr/>
          <p:nvPr/>
        </p:nvSpPr>
        <p:spPr>
          <a:xfrm>
            <a:off x="5547847" y="17834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42" name="Text 33"/>
          <p:cNvSpPr/>
          <p:nvPr/>
        </p:nvSpPr>
        <p:spPr>
          <a:xfrm>
            <a:off x="5805022" y="1783426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 de Arquitetura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5805022" y="1958448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Desenhar arquitetura de referência detalhada para o modelo escolhido.</a:t>
            </a:r>
            <a:endParaRPr lang="en-US" sz="650" dirty="0"/>
          </a:p>
        </p:txBody>
      </p:sp>
      <p:sp>
        <p:nvSpPr>
          <p:cNvPr id="44" name="Shape 35"/>
          <p:cNvSpPr/>
          <p:nvPr/>
        </p:nvSpPr>
        <p:spPr>
          <a:xfrm>
            <a:off x="5547847" y="2285609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5" name="Text 36"/>
          <p:cNvSpPr/>
          <p:nvPr/>
        </p:nvSpPr>
        <p:spPr>
          <a:xfrm>
            <a:off x="5547847" y="22856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46" name="Text 37"/>
          <p:cNvSpPr/>
          <p:nvPr/>
        </p:nvSpPr>
        <p:spPr>
          <a:xfrm>
            <a:off x="5805022" y="2285609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Prototipagem (PoC)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5805022" y="2460631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Implementar integração com o Core Bancário para validar latência.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5547847" y="2787793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9" name="Text 40"/>
          <p:cNvSpPr/>
          <p:nvPr/>
        </p:nvSpPr>
        <p:spPr>
          <a:xfrm>
            <a:off x="5547847" y="27877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0" name="Text 41"/>
          <p:cNvSpPr/>
          <p:nvPr/>
        </p:nvSpPr>
        <p:spPr>
          <a:xfrm>
            <a:off x="5805022" y="2787793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 de Segurança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5805022" y="2962815"/>
            <a:ext cx="266032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Realizar pentest na arquitetura (SaaS ou On-Premise).</a:t>
            </a:r>
            <a:endParaRPr lang="en-US" sz="650" dirty="0"/>
          </a:p>
        </p:txBody>
      </p:sp>
      <p:sp>
        <p:nvSpPr>
          <p:cNvPr id="52" name="Shape 43"/>
          <p:cNvSpPr/>
          <p:nvPr/>
        </p:nvSpPr>
        <p:spPr>
          <a:xfrm>
            <a:off x="5547847" y="3169258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3" name="Text 44"/>
          <p:cNvSpPr/>
          <p:nvPr/>
        </p:nvSpPr>
        <p:spPr>
          <a:xfrm>
            <a:off x="5547847" y="31692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4" name="Text 45"/>
          <p:cNvSpPr/>
          <p:nvPr/>
        </p:nvSpPr>
        <p:spPr>
          <a:xfrm>
            <a:off x="5805022" y="3169258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Estimativa de Custo</a:t>
            </a:r>
            <a:endParaRPr lang="en-US" sz="750" dirty="0"/>
          </a:p>
        </p:txBody>
      </p:sp>
      <p:sp>
        <p:nvSpPr>
          <p:cNvPr id="55" name="Text 46"/>
          <p:cNvSpPr/>
          <p:nvPr/>
        </p:nvSpPr>
        <p:spPr>
          <a:xfrm>
            <a:off x="5805022" y="3344280"/>
            <a:ext cx="266032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Refinar estimativas de CAPEX e OPEX com dados da PoC.</a:t>
            </a:r>
            <a:endParaRPr lang="en-US" sz="650" dirty="0"/>
          </a:p>
        </p:txBody>
      </p:sp>
      <p:sp>
        <p:nvSpPr>
          <p:cNvPr id="56" name="Shape 47"/>
          <p:cNvSpPr/>
          <p:nvPr/>
        </p:nvSpPr>
        <p:spPr>
          <a:xfrm>
            <a:off x="5547847" y="3550723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7" name="Text 48"/>
          <p:cNvSpPr/>
          <p:nvPr/>
        </p:nvSpPr>
        <p:spPr>
          <a:xfrm>
            <a:off x="5547847" y="35507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8" name="Text 49"/>
          <p:cNvSpPr/>
          <p:nvPr/>
        </p:nvSpPr>
        <p:spPr>
          <a:xfrm>
            <a:off x="5805022" y="3550723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Decisão e Contratação</a:t>
            </a:r>
            <a:endParaRPr lang="en-US" sz="750" dirty="0"/>
          </a:p>
        </p:txBody>
      </p:sp>
      <p:sp>
        <p:nvSpPr>
          <p:cNvPr id="59" name="Text 50"/>
          <p:cNvSpPr/>
          <p:nvPr/>
        </p:nvSpPr>
        <p:spPr>
          <a:xfrm>
            <a:off x="5805022" y="3725745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Comitê assina Termo de Decisão e Jurídico inicia negociação.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Devolutiva de SI: Parecer Executivo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26239"/>
            <a:ext cx="8001000" cy="87153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6239"/>
            <a:ext cx="57150" cy="871538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8162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1588" y="1635723"/>
            <a:ext cx="369153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CLASSIFICAÇÃO DE RISCO DA SOLUÇÃO DUPIE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271588" y="1805387"/>
            <a:ext cx="3691533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APROVADA COM RESSALVAS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71500" y="2583526"/>
            <a:ext cx="2524116" cy="24788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583526"/>
            <a:ext cx="252411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9"/>
          <p:cNvSpPr/>
          <p:nvPr/>
        </p:nvSpPr>
        <p:spPr>
          <a:xfrm>
            <a:off x="750094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80" y="2904995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094" y="3297901"/>
            <a:ext cx="21669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Criticidade dos Dados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50094" y="3619370"/>
            <a:ext cx="216692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manipula dados altamente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incluindo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dados pessoais (CPF/CNPJ)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dados transacionais financeiros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 que a torna crítica no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contexto regulatório e operacional do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309928" y="2583526"/>
            <a:ext cx="2524116" cy="24788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3309928" y="2583526"/>
            <a:ext cx="252411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4"/>
          <p:cNvSpPr/>
          <p:nvPr/>
        </p:nvSpPr>
        <p:spPr>
          <a:xfrm>
            <a:off x="3488522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678" y="2904995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88522" y="3297901"/>
            <a:ext cx="21669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Riscos Estruturais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488522" y="3619370"/>
            <a:ext cx="216692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Embora existam controles de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segurança relevantes (OAuth2,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criptografia), a arquitetura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 Multi-tenant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introduz riscos estruturais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relacionados à segregação lógica de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que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não podem ser totalmente eliminados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6048356" y="2583526"/>
            <a:ext cx="2524144" cy="24503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6048356" y="2583526"/>
            <a:ext cx="2524144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Shape 19"/>
          <p:cNvSpPr/>
          <p:nvPr/>
        </p:nvSpPr>
        <p:spPr>
          <a:xfrm>
            <a:off x="6226950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06" y="2904995"/>
            <a:ext cx="142875" cy="1428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26950" y="3297901"/>
            <a:ext cx="21669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Exigência de Auditoria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226950" y="3619370"/>
            <a:ext cx="216695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aprovação está condicionada à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realização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validações contínuas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à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exigência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evidências técnicas rigorosas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por parte do fornecedor que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comprovem o isolamento efetivo dos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do BS2.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Mapeamento de Riscos Críticos (SaaS Multi-tenant)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26239"/>
            <a:ext cx="3911203" cy="18323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6239"/>
            <a:ext cx="35719" cy="183237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644123"/>
            <a:ext cx="137517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9048" y="1604832"/>
            <a:ext cx="14876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Confidencialidade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62970" y="1604832"/>
            <a:ext cx="541139" cy="200025"/>
          </a:xfrm>
          <a:prstGeom prst="rect">
            <a:avLst/>
          </a:prstGeom>
          <a:solidFill>
            <a:srgbClr val="FFEBEB"/>
          </a:solidFill>
          <a:ln w="9144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62970" y="1604832"/>
            <a:ext cx="541139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CRÍTICO</a:t>
            </a:r>
            <a:endParaRPr lang="en-US" sz="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976307"/>
            <a:ext cx="100013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1544" y="1947732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Compartilhamento de infraestrutura entre diferentes clientes do fornecedor.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362070"/>
            <a:ext cx="100013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1544" y="2333495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Risco potencial de </a:t>
            </a: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falhas na segregação lógica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resultando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exposição cruzada de dados.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750094" y="2633532"/>
            <a:ext cx="3554016" cy="4464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1"/>
          <p:cNvSpPr/>
          <p:nvPr/>
        </p:nvSpPr>
        <p:spPr>
          <a:xfrm>
            <a:off x="750094" y="2633532"/>
            <a:ext cx="21431" cy="446484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18" name="Text 12"/>
          <p:cNvSpPr/>
          <p:nvPr/>
        </p:nvSpPr>
        <p:spPr>
          <a:xfrm>
            <a:off x="750094" y="2633532"/>
            <a:ext cx="3554016" cy="44648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Comprovação técnica explícita de isolamento pelo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661297" y="1426239"/>
            <a:ext cx="3911203" cy="18323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61297" y="1426239"/>
            <a:ext cx="35719" cy="183237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891" y="1644123"/>
            <a:ext cx="19645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07781" y="1604832"/>
            <a:ext cx="214669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Operacional e Arquitetural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852767" y="1604832"/>
            <a:ext cx="541139" cy="200025"/>
          </a:xfrm>
          <a:prstGeom prst="rect">
            <a:avLst/>
          </a:prstGeom>
          <a:solidFill>
            <a:srgbClr val="FFEBEB"/>
          </a:solidFill>
          <a:ln w="9144">
            <a:solidFill>
              <a:srgbClr val="CC000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852767" y="1604832"/>
            <a:ext cx="541139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CRÍTICO</a:t>
            </a:r>
            <a:endParaRPr lang="en-US" sz="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891" y="1976307"/>
            <a:ext cx="100013" cy="1000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11341" y="1947732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Forte dependência do fornecedor para processos críticos de negócio.</a:t>
            </a:r>
            <a:endParaRPr lang="en-US" sz="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891" y="2362070"/>
            <a:ext cx="100013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11341" y="2333495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de credenciais sob controle de terceiros (risco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evidenciado pelo </a:t>
            </a: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incidente Sinqia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4839891" y="2633532"/>
            <a:ext cx="3554016" cy="4464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1"/>
          <p:cNvSpPr/>
          <p:nvPr/>
        </p:nvSpPr>
        <p:spPr>
          <a:xfrm>
            <a:off x="4839891" y="2633532"/>
            <a:ext cx="21431" cy="446484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31" name="Text 22"/>
          <p:cNvSpPr/>
          <p:nvPr/>
        </p:nvSpPr>
        <p:spPr>
          <a:xfrm>
            <a:off x="4839891" y="2633532"/>
            <a:ext cx="3554016" cy="44648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Auditoria independente e validação contínua de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controles internos.</a:t>
            </a:r>
            <a:endParaRPr lang="en-US" sz="750" dirty="0"/>
          </a:p>
        </p:txBody>
      </p:sp>
      <p:sp>
        <p:nvSpPr>
          <p:cNvPr id="32" name="Shape 23"/>
          <p:cNvSpPr/>
          <p:nvPr/>
        </p:nvSpPr>
        <p:spPr>
          <a:xfrm>
            <a:off x="571500" y="3437204"/>
            <a:ext cx="3911203" cy="18323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4"/>
          <p:cNvSpPr/>
          <p:nvPr/>
        </p:nvSpPr>
        <p:spPr>
          <a:xfrm>
            <a:off x="571500" y="3437204"/>
            <a:ext cx="35719" cy="183237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655089"/>
            <a:ext cx="157163" cy="15716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78694" y="3615798"/>
            <a:ext cx="9429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Integridade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3896916" y="3615798"/>
            <a:ext cx="407194" cy="200025"/>
          </a:xfrm>
          <a:prstGeom prst="rect">
            <a:avLst/>
          </a:prstGeom>
          <a:solidFill>
            <a:srgbClr val="FFF3CD"/>
          </a:solidFill>
          <a:ln w="9144">
            <a:solidFill>
              <a:srgbClr val="FFC107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896916" y="3615798"/>
            <a:ext cx="407194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ALTO</a:t>
            </a:r>
            <a:endParaRPr lang="en-US" sz="6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3987273"/>
            <a:ext cx="100013" cy="10001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21544" y="3958698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Dependência total de mecanismos de controle lógico (RBAC, claims).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94" y="4373035"/>
            <a:ext cx="100013" cy="10001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21544" y="4344460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Integrações com múltiplos sistemas aumentam a superfície de ataque.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750094" y="4644498"/>
            <a:ext cx="3554016" cy="4464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Shape 31"/>
          <p:cNvSpPr/>
          <p:nvPr/>
        </p:nvSpPr>
        <p:spPr>
          <a:xfrm>
            <a:off x="750094" y="4644498"/>
            <a:ext cx="21431" cy="446484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44" name="Text 32"/>
          <p:cNvSpPr/>
          <p:nvPr/>
        </p:nvSpPr>
        <p:spPr>
          <a:xfrm>
            <a:off x="750094" y="4644498"/>
            <a:ext cx="3554016" cy="44648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Governança rigorosa de acessos e permissões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sistêmicas.</a:t>
            </a:r>
            <a:endParaRPr lang="en-US" sz="750" dirty="0"/>
          </a:p>
        </p:txBody>
      </p:sp>
      <p:sp>
        <p:nvSpPr>
          <p:cNvPr id="45" name="Shape 33"/>
          <p:cNvSpPr/>
          <p:nvPr/>
        </p:nvSpPr>
        <p:spPr>
          <a:xfrm>
            <a:off x="4661297" y="3437204"/>
            <a:ext cx="3911203" cy="18323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4"/>
          <p:cNvSpPr/>
          <p:nvPr/>
        </p:nvSpPr>
        <p:spPr>
          <a:xfrm>
            <a:off x="4661297" y="3437204"/>
            <a:ext cx="35719" cy="183237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9891" y="3655089"/>
            <a:ext cx="157163" cy="157163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68491" y="3615798"/>
            <a:ext cx="126087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Disponibilidade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7986713" y="3615798"/>
            <a:ext cx="407194" cy="200025"/>
          </a:xfrm>
          <a:prstGeom prst="rect">
            <a:avLst/>
          </a:prstGeom>
          <a:solidFill>
            <a:srgbClr val="FFF3CD"/>
          </a:solidFill>
          <a:ln w="9144">
            <a:solidFill>
              <a:srgbClr val="FFC107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7986713" y="3615798"/>
            <a:ext cx="407194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ALTO</a:t>
            </a:r>
            <a:endParaRPr lang="en-US" sz="6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9891" y="3987273"/>
            <a:ext cx="100013" cy="100013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11341" y="3958698"/>
            <a:ext cx="33057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de infraestrutura compartilhada (nuvem do fornecedor).</a:t>
            </a:r>
            <a:endParaRPr lang="en-US" sz="8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9891" y="4223017"/>
            <a:ext cx="100013" cy="100013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5011341" y="4194442"/>
            <a:ext cx="33825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Dependência operacional de terceiros regulados (registradoras).</a:t>
            </a:r>
            <a:endParaRPr lang="en-US" sz="800" dirty="0"/>
          </a:p>
        </p:txBody>
      </p:sp>
      <p:sp>
        <p:nvSpPr>
          <p:cNvPr id="55" name="Shape 40"/>
          <p:cNvSpPr/>
          <p:nvPr/>
        </p:nvSpPr>
        <p:spPr>
          <a:xfrm>
            <a:off x="4839891" y="4644498"/>
            <a:ext cx="3554016" cy="4464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6" name="Shape 41"/>
          <p:cNvSpPr/>
          <p:nvPr/>
        </p:nvSpPr>
        <p:spPr>
          <a:xfrm>
            <a:off x="4839891" y="4644498"/>
            <a:ext cx="21431" cy="446484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57" name="Text 42"/>
          <p:cNvSpPr/>
          <p:nvPr/>
        </p:nvSpPr>
        <p:spPr>
          <a:xfrm>
            <a:off x="4839891" y="4644498"/>
            <a:ext cx="3554016" cy="44648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SLA contratual estrito e planos de contingência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Recomendações e Controles Exigidos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390520"/>
            <a:ext cx="8001000" cy="834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0520"/>
            <a:ext cx="57150" cy="834368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57685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438" y="1533395"/>
            <a:ext cx="71437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DIRETRIZ ESTRATÉGICA DE SI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214438" y="1761995"/>
            <a:ext cx="7143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Avaliar e priorizar a adoção do modelo </a:t>
            </a: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 Single-Tenant</a:t>
            </a: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(ambiente dedicado ao banco), substituindo controles </a:t>
            </a: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lógicos por isolamento físico para eliminar os riscos de exposição cruzada.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919"/>
            <a:ext cx="12501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7953" y="2439200"/>
            <a:ext cx="49327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Obrigatórios (Caso o modelo Multi-Tenant seja mantido)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71500" y="276066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571500" y="276066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290354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89" y="2999984"/>
            <a:ext cx="96441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90354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Governança de Acessos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143000" y="310892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Implementação rigorosa de Controle de Acesso Baseado em Papéis (RBAC) e exigência de Autenticação Multifator (MFA) para todas as integrações.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643438" y="276066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43438" y="276066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21" name="Shape 15"/>
          <p:cNvSpPr/>
          <p:nvPr/>
        </p:nvSpPr>
        <p:spPr>
          <a:xfrm>
            <a:off x="4786313" y="290354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716" y="2999984"/>
            <a:ext cx="144661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4938" y="290354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Integração com SIEM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5214938" y="310892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Envio contínuo de logs de auditoria e segurança para a ferramenta SIEM do BS2, garantindo visibilidade e monitoramento em tempo real.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571500" y="381467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" y="381467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27" name="Shape 20"/>
          <p:cNvSpPr/>
          <p:nvPr/>
        </p:nvSpPr>
        <p:spPr>
          <a:xfrm>
            <a:off x="714375" y="395755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89" y="4053994"/>
            <a:ext cx="96441" cy="128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395755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Evidências de Auditoria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1143000" y="416293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Garantia contratual de fornecimento periódico de evidências de segurança, relatórios de conformidade e direito à auditoria independente.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4643438" y="381467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4643438" y="381467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33" name="Shape 25"/>
          <p:cNvSpPr/>
          <p:nvPr/>
        </p:nvSpPr>
        <p:spPr>
          <a:xfrm>
            <a:off x="4786313" y="395755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753" y="4053994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14938" y="395755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Testes de Segurança Contínuos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5214938" y="416293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Execução contínua de testes de intrusão (Pentest) e varreduras de vulnerabilidade para atestar a eficácia do isolamento lógico do tenant.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Termo de Decisão e Assunção de Risco Multidisciplinar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657685"/>
            <a:ext cx="8001000" cy="8393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57685"/>
            <a:ext cx="42863" cy="8393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743410"/>
            <a:ext cx="77152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"Os signatários abaixo atestam que avaliaram tecnicamente as opções arquitetônicas para o sistema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DUPIE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, compreendem os riscos 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inerentes (incluindo segurança, conformidade e dependência de terceiros) e formalizam sua concordância com o modelo selecionado, 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assumindo as responsabilidades de governança associadas às suas respectivas áreas."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4375" y="2250616"/>
            <a:ext cx="9947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Aprovado: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009180" y="2250616"/>
            <a:ext cx="8108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SaaS (Evertec)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12914" y="2250616"/>
            <a:ext cx="116978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On-Premise (Interno)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1500" y="2625663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625663"/>
            <a:ext cx="2595553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745321"/>
            <a:ext cx="92869" cy="928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7244" y="2711388"/>
            <a:ext cx="145375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Segurança da Informação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57225" y="2893554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controles técnicos e plano de mitigação de riscos.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657225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2268727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19" name="Shape 15"/>
          <p:cNvSpPr/>
          <p:nvPr/>
        </p:nvSpPr>
        <p:spPr>
          <a:xfrm>
            <a:off x="3274209" y="2625663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274209" y="2625663"/>
            <a:ext cx="2595553" cy="28575"/>
          </a:xfrm>
          <a:prstGeom prst="rect">
            <a:avLst/>
          </a:prstGeom>
          <a:solidFill>
            <a:srgbClr val="0055A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34" y="2745321"/>
            <a:ext cx="105370" cy="928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22455" y="2711388"/>
            <a:ext cx="134481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359934" y="2893554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integração, performance e escalabilidade técnica.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3359934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25" name="Text 20"/>
          <p:cNvSpPr/>
          <p:nvPr/>
        </p:nvSpPr>
        <p:spPr>
          <a:xfrm>
            <a:off x="4971436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5976919" y="2625663"/>
            <a:ext cx="2595581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5976919" y="2625663"/>
            <a:ext cx="2595581" cy="28575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644" y="2745321"/>
            <a:ext cx="92869" cy="9286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2663" y="2711388"/>
            <a:ext cx="11162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Negócios / Produtos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062644" y="2893554"/>
            <a:ext cx="2424131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time-to-market, viabilidade financeira e operação.</a:t>
            </a:r>
            <a:endParaRPr lang="en-US" sz="550" dirty="0"/>
          </a:p>
        </p:txBody>
      </p:sp>
      <p:sp>
        <p:nvSpPr>
          <p:cNvPr id="31" name="Text 25"/>
          <p:cNvSpPr/>
          <p:nvPr/>
        </p:nvSpPr>
        <p:spPr>
          <a:xfrm>
            <a:off x="6062644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32" name="Text 26"/>
          <p:cNvSpPr/>
          <p:nvPr/>
        </p:nvSpPr>
        <p:spPr>
          <a:xfrm>
            <a:off x="7674173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571500" y="3676855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571500" y="3676855"/>
            <a:ext cx="2595553" cy="28575"/>
          </a:xfrm>
          <a:prstGeom prst="rect">
            <a:avLst/>
          </a:prstGeom>
          <a:solidFill>
            <a:srgbClr val="00990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796512"/>
            <a:ext cx="92869" cy="9286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7244" y="3762580"/>
            <a:ext cx="7840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57225" y="3944745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capacidade, recursos e operação técnica contínua.</a:t>
            </a:r>
            <a:endParaRPr lang="en-US" sz="550" dirty="0"/>
          </a:p>
        </p:txBody>
      </p:sp>
      <p:sp>
        <p:nvSpPr>
          <p:cNvPr id="38" name="Text 31"/>
          <p:cNvSpPr/>
          <p:nvPr/>
        </p:nvSpPr>
        <p:spPr>
          <a:xfrm>
            <a:off x="657225" y="4419079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39" name="Text 32"/>
          <p:cNvSpPr/>
          <p:nvPr/>
        </p:nvSpPr>
        <p:spPr>
          <a:xfrm>
            <a:off x="2268727" y="4419079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40" name="Shape 33"/>
          <p:cNvSpPr/>
          <p:nvPr/>
        </p:nvSpPr>
        <p:spPr>
          <a:xfrm>
            <a:off x="3274209" y="3676855"/>
            <a:ext cx="2595553" cy="87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4"/>
          <p:cNvSpPr/>
          <p:nvPr/>
        </p:nvSpPr>
        <p:spPr>
          <a:xfrm>
            <a:off x="3274209" y="3676855"/>
            <a:ext cx="2595553" cy="28575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934" y="3796512"/>
            <a:ext cx="116086" cy="9286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533170" y="3762580"/>
            <a:ext cx="6822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3359934" y="3944745"/>
            <a:ext cx="242410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regulatória (Res. BCB 339/2023) e LGPD.</a:t>
            </a:r>
            <a:endParaRPr lang="en-US" sz="550" dirty="0"/>
          </a:p>
        </p:txBody>
      </p:sp>
      <p:sp>
        <p:nvSpPr>
          <p:cNvPr id="45" name="Text 37"/>
          <p:cNvSpPr/>
          <p:nvPr/>
        </p:nvSpPr>
        <p:spPr>
          <a:xfrm>
            <a:off x="3359934" y="43247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46" name="Text 38"/>
          <p:cNvSpPr/>
          <p:nvPr/>
        </p:nvSpPr>
        <p:spPr>
          <a:xfrm>
            <a:off x="4971436" y="43247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47" name="Shape 39"/>
          <p:cNvSpPr/>
          <p:nvPr/>
        </p:nvSpPr>
        <p:spPr>
          <a:xfrm>
            <a:off x="5976919" y="3676855"/>
            <a:ext cx="2595581" cy="87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0"/>
          <p:cNvSpPr/>
          <p:nvPr/>
        </p:nvSpPr>
        <p:spPr>
          <a:xfrm>
            <a:off x="5976919" y="3676855"/>
            <a:ext cx="2595581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644" y="3796512"/>
            <a:ext cx="92869" cy="92869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12663" y="3762580"/>
            <a:ext cx="4554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Jurídico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6062644" y="3944745"/>
            <a:ext cx="242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contratual, SLAs, multas e responsabilidade civil.</a:t>
            </a:r>
            <a:endParaRPr lang="en-US" sz="550" dirty="0"/>
          </a:p>
        </p:txBody>
      </p:sp>
      <p:sp>
        <p:nvSpPr>
          <p:cNvPr id="52" name="Text 43"/>
          <p:cNvSpPr/>
          <p:nvPr/>
        </p:nvSpPr>
        <p:spPr>
          <a:xfrm>
            <a:off x="6062644" y="43247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53" name="Text 44"/>
          <p:cNvSpPr/>
          <p:nvPr/>
        </p:nvSpPr>
        <p:spPr>
          <a:xfrm>
            <a:off x="7674173" y="43247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2026-06-15T19:36:31Z</dcterms:created>
  <dcterms:modified xsi:type="dcterms:W3CDTF">2026-06-15T19:36:31Z</dcterms:modified>
</cp:coreProperties>
</file>