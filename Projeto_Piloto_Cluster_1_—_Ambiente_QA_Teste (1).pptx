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195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715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bs2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714375" y="1157288"/>
            <a:ext cx="771525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 Corporativa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14375" y="2273498"/>
            <a:ext cx="7143750" cy="2074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50" dirty="0">
                <a:solidFill>
                  <a:srgbClr val="FFFFFF"/>
                </a:solidFill>
                <a:latin typeface="Poppins ExtraLight" pitchFamily="34" charset="0"/>
                <a:ea typeface="Poppins ExtraLight" pitchFamily="34" charset="-122"/>
                <a:cs typeface="Poppins ExtraLight" pitchFamily="34" charset="-120"/>
              </a:rPr>
              <a:t>Projeto Piloto: </a:t>
            </a:r>
            <a:r>
              <a:rPr lang="en-US" sz="4850" dirty="0">
                <a:solidFill>
                  <a:srgbClr val="FFFFFF"/>
                </a:solidFill>
                <a:latin typeface="Poppins ExtraLight" pitchFamily="34" charset="0"/>
                <a:ea typeface="Poppins ExtraLight" pitchFamily="34" charset="-122"/>
                <a:cs typeface="Poppins ExtraLight" pitchFamily="34" charset="-120"/>
              </a:rPr>
              <a:t>Ambiente 1</a:t>
            </a:r>
            <a:r>
              <a:rPr lang="en-US" sz="4850" dirty="0">
                <a:solidFill>
                  <a:srgbClr val="FFFFFF"/>
                </a:solidFill>
                <a:latin typeface="Poppins ExtraLight" pitchFamily="34" charset="0"/>
                <a:ea typeface="Poppins ExtraLight" pitchFamily="34" charset="-122"/>
                <a:cs typeface="Poppins ExtraLight" pitchFamily="34" charset="-120"/>
              </a:rPr>
              <a:t>
</a:t>
            </a:r>
            <a:r>
              <a:rPr lang="en-US" sz="4850" dirty="0">
                <a:solidFill>
                  <a:srgbClr val="FFFFFF"/>
                </a:solidFill>
                <a:latin typeface="Poppins ExtraLight" pitchFamily="34" charset="0"/>
                <a:ea typeface="Poppins ExtraLight" pitchFamily="34" charset="-122"/>
                <a:cs typeface="Poppins ExtraLight" pitchFamily="34" charset="-120"/>
              </a:rPr>
              <a:t>Ambiente QA/Teste</a:t>
            </a:r>
            <a:endParaRPr lang="en-US" sz="4850" dirty="0"/>
          </a:p>
        </p:txBody>
      </p:sp>
      <p:sp>
        <p:nvSpPr>
          <p:cNvPr id="6" name="Text 3"/>
          <p:cNvSpPr/>
          <p:nvPr/>
        </p:nvSpPr>
        <p:spPr>
          <a:xfrm>
            <a:off x="714375" y="4633726"/>
            <a:ext cx="77152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Junho de 2026 • Duração: 4 Semanas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789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723305"/>
            <a:ext cx="800100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23CC">
                    <a:alpha val="70000"/>
                  </a:srgbClr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Arquitetura Corporativa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1232297"/>
            <a:ext cx="800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A23C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Objetivo Principal: Validar a Arquitetura Corporativa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71500" y="1946672"/>
            <a:ext cx="38576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Implementar o Ambiente 1 (Ambiente de QA e Teste) como piloto da arquitetura corporativa BS2, validando a integração híbrida entre infraestrutura no Datacenter Equinix (Dell VXRail) e cloud (Google Cloud Platform), a esteira CI/CD via GitHub e as ferramentas de qualidade de código.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3689747"/>
            <a:ext cx="3857625" cy="16387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3689747"/>
            <a:ext cx="42863" cy="1638765"/>
          </a:xfrm>
          <a:prstGeom prst="rect">
            <a:avLst/>
          </a:prstGeom>
          <a:solidFill>
            <a:srgbClr val="FF1F5A"/>
          </a:solidFill>
          <a:ln/>
        </p:spPr>
      </p:sp>
      <p:sp>
        <p:nvSpPr>
          <p:cNvPr id="9" name="Text 6"/>
          <p:cNvSpPr/>
          <p:nvPr/>
        </p:nvSpPr>
        <p:spPr>
          <a:xfrm>
            <a:off x="785813" y="3904059"/>
            <a:ext cx="3429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Foco do Piloto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5813" y="4285524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Validar tecnologias e processos antes de expandir para ambientes de Integração, Homologação e Produção.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14875" y="1946672"/>
            <a:ext cx="3857625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Escopo Incluído: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929188" y="2442716"/>
            <a:ext cx="36433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Ambiente Kubernetes no Dell VXRail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929188" y="2778472"/>
            <a:ext cx="3643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Bancos de dados: Couchbase, SQL Server, PostgreSQL (GCP), Redis (GCP)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929188" y="3342829"/>
            <a:ext cx="36433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RabbitMQ para mensageria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29188" y="3678585"/>
            <a:ext cx="3643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Ferramentas de qualidade: SonarQube, Checkmarx, JMeter, Selenium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929188" y="4242941"/>
            <a:ext cx="3643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Integração com Delphix para provisionamento de dados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929188" y="4807297"/>
            <a:ext cx="36433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Esteira CI/CD via GitHub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929188" y="5143054"/>
            <a:ext cx="36433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Monitoramento com Prometheus/Grafana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929188" y="5478810"/>
            <a:ext cx="36433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Gestão de secrets com Vault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941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723305"/>
            <a:ext cx="800100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23CC">
                    <a:alpha val="70000"/>
                  </a:srgbClr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Arquitetura Corporativa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1089422"/>
            <a:ext cx="800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A23C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Arquitetura: Integração Híbrida Equinix + Cloud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71500" y="1660922"/>
            <a:ext cx="8001000" cy="27146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312" y="1732359"/>
            <a:ext cx="4569377" cy="257172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1500" y="4518422"/>
            <a:ext cx="2571750" cy="7757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5"/>
          <p:cNvSpPr/>
          <p:nvPr/>
        </p:nvSpPr>
        <p:spPr>
          <a:xfrm>
            <a:off x="714375" y="4625578"/>
            <a:ext cx="22860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A23C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Datacenter Equinix (VXRail)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14375" y="4867015"/>
            <a:ext cx="22860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K8S, Couchbase, SQL Server, RabbitMQ, Delphix, Playwright, JMeter, SonarQube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3286125" y="4518422"/>
            <a:ext cx="2571750" cy="7757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3429000" y="4625578"/>
            <a:ext cx="22860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A23C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Google Cloud Platform (GCP)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429000" y="4867015"/>
            <a:ext cx="2286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PostgreSQL, Redis, Apigee API Gateway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6000750" y="4518422"/>
            <a:ext cx="2571750" cy="7757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>
            <a:off x="6143625" y="4625578"/>
            <a:ext cx="22860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1A23C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CI/CD (GitHub)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143625" y="4867015"/>
            <a:ext cx="228600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→ Build → Quality → Registry → Deploy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167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723305"/>
            <a:ext cx="800100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23CC">
                    <a:alpha val="70000"/>
                  </a:srgbClr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Projeto Piloto: Ambiente 1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1017984"/>
            <a:ext cx="8001000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23C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Cronograma Executivo (Gantt)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71500" y="1544836"/>
            <a:ext cx="8001000" cy="35290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8644" y="1551980"/>
            <a:ext cx="3557588" cy="257175"/>
          </a:xfrm>
          <a:prstGeom prst="rect">
            <a:avLst/>
          </a:prstGeom>
          <a:solidFill>
            <a:srgbClr val="1A23CC"/>
          </a:solidFill>
          <a:ln/>
        </p:spPr>
      </p:sp>
      <p:sp>
        <p:nvSpPr>
          <p:cNvPr id="8" name="Text 5"/>
          <p:cNvSpPr/>
          <p:nvPr/>
        </p:nvSpPr>
        <p:spPr>
          <a:xfrm>
            <a:off x="650081" y="1604665"/>
            <a:ext cx="28575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ID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935831" y="1604665"/>
            <a:ext cx="2057400" cy="151805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Nome da Atividade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993231" y="1604665"/>
            <a:ext cx="57150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Duração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564731" y="1604665"/>
            <a:ext cx="57150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Pred.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578644" y="1809155"/>
            <a:ext cx="3557588" cy="271463"/>
          </a:xfrm>
          <a:prstGeom prst="rect">
            <a:avLst/>
          </a:prstGeom>
          <a:solidFill>
            <a:srgbClr val="E6E8FF"/>
          </a:solidFill>
          <a:ln/>
        </p:spPr>
      </p:sp>
      <p:sp>
        <p:nvSpPr>
          <p:cNvPr id="13" name="Shape 10"/>
          <p:cNvSpPr/>
          <p:nvPr/>
        </p:nvSpPr>
        <p:spPr>
          <a:xfrm>
            <a:off x="578644" y="2073473"/>
            <a:ext cx="3557588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4" name="Text 11"/>
          <p:cNvSpPr/>
          <p:nvPr/>
        </p:nvSpPr>
        <p:spPr>
          <a:xfrm>
            <a:off x="578644" y="1868984"/>
            <a:ext cx="28575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864394" y="1868984"/>
            <a:ext cx="2128838" cy="151805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Fase 1: Preparação e Infraestrutura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2993231" y="1868984"/>
            <a:ext cx="57150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5 dias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78644" y="2136874"/>
            <a:ext cx="28575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864394" y="2136874"/>
            <a:ext cx="2128838" cy="15180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D0D6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Configuração de Rede VXRail ↔ GCP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2993231" y="2136874"/>
            <a:ext cx="57150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dias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578644" y="2352080"/>
            <a:ext cx="3557588" cy="271463"/>
          </a:xfrm>
          <a:prstGeom prst="rect">
            <a:avLst/>
          </a:prstGeom>
          <a:solidFill>
            <a:srgbClr val="F9F9FC"/>
          </a:solidFill>
          <a:ln/>
        </p:spPr>
      </p:sp>
      <p:sp>
        <p:nvSpPr>
          <p:cNvPr id="21" name="Shape 18"/>
          <p:cNvSpPr/>
          <p:nvPr/>
        </p:nvSpPr>
        <p:spPr>
          <a:xfrm>
            <a:off x="578644" y="2616398"/>
            <a:ext cx="3557588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2" name="Text 19"/>
          <p:cNvSpPr/>
          <p:nvPr/>
        </p:nvSpPr>
        <p:spPr>
          <a:xfrm>
            <a:off x="578644" y="2411909"/>
            <a:ext cx="28575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864394" y="2411909"/>
            <a:ext cx="2128838" cy="15180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D0D6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Provisionamento K8S (Terraform)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2993231" y="2411909"/>
            <a:ext cx="57150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dias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564731" y="2419945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578644" y="2623542"/>
            <a:ext cx="3557588" cy="271463"/>
          </a:xfrm>
          <a:prstGeom prst="rect">
            <a:avLst/>
          </a:prstGeom>
          <a:solidFill>
            <a:srgbClr val="E6E8FF"/>
          </a:solidFill>
          <a:ln/>
        </p:spPr>
      </p:sp>
      <p:sp>
        <p:nvSpPr>
          <p:cNvPr id="27" name="Shape 24"/>
          <p:cNvSpPr/>
          <p:nvPr/>
        </p:nvSpPr>
        <p:spPr>
          <a:xfrm>
            <a:off x="578644" y="2887861"/>
            <a:ext cx="3557588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8" name="Text 25"/>
          <p:cNvSpPr/>
          <p:nvPr/>
        </p:nvSpPr>
        <p:spPr>
          <a:xfrm>
            <a:off x="578644" y="2683371"/>
            <a:ext cx="28575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4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864394" y="2683371"/>
            <a:ext cx="2128838" cy="151805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Fase 2: Bancos e Ferramentas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993231" y="2683371"/>
            <a:ext cx="57150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5 dias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3564731" y="2691408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666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578644" y="2895005"/>
            <a:ext cx="3557588" cy="271463"/>
          </a:xfrm>
          <a:prstGeom prst="rect">
            <a:avLst/>
          </a:prstGeom>
          <a:solidFill>
            <a:srgbClr val="F9F9FC"/>
          </a:solidFill>
          <a:ln/>
        </p:spPr>
      </p:sp>
      <p:sp>
        <p:nvSpPr>
          <p:cNvPr id="33" name="Shape 30"/>
          <p:cNvSpPr/>
          <p:nvPr/>
        </p:nvSpPr>
        <p:spPr>
          <a:xfrm>
            <a:off x="578644" y="3159323"/>
            <a:ext cx="3557588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4" name="Text 31"/>
          <p:cNvSpPr/>
          <p:nvPr/>
        </p:nvSpPr>
        <p:spPr>
          <a:xfrm>
            <a:off x="578644" y="2954834"/>
            <a:ext cx="28575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5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864394" y="2954834"/>
            <a:ext cx="2128838" cy="15180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D0D6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Deploy Bancos de Dados e Redis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2993231" y="2954834"/>
            <a:ext cx="57150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dias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564731" y="2962870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578644" y="3222724"/>
            <a:ext cx="28575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6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864394" y="3222724"/>
            <a:ext cx="2128838" cy="15180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D0D6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Instalação SonarQube e Checkmarx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2993231" y="3222724"/>
            <a:ext cx="57150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dias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564731" y="3230761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578644" y="3437930"/>
            <a:ext cx="3557588" cy="271463"/>
          </a:xfrm>
          <a:prstGeom prst="rect">
            <a:avLst/>
          </a:prstGeom>
          <a:solidFill>
            <a:srgbClr val="E6E8FF"/>
          </a:solidFill>
          <a:ln/>
        </p:spPr>
      </p:sp>
      <p:sp>
        <p:nvSpPr>
          <p:cNvPr id="43" name="Shape 40"/>
          <p:cNvSpPr/>
          <p:nvPr/>
        </p:nvSpPr>
        <p:spPr>
          <a:xfrm>
            <a:off x="578644" y="3702248"/>
            <a:ext cx="3557588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4" name="Text 41"/>
          <p:cNvSpPr/>
          <p:nvPr/>
        </p:nvSpPr>
        <p:spPr>
          <a:xfrm>
            <a:off x="578644" y="3497759"/>
            <a:ext cx="28575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7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864394" y="3497759"/>
            <a:ext cx="2128838" cy="151805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Fase 3: CI/CD e Aplicações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2993231" y="3497759"/>
            <a:ext cx="57150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5 dias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3564731" y="3505795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666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6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578644" y="3765649"/>
            <a:ext cx="28575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8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864394" y="3765649"/>
            <a:ext cx="2128838" cy="15180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D0D6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Integração GitHub Actions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2993231" y="3765649"/>
            <a:ext cx="57150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dias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3564731" y="3773686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6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578644" y="3980855"/>
            <a:ext cx="3557588" cy="271463"/>
          </a:xfrm>
          <a:prstGeom prst="rect">
            <a:avLst/>
          </a:prstGeom>
          <a:solidFill>
            <a:srgbClr val="F9F9FC"/>
          </a:solidFill>
          <a:ln/>
        </p:spPr>
      </p:sp>
      <p:sp>
        <p:nvSpPr>
          <p:cNvPr id="53" name="Shape 50"/>
          <p:cNvSpPr/>
          <p:nvPr/>
        </p:nvSpPr>
        <p:spPr>
          <a:xfrm>
            <a:off x="578644" y="4245173"/>
            <a:ext cx="3557588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4" name="Text 51"/>
          <p:cNvSpPr/>
          <p:nvPr/>
        </p:nvSpPr>
        <p:spPr>
          <a:xfrm>
            <a:off x="578644" y="4040684"/>
            <a:ext cx="28575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9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864394" y="4040684"/>
            <a:ext cx="2128838" cy="15180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D0D6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Deploy Aplicações .NET (ArgoCD)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2993231" y="4040684"/>
            <a:ext cx="57150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dias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3564731" y="4048720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8</a:t>
            </a:r>
            <a:endParaRPr lang="en-US" sz="750" dirty="0"/>
          </a:p>
        </p:txBody>
      </p:sp>
      <p:sp>
        <p:nvSpPr>
          <p:cNvPr id="58" name="Shape 55"/>
          <p:cNvSpPr/>
          <p:nvPr/>
        </p:nvSpPr>
        <p:spPr>
          <a:xfrm>
            <a:off x="578644" y="4252317"/>
            <a:ext cx="3557588" cy="271463"/>
          </a:xfrm>
          <a:prstGeom prst="rect">
            <a:avLst/>
          </a:prstGeom>
          <a:solidFill>
            <a:srgbClr val="E6E8FF"/>
          </a:solidFill>
          <a:ln/>
        </p:spPr>
      </p:sp>
      <p:sp>
        <p:nvSpPr>
          <p:cNvPr id="59" name="Shape 56"/>
          <p:cNvSpPr/>
          <p:nvPr/>
        </p:nvSpPr>
        <p:spPr>
          <a:xfrm>
            <a:off x="578644" y="4516636"/>
            <a:ext cx="3557588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0" name="Text 57"/>
          <p:cNvSpPr/>
          <p:nvPr/>
        </p:nvSpPr>
        <p:spPr>
          <a:xfrm>
            <a:off x="578644" y="4312146"/>
            <a:ext cx="28575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10</a:t>
            </a:r>
            <a:endParaRPr lang="en-US" sz="750" dirty="0"/>
          </a:p>
        </p:txBody>
      </p:sp>
      <p:sp>
        <p:nvSpPr>
          <p:cNvPr id="61" name="Text 58"/>
          <p:cNvSpPr/>
          <p:nvPr/>
        </p:nvSpPr>
        <p:spPr>
          <a:xfrm>
            <a:off x="864394" y="4312146"/>
            <a:ext cx="2128838" cy="151805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Fase 4: Validação e Go-Live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2993231" y="4312146"/>
            <a:ext cx="57150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6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5 dias</a:t>
            </a:r>
            <a:endParaRPr lang="en-US" sz="700" dirty="0"/>
          </a:p>
        </p:txBody>
      </p:sp>
      <p:sp>
        <p:nvSpPr>
          <p:cNvPr id="63" name="Text 60"/>
          <p:cNvSpPr/>
          <p:nvPr/>
        </p:nvSpPr>
        <p:spPr>
          <a:xfrm>
            <a:off x="3564731" y="4320183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666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9</a:t>
            </a:r>
            <a:endParaRPr lang="en-US" sz="700" dirty="0"/>
          </a:p>
        </p:txBody>
      </p:sp>
      <p:sp>
        <p:nvSpPr>
          <p:cNvPr id="64" name="Shape 61"/>
          <p:cNvSpPr/>
          <p:nvPr/>
        </p:nvSpPr>
        <p:spPr>
          <a:xfrm>
            <a:off x="578644" y="4523780"/>
            <a:ext cx="3557588" cy="271463"/>
          </a:xfrm>
          <a:prstGeom prst="rect">
            <a:avLst/>
          </a:prstGeom>
          <a:solidFill>
            <a:srgbClr val="F9F9FC"/>
          </a:solidFill>
          <a:ln/>
        </p:spPr>
      </p:sp>
      <p:sp>
        <p:nvSpPr>
          <p:cNvPr id="65" name="Shape 62"/>
          <p:cNvSpPr/>
          <p:nvPr/>
        </p:nvSpPr>
        <p:spPr>
          <a:xfrm>
            <a:off x="578644" y="4788098"/>
            <a:ext cx="3557588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6" name="Text 63"/>
          <p:cNvSpPr/>
          <p:nvPr/>
        </p:nvSpPr>
        <p:spPr>
          <a:xfrm>
            <a:off x="578644" y="4583609"/>
            <a:ext cx="28575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11</a:t>
            </a:r>
            <a:endParaRPr lang="en-US" sz="750" dirty="0"/>
          </a:p>
        </p:txBody>
      </p:sp>
      <p:sp>
        <p:nvSpPr>
          <p:cNvPr id="67" name="Text 64"/>
          <p:cNvSpPr/>
          <p:nvPr/>
        </p:nvSpPr>
        <p:spPr>
          <a:xfrm>
            <a:off x="864394" y="4583609"/>
            <a:ext cx="2128838" cy="15180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D0D6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Testes Integrados e Carga (JMeter)</a:t>
            </a:r>
            <a:endParaRPr lang="en-US" sz="750" dirty="0"/>
          </a:p>
        </p:txBody>
      </p:sp>
      <p:sp>
        <p:nvSpPr>
          <p:cNvPr id="68" name="Text 65"/>
          <p:cNvSpPr/>
          <p:nvPr/>
        </p:nvSpPr>
        <p:spPr>
          <a:xfrm>
            <a:off x="2993231" y="4583609"/>
            <a:ext cx="57150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dias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3564731" y="4591645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9</a:t>
            </a:r>
            <a:endParaRPr lang="en-US" sz="750" dirty="0"/>
          </a:p>
        </p:txBody>
      </p:sp>
      <p:sp>
        <p:nvSpPr>
          <p:cNvPr id="70" name="Text 67"/>
          <p:cNvSpPr/>
          <p:nvPr/>
        </p:nvSpPr>
        <p:spPr>
          <a:xfrm>
            <a:off x="578644" y="4851499"/>
            <a:ext cx="28575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12</a:t>
            </a:r>
            <a:endParaRPr lang="en-US" sz="750" dirty="0"/>
          </a:p>
        </p:txBody>
      </p:sp>
      <p:sp>
        <p:nvSpPr>
          <p:cNvPr id="71" name="Text 68"/>
          <p:cNvSpPr/>
          <p:nvPr/>
        </p:nvSpPr>
        <p:spPr>
          <a:xfrm>
            <a:off x="864394" y="4851499"/>
            <a:ext cx="2128838" cy="151805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1F5A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Sign-off e Go-Live</a:t>
            </a:r>
            <a:endParaRPr lang="en-US" sz="700" dirty="0"/>
          </a:p>
        </p:txBody>
      </p:sp>
      <p:sp>
        <p:nvSpPr>
          <p:cNvPr id="72" name="Text 69"/>
          <p:cNvSpPr/>
          <p:nvPr/>
        </p:nvSpPr>
        <p:spPr>
          <a:xfrm>
            <a:off x="2993231" y="4851499"/>
            <a:ext cx="57150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dia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3564731" y="4859536"/>
            <a:ext cx="571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11</a:t>
            </a:r>
            <a:endParaRPr lang="en-US" sz="750" dirty="0"/>
          </a:p>
        </p:txBody>
      </p:sp>
      <p:sp>
        <p:nvSpPr>
          <p:cNvPr id="74" name="Shape 71"/>
          <p:cNvSpPr/>
          <p:nvPr/>
        </p:nvSpPr>
        <p:spPr>
          <a:xfrm>
            <a:off x="4150519" y="1551980"/>
            <a:ext cx="4414838" cy="3514725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75" name="Shape 72"/>
          <p:cNvSpPr/>
          <p:nvPr/>
        </p:nvSpPr>
        <p:spPr>
          <a:xfrm>
            <a:off x="4150519" y="1551980"/>
            <a:ext cx="4414838" cy="257175"/>
          </a:xfrm>
          <a:prstGeom prst="rect">
            <a:avLst/>
          </a:prstGeom>
          <a:solidFill>
            <a:srgbClr val="0D0D6B"/>
          </a:solidFill>
          <a:ln/>
        </p:spPr>
      </p:sp>
      <p:sp>
        <p:nvSpPr>
          <p:cNvPr id="76" name="Text 73"/>
          <p:cNvSpPr/>
          <p:nvPr/>
        </p:nvSpPr>
        <p:spPr>
          <a:xfrm>
            <a:off x="4150519" y="1551980"/>
            <a:ext cx="110370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Semana 1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254228" y="1551980"/>
            <a:ext cx="110370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Semana 2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6357938" y="1551980"/>
            <a:ext cx="110370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Semana 3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7461647" y="1551980"/>
            <a:ext cx="110370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Semana 4</a:t>
            </a:r>
            <a:endParaRPr lang="en-US" sz="700" dirty="0"/>
          </a:p>
        </p:txBody>
      </p:sp>
      <p:sp>
        <p:nvSpPr>
          <p:cNvPr id="80" name="Shape 77"/>
          <p:cNvSpPr/>
          <p:nvPr/>
        </p:nvSpPr>
        <p:spPr>
          <a:xfrm>
            <a:off x="4150519" y="1809155"/>
            <a:ext cx="4414838" cy="271463"/>
          </a:xfrm>
          <a:prstGeom prst="rect">
            <a:avLst/>
          </a:prstGeom>
          <a:solidFill>
            <a:srgbClr val="F9F9FC"/>
          </a:solidFill>
          <a:ln/>
        </p:spPr>
      </p:sp>
      <p:sp>
        <p:nvSpPr>
          <p:cNvPr id="81" name="Shape 78"/>
          <p:cNvSpPr/>
          <p:nvPr/>
        </p:nvSpPr>
        <p:spPr>
          <a:xfrm>
            <a:off x="4150519" y="2073473"/>
            <a:ext cx="4414838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2" name="Shape 79"/>
          <p:cNvSpPr/>
          <p:nvPr/>
        </p:nvSpPr>
        <p:spPr>
          <a:xfrm>
            <a:off x="4150519" y="1894880"/>
            <a:ext cx="1103709" cy="85725"/>
          </a:xfrm>
          <a:prstGeom prst="rect">
            <a:avLst/>
          </a:prstGeom>
          <a:solidFill>
            <a:srgbClr val="0D0D6B"/>
          </a:solidFill>
          <a:ln/>
        </p:spPr>
      </p:sp>
      <p:sp>
        <p:nvSpPr>
          <p:cNvPr id="83" name="Text 80"/>
          <p:cNvSpPr/>
          <p:nvPr/>
        </p:nvSpPr>
        <p:spPr>
          <a:xfrm>
            <a:off x="4150519" y="1894880"/>
            <a:ext cx="110370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84" name="Shape 81"/>
          <p:cNvSpPr/>
          <p:nvPr/>
        </p:nvSpPr>
        <p:spPr>
          <a:xfrm>
            <a:off x="4150519" y="2352080"/>
            <a:ext cx="4414838" cy="271463"/>
          </a:xfrm>
          <a:prstGeom prst="rect">
            <a:avLst/>
          </a:prstGeom>
          <a:solidFill>
            <a:srgbClr val="F9F9FC"/>
          </a:solidFill>
          <a:ln/>
        </p:spPr>
      </p:sp>
      <p:sp>
        <p:nvSpPr>
          <p:cNvPr id="85" name="Shape 82"/>
          <p:cNvSpPr/>
          <p:nvPr/>
        </p:nvSpPr>
        <p:spPr>
          <a:xfrm>
            <a:off x="4150519" y="2616398"/>
            <a:ext cx="4414838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6" name="Shape 83"/>
          <p:cNvSpPr/>
          <p:nvPr/>
        </p:nvSpPr>
        <p:spPr>
          <a:xfrm>
            <a:off x="5254228" y="2709267"/>
            <a:ext cx="1103709" cy="85725"/>
          </a:xfrm>
          <a:prstGeom prst="rect">
            <a:avLst/>
          </a:prstGeom>
          <a:solidFill>
            <a:srgbClr val="0D0D6B"/>
          </a:solidFill>
          <a:ln/>
        </p:spPr>
      </p:sp>
      <p:sp>
        <p:nvSpPr>
          <p:cNvPr id="87" name="Text 84"/>
          <p:cNvSpPr/>
          <p:nvPr/>
        </p:nvSpPr>
        <p:spPr>
          <a:xfrm>
            <a:off x="5254228" y="2709267"/>
            <a:ext cx="110370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88" name="Shape 85"/>
          <p:cNvSpPr/>
          <p:nvPr/>
        </p:nvSpPr>
        <p:spPr>
          <a:xfrm>
            <a:off x="4150519" y="2895005"/>
            <a:ext cx="4414838" cy="271463"/>
          </a:xfrm>
          <a:prstGeom prst="rect">
            <a:avLst/>
          </a:prstGeom>
          <a:solidFill>
            <a:srgbClr val="F9F9FC"/>
          </a:solidFill>
          <a:ln/>
        </p:spPr>
      </p:sp>
      <p:sp>
        <p:nvSpPr>
          <p:cNvPr id="89" name="Shape 86"/>
          <p:cNvSpPr/>
          <p:nvPr/>
        </p:nvSpPr>
        <p:spPr>
          <a:xfrm>
            <a:off x="4150519" y="3159323"/>
            <a:ext cx="4414838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0" name="Shape 87"/>
          <p:cNvSpPr/>
          <p:nvPr/>
        </p:nvSpPr>
        <p:spPr>
          <a:xfrm>
            <a:off x="4150519" y="3437930"/>
            <a:ext cx="4414838" cy="271463"/>
          </a:xfrm>
          <a:prstGeom prst="rect">
            <a:avLst/>
          </a:prstGeom>
          <a:solidFill>
            <a:srgbClr val="F9F9FC"/>
          </a:solidFill>
          <a:ln/>
        </p:spPr>
      </p:sp>
      <p:sp>
        <p:nvSpPr>
          <p:cNvPr id="91" name="Shape 88"/>
          <p:cNvSpPr/>
          <p:nvPr/>
        </p:nvSpPr>
        <p:spPr>
          <a:xfrm>
            <a:off x="4150519" y="3702248"/>
            <a:ext cx="4414838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2" name="Shape 89"/>
          <p:cNvSpPr/>
          <p:nvPr/>
        </p:nvSpPr>
        <p:spPr>
          <a:xfrm>
            <a:off x="6357938" y="3523655"/>
            <a:ext cx="1103709" cy="85725"/>
          </a:xfrm>
          <a:prstGeom prst="rect">
            <a:avLst/>
          </a:prstGeom>
          <a:solidFill>
            <a:srgbClr val="0D0D6B"/>
          </a:solidFill>
          <a:ln/>
        </p:spPr>
      </p:sp>
      <p:sp>
        <p:nvSpPr>
          <p:cNvPr id="93" name="Text 90"/>
          <p:cNvSpPr/>
          <p:nvPr/>
        </p:nvSpPr>
        <p:spPr>
          <a:xfrm>
            <a:off x="6357938" y="3523655"/>
            <a:ext cx="110370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94" name="Shape 91"/>
          <p:cNvSpPr/>
          <p:nvPr/>
        </p:nvSpPr>
        <p:spPr>
          <a:xfrm>
            <a:off x="4150519" y="3980855"/>
            <a:ext cx="4414838" cy="271463"/>
          </a:xfrm>
          <a:prstGeom prst="rect">
            <a:avLst/>
          </a:prstGeom>
          <a:solidFill>
            <a:srgbClr val="F9F9FC"/>
          </a:solidFill>
          <a:ln/>
        </p:spPr>
      </p:sp>
      <p:sp>
        <p:nvSpPr>
          <p:cNvPr id="95" name="Shape 92"/>
          <p:cNvSpPr/>
          <p:nvPr/>
        </p:nvSpPr>
        <p:spPr>
          <a:xfrm>
            <a:off x="4150519" y="4245173"/>
            <a:ext cx="4414838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6" name="Shape 93"/>
          <p:cNvSpPr/>
          <p:nvPr/>
        </p:nvSpPr>
        <p:spPr>
          <a:xfrm>
            <a:off x="7461647" y="4338042"/>
            <a:ext cx="1103709" cy="85725"/>
          </a:xfrm>
          <a:prstGeom prst="rect">
            <a:avLst/>
          </a:prstGeom>
          <a:solidFill>
            <a:srgbClr val="0D0D6B"/>
          </a:solidFill>
          <a:ln/>
        </p:spPr>
      </p:sp>
      <p:sp>
        <p:nvSpPr>
          <p:cNvPr id="97" name="Text 94"/>
          <p:cNvSpPr/>
          <p:nvPr/>
        </p:nvSpPr>
        <p:spPr>
          <a:xfrm>
            <a:off x="7461647" y="4338042"/>
            <a:ext cx="1103709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98" name="Shape 95"/>
          <p:cNvSpPr/>
          <p:nvPr/>
        </p:nvSpPr>
        <p:spPr>
          <a:xfrm>
            <a:off x="4150519" y="4523780"/>
            <a:ext cx="4414838" cy="271463"/>
          </a:xfrm>
          <a:prstGeom prst="rect">
            <a:avLst/>
          </a:prstGeom>
          <a:solidFill>
            <a:srgbClr val="F9F9FC"/>
          </a:solidFill>
          <a:ln/>
        </p:spPr>
      </p:sp>
      <p:sp>
        <p:nvSpPr>
          <p:cNvPr id="99" name="Shape 96"/>
          <p:cNvSpPr/>
          <p:nvPr/>
        </p:nvSpPr>
        <p:spPr>
          <a:xfrm>
            <a:off x="4150519" y="4788098"/>
            <a:ext cx="4414838" cy="7144"/>
          </a:xfrm>
          <a:prstGeom prst="rect">
            <a:avLst/>
          </a:prstGeom>
          <a:solidFill>
            <a:srgbClr val="E8E8E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99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723305"/>
            <a:ext cx="800100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23CC">
                    <a:alpha val="70000"/>
                  </a:srgbClr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Arquitetura Corporativa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1232297"/>
            <a:ext cx="8001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A23C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Timeline: Execução em 4 Semanas (Junho — Julho 2026)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71500" y="2518172"/>
            <a:ext cx="8001000" cy="22431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2518172"/>
            <a:ext cx="909935" cy="446484"/>
          </a:xfrm>
          <a:prstGeom prst="rect">
            <a:avLst/>
          </a:prstGeom>
          <a:solidFill>
            <a:srgbClr val="1A23CC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2957513"/>
            <a:ext cx="909935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2518172"/>
            <a:ext cx="909935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Semana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481435" y="2518172"/>
            <a:ext cx="1626040" cy="446484"/>
          </a:xfrm>
          <a:prstGeom prst="rect">
            <a:avLst/>
          </a:prstGeom>
          <a:solidFill>
            <a:srgbClr val="1A23CC"/>
          </a:solidFill>
          <a:ln/>
        </p:spPr>
      </p:sp>
      <p:sp>
        <p:nvSpPr>
          <p:cNvPr id="11" name="Shape 8"/>
          <p:cNvSpPr/>
          <p:nvPr/>
        </p:nvSpPr>
        <p:spPr>
          <a:xfrm>
            <a:off x="1481435" y="2957513"/>
            <a:ext cx="1626040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2" name="Text 9"/>
          <p:cNvSpPr/>
          <p:nvPr/>
        </p:nvSpPr>
        <p:spPr>
          <a:xfrm>
            <a:off x="1481435" y="2518172"/>
            <a:ext cx="1626040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Etapa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07475" y="2518172"/>
            <a:ext cx="3838956" cy="446484"/>
          </a:xfrm>
          <a:prstGeom prst="rect">
            <a:avLst/>
          </a:prstGeom>
          <a:solidFill>
            <a:srgbClr val="1A23CC"/>
          </a:solidFill>
          <a:ln/>
        </p:spPr>
      </p:sp>
      <p:sp>
        <p:nvSpPr>
          <p:cNvPr id="14" name="Shape 11"/>
          <p:cNvSpPr/>
          <p:nvPr/>
        </p:nvSpPr>
        <p:spPr>
          <a:xfrm>
            <a:off x="3107475" y="2957513"/>
            <a:ext cx="3838956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5" name="Text 12"/>
          <p:cNvSpPr/>
          <p:nvPr/>
        </p:nvSpPr>
        <p:spPr>
          <a:xfrm>
            <a:off x="3107475" y="2518172"/>
            <a:ext cx="3838956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Atividades Principais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46432" y="2518172"/>
            <a:ext cx="1626068" cy="446484"/>
          </a:xfrm>
          <a:prstGeom prst="rect">
            <a:avLst/>
          </a:prstGeom>
          <a:solidFill>
            <a:srgbClr val="1A23CC"/>
          </a:solidFill>
          <a:ln/>
        </p:spPr>
      </p:sp>
      <p:sp>
        <p:nvSpPr>
          <p:cNvPr id="17" name="Shape 14"/>
          <p:cNvSpPr/>
          <p:nvPr/>
        </p:nvSpPr>
        <p:spPr>
          <a:xfrm>
            <a:off x="6946432" y="2957513"/>
            <a:ext cx="1626068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Text 15"/>
          <p:cNvSpPr/>
          <p:nvPr/>
        </p:nvSpPr>
        <p:spPr>
          <a:xfrm>
            <a:off x="6946432" y="2518172"/>
            <a:ext cx="1626068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Responsável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14375" y="3082528"/>
            <a:ext cx="5357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481435" y="2961084"/>
            <a:ext cx="1626040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Preparação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107475" y="2961084"/>
            <a:ext cx="3838956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Configuração de rede, VLANs, scripts IaC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946432" y="2961084"/>
            <a:ext cx="1626068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SRE / Redes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14375" y="3532584"/>
            <a:ext cx="8036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481435" y="3407569"/>
            <a:ext cx="1626040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Provisionamento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107475" y="3407569"/>
            <a:ext cx="3838956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Ambiente K8S, bancos de dados, RabbitMQ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946432" y="3407569"/>
            <a:ext cx="1626068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SRE / VXRail Admin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14375" y="3982641"/>
            <a:ext cx="857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481435" y="3857625"/>
            <a:ext cx="1626040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Qualidade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107475" y="3857625"/>
            <a:ext cx="3838956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SonarQube, Checkmarx, JMeter, Selenium, Delphix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946432" y="3857625"/>
            <a:ext cx="1626068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DevOps / DBA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14375" y="4432697"/>
            <a:ext cx="9644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481435" y="4307681"/>
            <a:ext cx="1626040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CI/CD &amp; Validação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3107475" y="4307681"/>
            <a:ext cx="3838956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GitHub, pipeline, deploy de teste, aprovações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946432" y="4307681"/>
            <a:ext cx="1626068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DevOps / AppSec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2801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723305"/>
            <a:ext cx="800100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23CC">
                    <a:alpha val="70000"/>
                  </a:srgbClr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Arquitetura Corporativa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1232297"/>
            <a:ext cx="800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A23C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6 Marcos Críticos de Sucesso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71500" y="1946672"/>
            <a:ext cx="3893344" cy="1181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946672"/>
            <a:ext cx="42863" cy="1181565"/>
          </a:xfrm>
          <a:prstGeom prst="rect">
            <a:avLst/>
          </a:prstGeom>
          <a:solidFill>
            <a:srgbClr val="FF1F5A"/>
          </a:solidFill>
          <a:ln/>
        </p:spPr>
      </p:sp>
      <p:sp>
        <p:nvSpPr>
          <p:cNvPr id="8" name="Text 5"/>
          <p:cNvSpPr/>
          <p:nvPr/>
        </p:nvSpPr>
        <p:spPr>
          <a:xfrm>
            <a:off x="785813" y="2160984"/>
            <a:ext cx="3464719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1. Kick-off (Semana 1)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5813" y="2542449"/>
            <a:ext cx="34647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Aprovação e alocação de recursos.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79156" y="1946672"/>
            <a:ext cx="3893344" cy="1181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679156" y="1946672"/>
            <a:ext cx="42863" cy="1181565"/>
          </a:xfrm>
          <a:prstGeom prst="rect">
            <a:avLst/>
          </a:prstGeom>
          <a:solidFill>
            <a:srgbClr val="FF1F5A"/>
          </a:solidFill>
          <a:ln/>
        </p:spPr>
      </p:sp>
      <p:sp>
        <p:nvSpPr>
          <p:cNvPr id="12" name="Text 9"/>
          <p:cNvSpPr/>
          <p:nvPr/>
        </p:nvSpPr>
        <p:spPr>
          <a:xfrm>
            <a:off x="4893469" y="2160984"/>
            <a:ext cx="3464719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2. Rede &amp; IaC Prontos (Fim Semana 1)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93469" y="2542449"/>
            <a:ext cx="34647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Conectividade validada, scripts testados.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1500" y="3485424"/>
            <a:ext cx="3893344" cy="16844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3485424"/>
            <a:ext cx="42863" cy="1684474"/>
          </a:xfrm>
          <a:prstGeom prst="rect">
            <a:avLst/>
          </a:prstGeom>
          <a:solidFill>
            <a:srgbClr val="FF1F5A"/>
          </a:solidFill>
          <a:ln/>
        </p:spPr>
      </p:sp>
      <p:sp>
        <p:nvSpPr>
          <p:cNvPr id="16" name="Text 13"/>
          <p:cNvSpPr/>
          <p:nvPr/>
        </p:nvSpPr>
        <p:spPr>
          <a:xfrm>
            <a:off x="785813" y="3699737"/>
            <a:ext cx="3464719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3. Infraestrutura Operacional (Fim Semana 2)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85813" y="4355511"/>
            <a:ext cx="34647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Todos os serviços "Up and Running".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79156" y="3485424"/>
            <a:ext cx="3893344" cy="168447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4679156" y="3485424"/>
            <a:ext cx="42863" cy="1684474"/>
          </a:xfrm>
          <a:prstGeom prst="rect">
            <a:avLst/>
          </a:prstGeom>
          <a:solidFill>
            <a:srgbClr val="FF1F5A"/>
          </a:solidFill>
          <a:ln/>
        </p:spPr>
      </p:sp>
      <p:sp>
        <p:nvSpPr>
          <p:cNvPr id="20" name="Text 17"/>
          <p:cNvSpPr/>
          <p:nvPr/>
        </p:nvSpPr>
        <p:spPr>
          <a:xfrm>
            <a:off x="4893469" y="3699737"/>
            <a:ext cx="3464719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4. Ferramentas Integradas (Fim Semana 3)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93469" y="4355511"/>
            <a:ext cx="3464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SonarQube, Checkmarx, JMeter, Selenium funcionando.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71500" y="5527086"/>
            <a:ext cx="3893344" cy="1181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571500" y="5527086"/>
            <a:ext cx="42863" cy="1181565"/>
          </a:xfrm>
          <a:prstGeom prst="rect">
            <a:avLst/>
          </a:prstGeom>
          <a:solidFill>
            <a:srgbClr val="FF1F5A"/>
          </a:solidFill>
          <a:ln/>
        </p:spPr>
      </p:sp>
      <p:sp>
        <p:nvSpPr>
          <p:cNvPr id="24" name="Text 21"/>
          <p:cNvSpPr/>
          <p:nvPr/>
        </p:nvSpPr>
        <p:spPr>
          <a:xfrm>
            <a:off x="785813" y="5741398"/>
            <a:ext cx="3464719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5. Pipeline Validado (Fim Semana 4)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85813" y="6122863"/>
            <a:ext cx="34647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 automatizado funcionando.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679156" y="5527086"/>
            <a:ext cx="3893344" cy="11815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4679156" y="5527086"/>
            <a:ext cx="42863" cy="1181565"/>
          </a:xfrm>
          <a:prstGeom prst="rect">
            <a:avLst/>
          </a:prstGeom>
          <a:solidFill>
            <a:srgbClr val="FF1F5A"/>
          </a:solidFill>
          <a:ln/>
        </p:spPr>
      </p:sp>
      <p:sp>
        <p:nvSpPr>
          <p:cNvPr id="28" name="Text 25"/>
          <p:cNvSpPr/>
          <p:nvPr/>
        </p:nvSpPr>
        <p:spPr>
          <a:xfrm>
            <a:off x="4893469" y="5741398"/>
            <a:ext cx="3464719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6. Go-Live Piloto (Fim Semana 4)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893469" y="6122863"/>
            <a:ext cx="34647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Ambiente 1 pronto para receber aplicações.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1114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723305"/>
            <a:ext cx="800100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23CC">
                    <a:alpha val="70000"/>
                  </a:srgbClr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Arquitetura Corporativa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1232297"/>
            <a:ext cx="798012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A23C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Squad de Implementação: 5,5 FTE Dedicados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71500" y="1698933"/>
            <a:ext cx="8001000" cy="35933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698933"/>
            <a:ext cx="2190285" cy="446484"/>
          </a:xfrm>
          <a:prstGeom prst="rect">
            <a:avLst/>
          </a:prstGeom>
          <a:solidFill>
            <a:srgbClr val="1A23CC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2138274"/>
            <a:ext cx="2190285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1698933"/>
            <a:ext cx="2190285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Cargo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61785" y="1698933"/>
            <a:ext cx="4573758" cy="446484"/>
          </a:xfrm>
          <a:prstGeom prst="rect">
            <a:avLst/>
          </a:prstGeom>
          <a:solidFill>
            <a:srgbClr val="1A23CC"/>
          </a:solidFill>
          <a:ln/>
        </p:spPr>
      </p:sp>
      <p:sp>
        <p:nvSpPr>
          <p:cNvPr id="11" name="Shape 8"/>
          <p:cNvSpPr/>
          <p:nvPr/>
        </p:nvSpPr>
        <p:spPr>
          <a:xfrm>
            <a:off x="2761785" y="2138274"/>
            <a:ext cx="4573758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2" name="Text 9"/>
          <p:cNvSpPr/>
          <p:nvPr/>
        </p:nvSpPr>
        <p:spPr>
          <a:xfrm>
            <a:off x="2761785" y="1698933"/>
            <a:ext cx="4573758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Responsabilidade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35543" y="1698933"/>
            <a:ext cx="1236957" cy="446484"/>
          </a:xfrm>
          <a:prstGeom prst="rect">
            <a:avLst/>
          </a:prstGeom>
          <a:solidFill>
            <a:srgbClr val="1A23CC"/>
          </a:solidFill>
          <a:ln/>
        </p:spPr>
      </p:sp>
      <p:sp>
        <p:nvSpPr>
          <p:cNvPr id="14" name="Shape 11"/>
          <p:cNvSpPr/>
          <p:nvPr/>
        </p:nvSpPr>
        <p:spPr>
          <a:xfrm>
            <a:off x="7335543" y="2138274"/>
            <a:ext cx="1236957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5" name="Text 12"/>
          <p:cNvSpPr/>
          <p:nvPr/>
        </p:nvSpPr>
        <p:spPr>
          <a:xfrm>
            <a:off x="7335543" y="1698933"/>
            <a:ext cx="1236957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Dedicação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14375" y="2263289"/>
            <a:ext cx="121086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Project Manager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761785" y="2141845"/>
            <a:ext cx="4573758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Gestão de cronograma, riscos e comunicação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335543" y="2141845"/>
            <a:ext cx="1236957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14375" y="2713345"/>
            <a:ext cx="16180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Engenheiro Cloud/SRE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761785" y="2588330"/>
            <a:ext cx="4573758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Provisionamento GCP, IaC, automação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335543" y="2588330"/>
            <a:ext cx="1236957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14375" y="3163402"/>
            <a:ext cx="149125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Especialista DevOps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761785" y="3038386"/>
            <a:ext cx="4573758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GitHub, SonarQube, Checkmarx, pipeline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335543" y="3038386"/>
            <a:ext cx="1236957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14375" y="3613458"/>
            <a:ext cx="15216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Engenheiro de Redes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761785" y="3488442"/>
            <a:ext cx="4573758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Configuração de firewalls, VPN, roteamento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335543" y="3488442"/>
            <a:ext cx="1236957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50%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14375" y="4063514"/>
            <a:ext cx="159305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Administrador VXRail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761785" y="3938499"/>
            <a:ext cx="4573758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Provisionamento K8S, bancos no Datacenter Equinix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7335543" y="3938499"/>
            <a:ext cx="1236957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50%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14375" y="4513571"/>
            <a:ext cx="147518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Especialista AppSec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761785" y="4388555"/>
            <a:ext cx="4573758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Validação de segurança, Vault, políticas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7335543" y="4388555"/>
            <a:ext cx="1236957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50%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714375" y="4963627"/>
            <a:ext cx="3053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DBA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2761785" y="4838611"/>
            <a:ext cx="4573758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 Server, PostgreSQL, Delphix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335543" y="4838611"/>
            <a:ext cx="1236957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50%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723305"/>
            <a:ext cx="800100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23CC">
                    <a:alpha val="70000"/>
                  </a:srgbClr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Arquitetura Corporativa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1232297"/>
            <a:ext cx="800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A23C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Estrutura de Governança e Cadência de Comunicação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71500" y="1946672"/>
            <a:ext cx="3857625" cy="25388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946672"/>
            <a:ext cx="42863" cy="2538878"/>
          </a:xfrm>
          <a:prstGeom prst="rect">
            <a:avLst/>
          </a:prstGeom>
          <a:solidFill>
            <a:srgbClr val="FF1F5A"/>
          </a:solidFill>
          <a:ln/>
        </p:spPr>
      </p:sp>
      <p:sp>
        <p:nvSpPr>
          <p:cNvPr id="8" name="Text 5"/>
          <p:cNvSpPr/>
          <p:nvPr/>
        </p:nvSpPr>
        <p:spPr>
          <a:xfrm>
            <a:off x="785813" y="2160984"/>
            <a:ext cx="3429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Estrutura de Governança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0125" y="2542449"/>
            <a:ext cx="321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Sponsor Executivo:</a:t>
            </a: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CTO / Diretor de Tecnologia BS2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00125" y="3106806"/>
            <a:ext cx="321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Líder do Projeto:</a:t>
            </a: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Project Manager (100% dedicado)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00125" y="3671162"/>
            <a:ext cx="321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Comitê de Aprovação:</a:t>
            </a: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CTO, Head de Arquitetura, Head de Infraestrutura, CISO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14875" y="1946672"/>
            <a:ext cx="3857625" cy="25388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714875" y="1946672"/>
            <a:ext cx="42863" cy="2538878"/>
          </a:xfrm>
          <a:prstGeom prst="rect">
            <a:avLst/>
          </a:prstGeom>
          <a:solidFill>
            <a:srgbClr val="FF1F5A"/>
          </a:solidFill>
          <a:ln/>
        </p:spPr>
      </p:sp>
      <p:sp>
        <p:nvSpPr>
          <p:cNvPr id="14" name="Text 11"/>
          <p:cNvSpPr/>
          <p:nvPr/>
        </p:nvSpPr>
        <p:spPr>
          <a:xfrm>
            <a:off x="4929188" y="2160984"/>
            <a:ext cx="3429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Cadência de Reuniões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143500" y="2542449"/>
            <a:ext cx="321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Daily Standup:</a:t>
            </a: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09:00 - 09:15 (Squad de Implementação)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143500" y="3106806"/>
            <a:ext cx="321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Status Report:</a:t>
            </a: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Sexta-feira 14:00 (Stakeholders)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143500" y="3671162"/>
            <a:ext cx="321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Gate Review:</a:t>
            </a: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Fim de cada semana (Comitê de Aprovação)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85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723305"/>
            <a:ext cx="800100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23CC">
                    <a:alpha val="70000"/>
                  </a:srgbClr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Arquitetura Corporativa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1032272"/>
            <a:ext cx="8001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A23C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Semana 1: Preparação de Rede e Infraestrutura como Código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29893" y="1850231"/>
            <a:ext cx="391477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3C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Atividades Principais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4205" y="2243138"/>
            <a:ext cx="37004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Configuração de VLANs no VXRail (segregação de tráfego)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4205" y="2728913"/>
            <a:ext cx="37004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Configuração de regras de firewall (acesso entre VXRail e GCP)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4205" y="3214688"/>
            <a:ext cx="37004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Criação de scripts Terraform para provisionamento de K8S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4205" y="3700463"/>
            <a:ext cx="37004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Criação de playbooks Ansible para configuração pós-deploy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4205" y="4186238"/>
            <a:ext cx="37004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Estabelecimento de conectividade VXRail ↔ GCP (VPN IPsec ou Cloud Interconnect)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44205" y="4672013"/>
            <a:ext cx="37004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Testes de latência e throughput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09241" y="1889522"/>
            <a:ext cx="3914775" cy="19502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752116" y="2032397"/>
            <a:ext cx="362902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3C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Entregáveis da Semana 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966429" y="2396728"/>
            <a:ext cx="34147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Documentação de rede atualizada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966429" y="2668191"/>
            <a:ext cx="34147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Scripts Terraform versionados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966429" y="2939653"/>
            <a:ext cx="34147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Playbooks Ansible validados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966429" y="3211116"/>
            <a:ext cx="34147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 de conectividade bem-sucedido (&lt; 50ms latência)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645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723305"/>
            <a:ext cx="800100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23CC">
                    <a:alpha val="70000"/>
                  </a:srgbClr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Arquitetura Corporativa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1232297"/>
            <a:ext cx="800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A23C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Semana 2: Provisionamento de Infraestrutura Base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71500" y="1597856"/>
            <a:ext cx="3857625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Atividades Principais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85813" y="2093900"/>
            <a:ext cx="3643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Execução dos scripts Terraform para criar infraestrutura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85813" y="2658257"/>
            <a:ext cx="3643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Provisionamento de ambiente K8S (3 nós: 1 master, 2 workers)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85813" y="3222613"/>
            <a:ext cx="3643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Instalação de Couchbase, SQL Server, RabbitMQ no VXRail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85813" y="3786969"/>
            <a:ext cx="36433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Provisionamento de PostgreSQL e Redis na GCP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85813" y="4122725"/>
            <a:ext cx="3643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Configuração de Delphix para provisionamento de dados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5813" y="4687081"/>
            <a:ext cx="3643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Integração de monitoramento (Prometheus/Grafana)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14875" y="1946672"/>
            <a:ext cx="3857625" cy="218883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4714875" y="1946672"/>
            <a:ext cx="42863" cy="2188834"/>
          </a:xfrm>
          <a:prstGeom prst="rect">
            <a:avLst/>
          </a:prstGeom>
          <a:solidFill>
            <a:srgbClr val="FF1F5A"/>
          </a:solidFill>
          <a:ln/>
        </p:spPr>
      </p:sp>
      <p:sp>
        <p:nvSpPr>
          <p:cNvPr id="15" name="Text 12"/>
          <p:cNvSpPr/>
          <p:nvPr/>
        </p:nvSpPr>
        <p:spPr>
          <a:xfrm>
            <a:off x="4929188" y="2160984"/>
            <a:ext cx="3429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Entregáveis da Semana 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143500" y="2542449"/>
            <a:ext cx="32146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Ambiente K8S operacional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143500" y="2878206"/>
            <a:ext cx="32146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Bancos de dados funcionando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143500" y="3213962"/>
            <a:ext cx="32146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Delphix configurado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143500" y="3549718"/>
            <a:ext cx="32146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Grafana com métricas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717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723305"/>
            <a:ext cx="800100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23CC">
                    <a:alpha val="70000"/>
                  </a:srgbClr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Arquitetura Corporativa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1232297"/>
            <a:ext cx="8001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A23C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Semana 3: Instalação de Ferramentas de Qualidade e Teste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71500" y="2375297"/>
            <a:ext cx="3857625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Atividades Principais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85813" y="2871341"/>
            <a:ext cx="3643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Instalação do SonarQube (com PostgreSQL como backend)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85813" y="3435697"/>
            <a:ext cx="3643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Instalação do Checkmarx para análise de segurança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85813" y="4000054"/>
            <a:ext cx="36433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Instalação do JMeter para testes de carga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85813" y="4335810"/>
            <a:ext cx="3643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Instalação do Selenium para testes automatizados (E2E)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85813" y="4900166"/>
            <a:ext cx="36433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Integração entre as ferramentas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5813" y="5235922"/>
            <a:ext cx="36433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Provisionamento de dados de teste via Delphix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85813" y="5571679"/>
            <a:ext cx="36433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Configuração de alertas e relatórios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14875" y="2375297"/>
            <a:ext cx="3857625" cy="18530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4714875" y="2375297"/>
            <a:ext cx="42863" cy="1853078"/>
          </a:xfrm>
          <a:prstGeom prst="rect">
            <a:avLst/>
          </a:prstGeom>
          <a:solidFill>
            <a:srgbClr val="FF1F5A"/>
          </a:solidFill>
          <a:ln/>
        </p:spPr>
      </p:sp>
      <p:sp>
        <p:nvSpPr>
          <p:cNvPr id="16" name="Text 13"/>
          <p:cNvSpPr/>
          <p:nvPr/>
        </p:nvSpPr>
        <p:spPr>
          <a:xfrm>
            <a:off x="4929188" y="2589609"/>
            <a:ext cx="3429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Entregáveis da Semana 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143500" y="2971074"/>
            <a:ext cx="32146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Ferramentas acessíveis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143500" y="3306831"/>
            <a:ext cx="32146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Testes de funcionalidade bem-sucedidos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143500" y="3642587"/>
            <a:ext cx="32146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Dados de teste disponíveis via Delphix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789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723305"/>
            <a:ext cx="800100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23CC">
                    <a:alpha val="70000"/>
                  </a:srgbClr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Arquitetura Corporativa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1232297"/>
            <a:ext cx="800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A23C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Semana 4: Integração CI/CD e Validação Final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71500" y="1946672"/>
            <a:ext cx="3857625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Atividades Principais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85813" y="2442716"/>
            <a:ext cx="3643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Configuração do GitHub (repositório, branch protection, code review)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85813" y="3007072"/>
            <a:ext cx="36433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Instalação de runners do GitHub no ambiente K8S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85813" y="3342829"/>
            <a:ext cx="3643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Criação do pipeline CI/CD (Code → Build → Quality → Registry → Deploy)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85813" y="3907185"/>
            <a:ext cx="36433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Integração com SonarQube e Checkmarx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85813" y="4242941"/>
            <a:ext cx="36433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Configuração do Artifact Registry (Google Cloud)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5813" y="4578697"/>
            <a:ext cx="36433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 de aplicação ".NET App" de teste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85813" y="4914454"/>
            <a:ext cx="36433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Testes de segurança (AppSec Sign-off)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85813" y="5250210"/>
            <a:ext cx="36433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Validação de performance (JMeter) e testes E2E (Selenium)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714875" y="1946672"/>
            <a:ext cx="3857625" cy="20816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4714875" y="1946672"/>
            <a:ext cx="42863" cy="2081678"/>
          </a:xfrm>
          <a:prstGeom prst="rect">
            <a:avLst/>
          </a:prstGeom>
          <a:solidFill>
            <a:srgbClr val="FF1F5A"/>
          </a:solidFill>
          <a:ln/>
        </p:spPr>
      </p:sp>
      <p:sp>
        <p:nvSpPr>
          <p:cNvPr id="17" name="Text 14"/>
          <p:cNvSpPr/>
          <p:nvPr/>
        </p:nvSpPr>
        <p:spPr>
          <a:xfrm>
            <a:off x="4929188" y="2160984"/>
            <a:ext cx="3429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Entregáveis da Semana 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143500" y="2542449"/>
            <a:ext cx="32146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CI/CD funcional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143500" y="2878206"/>
            <a:ext cx="32146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Aplicação deployada com sucesso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143500" y="3213962"/>
            <a:ext cx="3214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Relatórios de qualidade e segurança aprovados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543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723305"/>
            <a:ext cx="800100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23CC">
                    <a:alpha val="70000"/>
                  </a:srgbClr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Arquitetura Corporativa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1232297"/>
            <a:ext cx="800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A23C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5 Riscos Principais e Estratégias de Mitigação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71500" y="1556571"/>
            <a:ext cx="8001000" cy="38361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556571"/>
            <a:ext cx="2415062" cy="446484"/>
          </a:xfrm>
          <a:prstGeom prst="rect">
            <a:avLst/>
          </a:prstGeom>
          <a:solidFill>
            <a:srgbClr val="1A23CC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995912"/>
            <a:ext cx="2415062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1556571"/>
            <a:ext cx="2415062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Risco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86562" y="1556571"/>
            <a:ext cx="1316236" cy="446484"/>
          </a:xfrm>
          <a:prstGeom prst="rect">
            <a:avLst/>
          </a:prstGeom>
          <a:solidFill>
            <a:srgbClr val="1A23CC"/>
          </a:solidFill>
          <a:ln/>
        </p:spPr>
      </p:sp>
      <p:sp>
        <p:nvSpPr>
          <p:cNvPr id="11" name="Shape 8"/>
          <p:cNvSpPr/>
          <p:nvPr/>
        </p:nvSpPr>
        <p:spPr>
          <a:xfrm>
            <a:off x="2986562" y="1995912"/>
            <a:ext cx="1316236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2" name="Text 9"/>
          <p:cNvSpPr/>
          <p:nvPr/>
        </p:nvSpPr>
        <p:spPr>
          <a:xfrm>
            <a:off x="2986562" y="1556571"/>
            <a:ext cx="1316236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Probabilidade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02798" y="1556571"/>
            <a:ext cx="909042" cy="446484"/>
          </a:xfrm>
          <a:prstGeom prst="rect">
            <a:avLst/>
          </a:prstGeom>
          <a:solidFill>
            <a:srgbClr val="1A23CC"/>
          </a:solidFill>
          <a:ln/>
        </p:spPr>
      </p:sp>
      <p:sp>
        <p:nvSpPr>
          <p:cNvPr id="14" name="Shape 11"/>
          <p:cNvSpPr/>
          <p:nvPr/>
        </p:nvSpPr>
        <p:spPr>
          <a:xfrm>
            <a:off x="4302798" y="1995912"/>
            <a:ext cx="909042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5" name="Text 12"/>
          <p:cNvSpPr/>
          <p:nvPr/>
        </p:nvSpPr>
        <p:spPr>
          <a:xfrm>
            <a:off x="4302798" y="1556571"/>
            <a:ext cx="909042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Impacto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211840" y="1556571"/>
            <a:ext cx="3360660" cy="446484"/>
          </a:xfrm>
          <a:prstGeom prst="rect">
            <a:avLst/>
          </a:prstGeom>
          <a:solidFill>
            <a:srgbClr val="1A23CC"/>
          </a:solidFill>
          <a:ln/>
        </p:spPr>
      </p:sp>
      <p:sp>
        <p:nvSpPr>
          <p:cNvPr id="17" name="Shape 14"/>
          <p:cNvSpPr/>
          <p:nvPr/>
        </p:nvSpPr>
        <p:spPr>
          <a:xfrm>
            <a:off x="5211840" y="1995912"/>
            <a:ext cx="3360660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Text 15"/>
          <p:cNvSpPr/>
          <p:nvPr/>
        </p:nvSpPr>
        <p:spPr>
          <a:xfrm>
            <a:off x="5211840" y="1556571"/>
            <a:ext cx="3360660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Mitigação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14375" y="2120927"/>
            <a:ext cx="208240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Latência excessiva VXRail ↔ GCP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986562" y="1999483"/>
            <a:ext cx="1316236" cy="6750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Média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302798" y="1999483"/>
            <a:ext cx="909042" cy="6750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Alto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211840" y="1999483"/>
            <a:ext cx="3360660" cy="6750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Testes de rede na Semana 1; Cloud Interconnect se necessário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14375" y="2913883"/>
            <a:ext cx="15216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Falha nos scripts IaC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986562" y="2674568"/>
            <a:ext cx="1316236" cy="6786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Alta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302798" y="2674568"/>
            <a:ext cx="909042" cy="6786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Médio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211840" y="2674568"/>
            <a:ext cx="3360660" cy="6786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Testes em sandbox antes de aplicar no VXRail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14375" y="3478240"/>
            <a:ext cx="15001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Indisponibilidade de recursos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986562" y="3353224"/>
            <a:ext cx="1316236" cy="6786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Média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302798" y="3353224"/>
            <a:ext cx="909042" cy="6786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Alto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211840" y="3353224"/>
            <a:ext cx="3360660" cy="6786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Alocação formal no início; escalação ao CTO se houver conflito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14375" y="4156896"/>
            <a:ext cx="187880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Atraso em aprovações de segurança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986562" y="4031880"/>
            <a:ext cx="1316236" cy="6786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Baixa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302798" y="4031880"/>
            <a:ext cx="909042" cy="6786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Médio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211840" y="4031880"/>
            <a:ext cx="3360660" cy="6786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Envolvimento do AppSec desde o início; revisões semanais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14375" y="4835552"/>
            <a:ext cx="15787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Incompatibilidade de versões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2986562" y="4710537"/>
            <a:ext cx="1316236" cy="6750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Baixa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302798" y="4710537"/>
            <a:ext cx="909042" cy="6750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Médio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211840" y="4710537"/>
            <a:ext cx="3360660" cy="6750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Validação de compatibilidade na Semana 1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6401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723305"/>
            <a:ext cx="800100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23CC">
                    <a:alpha val="70000"/>
                  </a:srgbClr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Arquitetura Corporativa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1232297"/>
            <a:ext cx="800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A23C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5 Aprovações Formais Necessárias para Go-Live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71500" y="1946672"/>
            <a:ext cx="8001000" cy="9672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946672"/>
            <a:ext cx="42863" cy="967253"/>
          </a:xfrm>
          <a:prstGeom prst="rect">
            <a:avLst/>
          </a:prstGeom>
          <a:solidFill>
            <a:srgbClr val="FF1F5A"/>
          </a:solidFill>
          <a:ln/>
        </p:spPr>
      </p:sp>
      <p:sp>
        <p:nvSpPr>
          <p:cNvPr id="8" name="Text 5"/>
          <p:cNvSpPr/>
          <p:nvPr/>
        </p:nvSpPr>
        <p:spPr>
          <a:xfrm>
            <a:off x="785813" y="2160984"/>
            <a:ext cx="757237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1. Aprovação Técnica (Tech Lead/Arquiteto)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5813" y="2471012"/>
            <a:ext cx="75723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Arquitetura implementada conforme desenho; documentação completa.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1500" y="3021081"/>
            <a:ext cx="8001000" cy="9672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3021081"/>
            <a:ext cx="42863" cy="967253"/>
          </a:xfrm>
          <a:prstGeom prst="rect">
            <a:avLst/>
          </a:prstGeom>
          <a:solidFill>
            <a:srgbClr val="FF1F5A"/>
          </a:solidFill>
          <a:ln/>
        </p:spPr>
      </p:sp>
      <p:sp>
        <p:nvSpPr>
          <p:cNvPr id="12" name="Text 9"/>
          <p:cNvSpPr/>
          <p:nvPr/>
        </p:nvSpPr>
        <p:spPr>
          <a:xfrm>
            <a:off x="785813" y="3235393"/>
            <a:ext cx="757237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2. Aprovação de Qualidade (QA Lead)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85813" y="3545421"/>
            <a:ext cx="75723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Ferramentas de teste operacionais; testes de carga bem-sucedidos.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1500" y="4095490"/>
            <a:ext cx="8001000" cy="9672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4095490"/>
            <a:ext cx="42863" cy="967253"/>
          </a:xfrm>
          <a:prstGeom prst="rect">
            <a:avLst/>
          </a:prstGeom>
          <a:solidFill>
            <a:srgbClr val="FF1F5A"/>
          </a:solidFill>
          <a:ln/>
        </p:spPr>
      </p:sp>
      <p:sp>
        <p:nvSpPr>
          <p:cNvPr id="16" name="Text 13"/>
          <p:cNvSpPr/>
          <p:nvPr/>
        </p:nvSpPr>
        <p:spPr>
          <a:xfrm>
            <a:off x="785813" y="4309802"/>
            <a:ext cx="757237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3. Aprovação de Segurança (CISO/AppSec)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85813" y="4619830"/>
            <a:ext cx="75723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Testes de penetração aprovados; políticas de acesso validadas.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71500" y="5169898"/>
            <a:ext cx="8001000" cy="9672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571500" y="5169898"/>
            <a:ext cx="42863" cy="967253"/>
          </a:xfrm>
          <a:prstGeom prst="rect">
            <a:avLst/>
          </a:prstGeom>
          <a:solidFill>
            <a:srgbClr val="FF1F5A"/>
          </a:solidFill>
          <a:ln/>
        </p:spPr>
      </p:sp>
      <p:sp>
        <p:nvSpPr>
          <p:cNvPr id="20" name="Text 17"/>
          <p:cNvSpPr/>
          <p:nvPr/>
        </p:nvSpPr>
        <p:spPr>
          <a:xfrm>
            <a:off x="785813" y="5384211"/>
            <a:ext cx="757237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4. Aprovação de Operações (Head de Infra)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85813" y="5694238"/>
            <a:ext cx="75723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Monitoramento ativo; plano de backup e DRP aprovado.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71500" y="6244307"/>
            <a:ext cx="8001000" cy="96725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571500" y="6244307"/>
            <a:ext cx="42863" cy="967253"/>
          </a:xfrm>
          <a:prstGeom prst="rect">
            <a:avLst/>
          </a:prstGeom>
          <a:solidFill>
            <a:srgbClr val="FF1F5A"/>
          </a:solidFill>
          <a:ln/>
        </p:spPr>
      </p:sp>
      <p:sp>
        <p:nvSpPr>
          <p:cNvPr id="24" name="Text 21"/>
          <p:cNvSpPr/>
          <p:nvPr/>
        </p:nvSpPr>
        <p:spPr>
          <a:xfrm>
            <a:off x="785813" y="6458620"/>
            <a:ext cx="757237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5. Aprovação Executiva (CTO)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85813" y="6768647"/>
            <a:ext cx="75723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Projeto dentro do cronograma e orçamento.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5615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723305"/>
            <a:ext cx="800100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23CC">
                    <a:alpha val="70000"/>
                  </a:srgbClr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Arquitetura Corporativa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1232297"/>
            <a:ext cx="800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A23C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Orçamento Total: R$ 306.500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71500" y="2089547"/>
            <a:ext cx="3857625" cy="40433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2089547"/>
            <a:ext cx="2049001" cy="446484"/>
          </a:xfrm>
          <a:prstGeom prst="rect">
            <a:avLst/>
          </a:prstGeom>
          <a:solidFill>
            <a:srgbClr val="1A23CC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2528888"/>
            <a:ext cx="2049001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2089547"/>
            <a:ext cx="2049001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Item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20501" y="2089547"/>
            <a:ext cx="1808624" cy="446484"/>
          </a:xfrm>
          <a:prstGeom prst="rect">
            <a:avLst/>
          </a:prstGeom>
          <a:solidFill>
            <a:srgbClr val="1A23CC"/>
          </a:solidFill>
          <a:ln/>
        </p:spPr>
      </p:sp>
      <p:sp>
        <p:nvSpPr>
          <p:cNvPr id="11" name="Shape 8"/>
          <p:cNvSpPr/>
          <p:nvPr/>
        </p:nvSpPr>
        <p:spPr>
          <a:xfrm>
            <a:off x="2620501" y="2528888"/>
            <a:ext cx="1808624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2" name="Text 9"/>
          <p:cNvSpPr/>
          <p:nvPr/>
        </p:nvSpPr>
        <p:spPr>
          <a:xfrm>
            <a:off x="2620501" y="2089547"/>
            <a:ext cx="1808624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Custo Estimado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" y="2532459"/>
            <a:ext cx="3857625" cy="44648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4" name="Text 11"/>
          <p:cNvSpPr/>
          <p:nvPr/>
        </p:nvSpPr>
        <p:spPr>
          <a:xfrm>
            <a:off x="714375" y="2653903"/>
            <a:ext cx="154126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Licenças de Software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1500" y="2978944"/>
            <a:ext cx="2049001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SonarQube (1 ano)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620501" y="2978944"/>
            <a:ext cx="1808624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R$ 15.000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71500" y="3429000"/>
            <a:ext cx="2049001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Checkmarx (1 ano)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620501" y="3429000"/>
            <a:ext cx="1808624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R$ 25.000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71500" y="3879056"/>
            <a:ext cx="2049001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Delphix (1 ano)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620501" y="3879056"/>
            <a:ext cx="1808624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R$ 30.000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71500" y="4329113"/>
            <a:ext cx="3857625" cy="450056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2" name="Text 19"/>
          <p:cNvSpPr/>
          <p:nvPr/>
        </p:nvSpPr>
        <p:spPr>
          <a:xfrm>
            <a:off x="714375" y="4454128"/>
            <a:ext cx="19895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Infraestrutura Cloud (GCP)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71500" y="4779169"/>
            <a:ext cx="2049001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PostgreSQL (1 ano)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620501" y="4779169"/>
            <a:ext cx="1808624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R$ 20.000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71500" y="5229225"/>
            <a:ext cx="2049001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Redis (1 ano)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2620501" y="5229225"/>
            <a:ext cx="1808624" cy="4500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R$ 10.000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71500" y="5679281"/>
            <a:ext cx="2049001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Apigee (1 ano)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620501" y="5679281"/>
            <a:ext cx="1808624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R$ 25.000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714875" y="2089547"/>
            <a:ext cx="3857625" cy="31889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4714875" y="2089547"/>
            <a:ext cx="2567006" cy="675084"/>
          </a:xfrm>
          <a:prstGeom prst="rect">
            <a:avLst/>
          </a:prstGeom>
          <a:solidFill>
            <a:srgbClr val="1A23CC"/>
          </a:solidFill>
          <a:ln/>
        </p:spPr>
      </p:sp>
      <p:sp>
        <p:nvSpPr>
          <p:cNvPr id="31" name="Shape 28"/>
          <p:cNvSpPr/>
          <p:nvPr/>
        </p:nvSpPr>
        <p:spPr>
          <a:xfrm>
            <a:off x="4714875" y="2757488"/>
            <a:ext cx="2567006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2" name="Text 29"/>
          <p:cNvSpPr/>
          <p:nvPr/>
        </p:nvSpPr>
        <p:spPr>
          <a:xfrm>
            <a:off x="4714875" y="2089547"/>
            <a:ext cx="2567006" cy="6750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Item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281881" y="2089547"/>
            <a:ext cx="1290619" cy="675084"/>
          </a:xfrm>
          <a:prstGeom prst="rect">
            <a:avLst/>
          </a:prstGeom>
          <a:solidFill>
            <a:srgbClr val="1A23CC"/>
          </a:solidFill>
          <a:ln/>
        </p:spPr>
      </p:sp>
      <p:sp>
        <p:nvSpPr>
          <p:cNvPr id="34" name="Shape 31"/>
          <p:cNvSpPr/>
          <p:nvPr/>
        </p:nvSpPr>
        <p:spPr>
          <a:xfrm>
            <a:off x="7281881" y="2757488"/>
            <a:ext cx="1290619" cy="7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5" name="Text 32"/>
          <p:cNvSpPr/>
          <p:nvPr/>
        </p:nvSpPr>
        <p:spPr>
          <a:xfrm>
            <a:off x="7281881" y="2089547"/>
            <a:ext cx="1290619" cy="6750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Custo Estimado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14875" y="2761059"/>
            <a:ext cx="3857625" cy="44648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7" name="Text 34"/>
          <p:cNvSpPr/>
          <p:nvPr/>
        </p:nvSpPr>
        <p:spPr>
          <a:xfrm>
            <a:off x="4857750" y="2882503"/>
            <a:ext cx="142696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Recursos Humanos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714875" y="3207544"/>
            <a:ext cx="2567006" cy="6786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Squad de Implementação (4 semanas)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7281881" y="3207544"/>
            <a:ext cx="1290619" cy="678656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R$ 150.000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4714875" y="3886200"/>
            <a:ext cx="3857625" cy="450056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1" name="Text 38"/>
          <p:cNvSpPr/>
          <p:nvPr/>
        </p:nvSpPr>
        <p:spPr>
          <a:xfrm>
            <a:off x="4857750" y="4011216"/>
            <a:ext cx="50184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Outros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4714875" y="4336256"/>
            <a:ext cx="2567006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Contingência (10%)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7281881" y="4336256"/>
            <a:ext cx="1290619" cy="446484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R$ 31.500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4714875" y="4782741"/>
            <a:ext cx="2567006" cy="48862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TOTAL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7281881" y="4782741"/>
            <a:ext cx="1290619" cy="48862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r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R$ 306.500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63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723305"/>
            <a:ext cx="800100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23CC">
                    <a:alpha val="70000"/>
                  </a:srgbClr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Arquitetura Corporativa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1232297"/>
            <a:ext cx="800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A23C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Próximas Ações: Aprovação e Kick-off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71500" y="2201838"/>
            <a:ext cx="357188" cy="357188"/>
          </a:xfrm>
          <a:prstGeom prst="ellipse">
            <a:avLst/>
          </a:prstGeom>
          <a:solidFill>
            <a:srgbClr val="1A23CC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2201838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71563" y="1946672"/>
            <a:ext cx="3357563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Aprovação Formal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71563" y="2214116"/>
            <a:ext cx="3357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Apresentar este plano ao Comitê de Aprovação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71500" y="3212232"/>
            <a:ext cx="357188" cy="357188"/>
          </a:xfrm>
          <a:prstGeom prst="ellipse">
            <a:avLst/>
          </a:prstGeom>
          <a:solidFill>
            <a:srgbClr val="1A23CC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" y="3212232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71563" y="2957066"/>
            <a:ext cx="3357563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Alocação de Recursos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71563" y="3224510"/>
            <a:ext cx="3357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Confirmar disponibilidade da Squad de Implementação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1500" y="4108326"/>
            <a:ext cx="357188" cy="357188"/>
          </a:xfrm>
          <a:prstGeom prst="ellipse">
            <a:avLst/>
          </a:prstGeom>
          <a:solidFill>
            <a:srgbClr val="1A23CC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4108326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71563" y="3967460"/>
            <a:ext cx="2970014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Contratação de Licenças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71563" y="4234904"/>
            <a:ext cx="297001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Iniciar processo de aquisição de software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14875" y="2087538"/>
            <a:ext cx="357188" cy="357188"/>
          </a:xfrm>
          <a:prstGeom prst="ellipse">
            <a:avLst/>
          </a:prstGeom>
          <a:solidFill>
            <a:srgbClr val="1A23CC"/>
          </a:solidFill>
          <a:ln/>
        </p:spPr>
      </p:sp>
      <p:sp>
        <p:nvSpPr>
          <p:cNvPr id="19" name="Text 16"/>
          <p:cNvSpPr/>
          <p:nvPr/>
        </p:nvSpPr>
        <p:spPr>
          <a:xfrm>
            <a:off x="4714875" y="2087538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14938" y="1946672"/>
            <a:ext cx="3166467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Preparação de Infraestrutura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214938" y="2214116"/>
            <a:ext cx="316646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Validar disponibilidade de hardware e cloud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714875" y="2983632"/>
            <a:ext cx="357188" cy="357188"/>
          </a:xfrm>
          <a:prstGeom prst="ellipse">
            <a:avLst/>
          </a:prstGeom>
          <a:solidFill>
            <a:srgbClr val="1A23CC"/>
          </a:solidFill>
          <a:ln/>
        </p:spPr>
      </p:sp>
      <p:sp>
        <p:nvSpPr>
          <p:cNvPr id="23" name="Text 20"/>
          <p:cNvSpPr/>
          <p:nvPr/>
        </p:nvSpPr>
        <p:spPr>
          <a:xfrm>
            <a:off x="4714875" y="2983632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214938" y="2728466"/>
            <a:ext cx="3357563" cy="267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Kick-off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214938" y="2995910"/>
            <a:ext cx="33575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Reunião de lançamento com a Squad (Semana 1)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714875" y="3569419"/>
            <a:ext cx="3857625" cy="14101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4714875" y="3569419"/>
            <a:ext cx="42863" cy="1410165"/>
          </a:xfrm>
          <a:prstGeom prst="rect">
            <a:avLst/>
          </a:prstGeom>
          <a:solidFill>
            <a:srgbClr val="FF1F5A"/>
          </a:solidFill>
          <a:ln/>
        </p:spPr>
      </p:sp>
      <p:sp>
        <p:nvSpPr>
          <p:cNvPr id="28" name="Text 25"/>
          <p:cNvSpPr/>
          <p:nvPr/>
        </p:nvSpPr>
        <p:spPr>
          <a:xfrm>
            <a:off x="4929188" y="3783731"/>
            <a:ext cx="3429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Timeline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929188" y="416519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Aprovação esperada para a próxima semana; Kick-off em Junho de 2026.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5568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3CC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bs2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723305"/>
            <a:ext cx="800100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A23CC">
                    <a:alpha val="70000"/>
                  </a:srgbClr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Arquitetura Corporativa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71500" y="1232297"/>
            <a:ext cx="800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A23CC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rPr>
              <a:t>Ambiente 1: Piloto Validado para Expansão Futura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71500" y="1946672"/>
            <a:ext cx="385762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Ambiente 1 atuará como piloto para validar: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85813" y="2709602"/>
            <a:ext cx="3643313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Integração híbrida</a:t>
            </a:r>
            <a:r>
              <a:rPr lang="en-US" sz="11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no Datacenter Equinix + cloud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85813" y="3355386"/>
            <a:ext cx="3643313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Automação</a:t>
            </a:r>
            <a:r>
              <a:rPr lang="en-US" sz="11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infraestrutura (IaC)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85813" y="3749715"/>
            <a:ext cx="3643313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Esteira CI/CD</a:t>
            </a:r>
            <a:r>
              <a:rPr lang="en-US" sz="11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via GitHub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5813" y="4144045"/>
            <a:ext cx="3643313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Ferramentas</a:t>
            </a:r>
            <a:r>
              <a:rPr lang="en-US" sz="11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de qualidade e segurança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5813" y="4538374"/>
            <a:ext cx="3643313" cy="2514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marL="127000" indent="-127000">
              <a:lnSpc>
                <a:spcPct val="128000"/>
              </a:lnSpc>
              <a:buSzPct val="100000"/>
              <a:buChar char="•"/>
            </a:pPr>
            <a:r>
              <a:rPr lang="en-US" sz="1100" b="1" dirty="0">
                <a:solidFill>
                  <a:srgbClr val="0D0D6B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Procedimentos</a:t>
            </a:r>
            <a:r>
              <a:rPr lang="en-US" sz="1150" dirty="0">
                <a:solidFill>
                  <a:srgbClr val="0D0D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operacionais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14875" y="1946672"/>
            <a:ext cx="3857625" cy="3180392"/>
          </a:xfrm>
          <a:prstGeom prst="rect">
            <a:avLst/>
          </a:prstGeom>
          <a:solidFill>
            <a:srgbClr val="1A23CC"/>
          </a:solidFill>
          <a:ln/>
        </p:spPr>
      </p:sp>
      <p:sp>
        <p:nvSpPr>
          <p:cNvPr id="13" name="Text 10"/>
          <p:cNvSpPr/>
          <p:nvPr/>
        </p:nvSpPr>
        <p:spPr>
          <a:xfrm>
            <a:off x="4929188" y="2232422"/>
            <a:ext cx="3429000" cy="3657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Visão de Futuro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29188" y="2741051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Após aprovação, os scripts validados serão reutilizados nos demais ambientes (Integration, Stage, Produção) em projetos subsequentes, otimizando cronograma e reduzindo riscos.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929188" y="3869764"/>
            <a:ext cx="3429000" cy="9715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929188" y="3869764"/>
            <a:ext cx="28575" cy="971550"/>
          </a:xfrm>
          <a:prstGeom prst="rect">
            <a:avLst/>
          </a:prstGeom>
          <a:solidFill>
            <a:srgbClr val="FF1F5A"/>
          </a:solidFill>
          <a:ln/>
        </p:spPr>
      </p:sp>
      <p:sp>
        <p:nvSpPr>
          <p:cNvPr id="17" name="Text 14"/>
          <p:cNvSpPr/>
          <p:nvPr/>
        </p:nvSpPr>
        <p:spPr>
          <a:xfrm>
            <a:off x="5072063" y="4012639"/>
            <a:ext cx="31432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Próxima Fase: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72063" y="4241239"/>
            <a:ext cx="3143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Ambiente 2 (Integration de Fornecedores) — Projeto Incremental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2026-06-18T14:24:55Z</dcterms:created>
  <dcterms:modified xsi:type="dcterms:W3CDTF">2026-06-18T14:24:55Z</dcterms:modified>
</cp:coreProperties>
</file>