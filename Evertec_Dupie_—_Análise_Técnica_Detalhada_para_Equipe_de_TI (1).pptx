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363759"/>
            <a:ext cx="77152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spc="-2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2450" b="1" spc="-2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985838" y="2135284"/>
            <a:ext cx="7443788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spc="-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Evertec Dupie — Análise Técnica</a:t>
            </a:r>
            <a:r>
              <a:rPr lang="en-US" sz="2850" b="1" spc="-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
</a:t>
            </a:r>
            <a:r>
              <a:rPr lang="en-US" sz="2850" b="1" spc="-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Detalhada para Equipe de TI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985838" y="3122516"/>
            <a:ext cx="74437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Avaliação Arquitetônica, Segurança, Operações e Conformidade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001A4D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4286250"/>
            <a:ext cx="9144000" cy="71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650581"/>
            <a:ext cx="96441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541" y="4618434"/>
            <a:ext cx="159841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Resolução BCB 339/2023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705" y="4650581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995017" y="4618434"/>
            <a:ext cx="95190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Prazo: Q2/2027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672" y="4650581"/>
            <a:ext cx="160734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79131" y="4618434"/>
            <a:ext cx="338435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Audiência: Arquitetos, Eng. Segurança, DevOps, DBAs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14325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85788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951905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 SaaS: Multi-tenant Cloud com Integração via APIs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771985"/>
            <a:ext cx="4723442" cy="11872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771985"/>
            <a:ext cx="4723442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850566"/>
            <a:ext cx="17859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394" y="1814847"/>
            <a:ext cx="264497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Componentes Core &amp; Infraestrutura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143460"/>
            <a:ext cx="114300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0100" y="2122029"/>
            <a:ext cx="417016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Cloud (AWS/Azure). Multi-tenant com isolamento lógico.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2334890"/>
            <a:ext cx="114300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0100" y="2313459"/>
            <a:ext cx="39719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API Gateway: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REST/GraphQL para integração com sistemas legados.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3" y="2526320"/>
            <a:ext cx="114300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0100" y="2504889"/>
            <a:ext cx="433447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Persistência: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PostgreSQL/Oracle com replicação para alta disponibilidade.</a:t>
            </a:r>
            <a:endParaRPr lang="en-US" sz="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3" y="2717750"/>
            <a:ext cx="114300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0100" y="2696319"/>
            <a:ext cx="3661172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Mensageria: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RabbitMQ/Kafka para processamento assíncrono.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71500" y="2987762"/>
            <a:ext cx="4723442" cy="99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1"/>
          <p:cNvSpPr/>
          <p:nvPr/>
        </p:nvSpPr>
        <p:spPr>
          <a:xfrm>
            <a:off x="571500" y="2987762"/>
            <a:ext cx="4723442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3" y="3066343"/>
            <a:ext cx="142875" cy="14287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28675" y="3030624"/>
            <a:ext cx="217884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Segurança e Observabilidade</a:t>
            </a:r>
            <a:endParaRPr lang="en-US" sz="10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363" y="3359237"/>
            <a:ext cx="114300" cy="10001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00100" y="3337806"/>
            <a:ext cx="295572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TLS 1.3 e KMS para dados em repouso.</a:t>
            </a:r>
            <a:endParaRPr lang="en-US" sz="8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363" y="3550667"/>
            <a:ext cx="114300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800100" y="3529236"/>
            <a:ext cx="220563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Perímetro: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WAF e proteção Anti-DDoS.</a:t>
            </a:r>
            <a:endParaRPr lang="en-US" sz="8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3" y="3742097"/>
            <a:ext cx="114300" cy="100013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800100" y="3720666"/>
            <a:ext cx="404872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Observabilidade: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ELK para logs e Prometheus/Grafana para métricas.</a:t>
            </a:r>
            <a:endParaRPr lang="en-US" sz="800" dirty="0"/>
          </a:p>
        </p:txBody>
      </p:sp>
      <p:sp>
        <p:nvSpPr>
          <p:cNvPr id="28" name="Shape 16"/>
          <p:cNvSpPr/>
          <p:nvPr/>
        </p:nvSpPr>
        <p:spPr>
          <a:xfrm>
            <a:off x="5423529" y="1771985"/>
            <a:ext cx="3148971" cy="13287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17"/>
          <p:cNvSpPr/>
          <p:nvPr/>
        </p:nvSpPr>
        <p:spPr>
          <a:xfrm>
            <a:off x="5423529" y="1771985"/>
            <a:ext cx="28575" cy="132873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6392" y="1846994"/>
            <a:ext cx="128588" cy="12858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652129" y="1814847"/>
            <a:ext cx="1357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Vantagens Técnicas</a:t>
            </a:r>
            <a:endParaRPr lang="en-US" sz="900" dirty="0"/>
          </a:p>
        </p:txBody>
      </p:sp>
      <p:sp>
        <p:nvSpPr>
          <p:cNvPr id="32" name="Text 19"/>
          <p:cNvSpPr/>
          <p:nvPr/>
        </p:nvSpPr>
        <p:spPr>
          <a:xfrm>
            <a:off x="5466392" y="2050591"/>
            <a:ext cx="3063246" cy="2786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Auto-scaling: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Escalabilidade automática conforme carga.</a:t>
            </a:r>
            <a:endParaRPr lang="en-US" sz="750" dirty="0"/>
          </a:p>
        </p:txBody>
      </p:sp>
      <p:sp>
        <p:nvSpPr>
          <p:cNvPr id="33" name="Text 20"/>
          <p:cNvSpPr/>
          <p:nvPr/>
        </p:nvSpPr>
        <p:spPr>
          <a:xfrm>
            <a:off x="5466392" y="2372060"/>
            <a:ext cx="3063246" cy="2786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Patches: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Atualizações aplicadas com rolling deploy.</a:t>
            </a:r>
            <a:endParaRPr lang="en-US" sz="750" dirty="0"/>
          </a:p>
        </p:txBody>
      </p:sp>
      <p:sp>
        <p:nvSpPr>
          <p:cNvPr id="34" name="Text 21"/>
          <p:cNvSpPr/>
          <p:nvPr/>
        </p:nvSpPr>
        <p:spPr>
          <a:xfrm>
            <a:off x="5466392" y="2693529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 Gerenciada: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Evertec: backup, DR e compliance.</a:t>
            </a:r>
            <a:endParaRPr lang="en-US" sz="750" dirty="0"/>
          </a:p>
        </p:txBody>
      </p:sp>
      <p:sp>
        <p:nvSpPr>
          <p:cNvPr id="35" name="Text 22"/>
          <p:cNvSpPr/>
          <p:nvPr/>
        </p:nvSpPr>
        <p:spPr>
          <a:xfrm>
            <a:off x="5466392" y="2875694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SLA Garantido: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99.99% disponibilidade.</a:t>
            </a:r>
            <a:endParaRPr lang="en-US" sz="750" dirty="0"/>
          </a:p>
        </p:txBody>
      </p:sp>
      <p:sp>
        <p:nvSpPr>
          <p:cNvPr id="36" name="Shape 23"/>
          <p:cNvSpPr/>
          <p:nvPr/>
        </p:nvSpPr>
        <p:spPr>
          <a:xfrm>
            <a:off x="5423529" y="3157872"/>
            <a:ext cx="3148971" cy="11894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24"/>
          <p:cNvSpPr/>
          <p:nvPr/>
        </p:nvSpPr>
        <p:spPr>
          <a:xfrm>
            <a:off x="5423529" y="3157872"/>
            <a:ext cx="28575" cy="1189434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8" name="Text 25"/>
          <p:cNvSpPr/>
          <p:nvPr/>
        </p:nvSpPr>
        <p:spPr>
          <a:xfrm>
            <a:off x="5466392" y="2064879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9" name="Text 26"/>
          <p:cNvSpPr/>
          <p:nvPr/>
        </p:nvSpPr>
        <p:spPr>
          <a:xfrm>
            <a:off x="5466392" y="2386347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0" name="Text 27"/>
          <p:cNvSpPr/>
          <p:nvPr/>
        </p:nvSpPr>
        <p:spPr>
          <a:xfrm>
            <a:off x="5466392" y="2707816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1" name="Text 28"/>
          <p:cNvSpPr/>
          <p:nvPr/>
        </p:nvSpPr>
        <p:spPr>
          <a:xfrm>
            <a:off x="5466392" y="2889982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6392" y="3232882"/>
            <a:ext cx="128588" cy="12858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652129" y="3200735"/>
            <a:ext cx="11340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e Riscos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5466392" y="3436479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Externa: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Overhead de rede (50-100ms).</a:t>
            </a:r>
            <a:endParaRPr lang="en-US" sz="750" dirty="0"/>
          </a:p>
        </p:txBody>
      </p:sp>
      <p:sp>
        <p:nvSpPr>
          <p:cNvPr id="45" name="Text 31"/>
          <p:cNvSpPr/>
          <p:nvPr/>
        </p:nvSpPr>
        <p:spPr>
          <a:xfrm>
            <a:off x="5466392" y="3618644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Vendor Lock-in: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Limitações de customização.</a:t>
            </a:r>
            <a:endParaRPr lang="en-US" sz="750" dirty="0"/>
          </a:p>
        </p:txBody>
      </p:sp>
      <p:sp>
        <p:nvSpPr>
          <p:cNvPr id="46" name="Text 32"/>
          <p:cNvSpPr/>
          <p:nvPr/>
        </p:nvSpPr>
        <p:spPr>
          <a:xfrm>
            <a:off x="5466392" y="3800810"/>
            <a:ext cx="3063246" cy="27860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Dependência de API: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Sem acesso direto ao banco para queries ad-hoc.</a:t>
            </a:r>
            <a:endParaRPr lang="en-US" sz="750" dirty="0"/>
          </a:p>
        </p:txBody>
      </p:sp>
      <p:sp>
        <p:nvSpPr>
          <p:cNvPr id="47" name="Text 33"/>
          <p:cNvSpPr/>
          <p:nvPr/>
        </p:nvSpPr>
        <p:spPr>
          <a:xfrm>
            <a:off x="5466392" y="4122279"/>
            <a:ext cx="3063246" cy="13930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Noisy Neighbor: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em picos multi-tenant.</a:t>
            </a:r>
            <a:endParaRPr lang="en-US" sz="750" dirty="0"/>
          </a:p>
        </p:txBody>
      </p:sp>
      <p:sp>
        <p:nvSpPr>
          <p:cNvPr id="48" name="Text 34"/>
          <p:cNvSpPr/>
          <p:nvPr/>
        </p:nvSpPr>
        <p:spPr>
          <a:xfrm>
            <a:off x="5466392" y="3450766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9" name="Text 35"/>
          <p:cNvSpPr/>
          <p:nvPr/>
        </p:nvSpPr>
        <p:spPr>
          <a:xfrm>
            <a:off x="5466392" y="3632932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0" name="Text 36"/>
          <p:cNvSpPr/>
          <p:nvPr/>
        </p:nvSpPr>
        <p:spPr>
          <a:xfrm>
            <a:off x="5466392" y="3815097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1" name="Text 37"/>
          <p:cNvSpPr/>
          <p:nvPr/>
        </p:nvSpPr>
        <p:spPr>
          <a:xfrm>
            <a:off x="5466392" y="4136566"/>
            <a:ext cx="431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994767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 On-Premise: Controle Total, Infraestrutura Interna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893429"/>
            <a:ext cx="3143250" cy="13930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893429"/>
            <a:ext cx="28575" cy="1393031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82725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4388" y="1950579"/>
            <a:ext cx="1357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Vantagens Técnicas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8650" y="2200610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 Total: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Domínio absoluto sobre arquitetura, código-fonte e dados.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28650" y="2543510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Sem Latência: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Comunicação interna ao data center (&lt;1ms) com sistemas legados.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28650" y="2886410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Acesso Direto: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Integração nativa com banco de dados para queries ad-hoc.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71500" y="3343610"/>
            <a:ext cx="3143250" cy="17359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3343610"/>
            <a:ext cx="28575" cy="173593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5" name="Text 11"/>
          <p:cNvSpPr/>
          <p:nvPr/>
        </p:nvSpPr>
        <p:spPr>
          <a:xfrm>
            <a:off x="628650" y="221489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628650" y="255779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628650" y="290069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432907"/>
            <a:ext cx="128588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4388" y="3400760"/>
            <a:ext cx="11340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e Riscos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8650" y="36507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Escalabilidade Manual: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Requer planejamento de capacidade e investimento (CAPEX).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628650" y="39936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Overhead Operacional: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Necessidade de equipe dedicada (15-20 eng.) para operação.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628650" y="43365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Patches: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Atualizações de SO e segurança exigem downtime planejado.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628650" y="4679491"/>
            <a:ext cx="3028950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Risco de Execução: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Concentração de vulnerabilidades no desenvolvimento próprio.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628650" y="36650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628650" y="40079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6" name="Text 21"/>
          <p:cNvSpPr/>
          <p:nvPr/>
        </p:nvSpPr>
        <p:spPr>
          <a:xfrm>
            <a:off x="628650" y="43508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7" name="Text 22"/>
          <p:cNvSpPr/>
          <p:nvPr/>
        </p:nvSpPr>
        <p:spPr>
          <a:xfrm>
            <a:off x="628650" y="469377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Shape 23"/>
          <p:cNvSpPr/>
          <p:nvPr/>
        </p:nvSpPr>
        <p:spPr>
          <a:xfrm>
            <a:off x="3857625" y="1893429"/>
            <a:ext cx="4714875" cy="1567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4"/>
          <p:cNvSpPr/>
          <p:nvPr/>
        </p:nvSpPr>
        <p:spPr>
          <a:xfrm>
            <a:off x="3857625" y="1893429"/>
            <a:ext cx="4714875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775" y="1986297"/>
            <a:ext cx="142875" cy="1428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129088" y="1950579"/>
            <a:ext cx="264497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Componentes Core &amp; Infraestrutura</a:t>
            </a:r>
            <a:endParaRPr lang="en-US" sz="10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2314910"/>
            <a:ext cx="75009" cy="10001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1222" y="2286335"/>
            <a:ext cx="445412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Servidores dedicados no data center do Banco ou em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infraestrutura cloud privada (AWS VPC, Azure Private Cloud).</a:t>
            </a:r>
            <a:endParaRPr lang="en-US" sz="8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2677790"/>
            <a:ext cx="112514" cy="10001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098727" y="2649215"/>
            <a:ext cx="441662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API Gateway: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Soluções internas (Kong/Nginx) para exposição de serviços e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balanceamento de carga (F5/HAProxy).</a:t>
            </a:r>
            <a:endParaRPr lang="en-US" sz="8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4775" y="3040670"/>
            <a:ext cx="87511" cy="10001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073723" y="3012095"/>
            <a:ext cx="444162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Persistência: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de Dados Relacional (Oracle/PostgreSQL) com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replicação master-slave para Alta Disponibilidade.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3857625" y="3489275"/>
            <a:ext cx="4714875" cy="15672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0"/>
          <p:cNvSpPr/>
          <p:nvPr/>
        </p:nvSpPr>
        <p:spPr>
          <a:xfrm>
            <a:off x="3857625" y="3489275"/>
            <a:ext cx="4714875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4775" y="3582144"/>
            <a:ext cx="142875" cy="142875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129088" y="3546425"/>
            <a:ext cx="299680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Postura de Segurança e Observabilidade</a:t>
            </a:r>
            <a:endParaRPr lang="en-US" sz="10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4775" y="3910757"/>
            <a:ext cx="93120" cy="100013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079332" y="3882182"/>
            <a:ext cx="443601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TLS 1.3 em trânsito e criptografia em repouso via HSM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corporativo ou KMS interno.</a:t>
            </a:r>
            <a:endParaRPr lang="en-US" sz="8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4775" y="4273637"/>
            <a:ext cx="88683" cy="100013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074895" y="4245062"/>
            <a:ext cx="444045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Identidade: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MFA e autenticação nativamente integradas com o sistema IAM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corporativo do Banco.</a:t>
            </a:r>
            <a:endParaRPr lang="en-US" sz="8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4775" y="4636517"/>
            <a:ext cx="100013" cy="100013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086225" y="4607942"/>
            <a:ext cx="4429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Observabilidade: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SIEM corporativo para correlação de eventos de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segurança e Datadog/Splunk para métricas.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45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2875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414338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709017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Visão Arquitetônica: Infográfico Comparativo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211926"/>
            <a:ext cx="3857625" cy="4192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211926"/>
            <a:ext cx="3857625" cy="42863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777" y="1369981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7527" y="1326226"/>
            <a:ext cx="199132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57988" y="1728062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Shape 7"/>
          <p:cNvSpPr/>
          <p:nvPr/>
        </p:nvSpPr>
        <p:spPr>
          <a:xfrm>
            <a:off x="957988" y="1728062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8"/>
          <p:cNvSpPr/>
          <p:nvPr/>
        </p:nvSpPr>
        <p:spPr>
          <a:xfrm>
            <a:off x="4028349" y="1728062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9"/>
          <p:cNvSpPr/>
          <p:nvPr/>
        </p:nvSpPr>
        <p:spPr>
          <a:xfrm>
            <a:off x="957988" y="220917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0"/>
          <p:cNvSpPr/>
          <p:nvPr/>
        </p:nvSpPr>
        <p:spPr>
          <a:xfrm>
            <a:off x="957988" y="1728062"/>
            <a:ext cx="42863" cy="49540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5" name="Shape 11"/>
          <p:cNvSpPr/>
          <p:nvPr/>
        </p:nvSpPr>
        <p:spPr>
          <a:xfrm>
            <a:off x="1043713" y="1818587"/>
            <a:ext cx="285750" cy="285750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94" y="1897168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5188" y="1813787"/>
            <a:ext cx="1332309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Core Bancário BS2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1415188" y="1997739"/>
            <a:ext cx="133230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Sistemas legados e usuários</a:t>
            </a:r>
            <a:endParaRPr lang="en-US" sz="650" dirty="0"/>
          </a:p>
        </p:txBody>
      </p:sp>
      <p:sp>
        <p:nvSpPr>
          <p:cNvPr id="19" name="Shape 14"/>
          <p:cNvSpPr/>
          <p:nvPr/>
        </p:nvSpPr>
        <p:spPr>
          <a:xfrm>
            <a:off x="1922562" y="2294902"/>
            <a:ext cx="1155502" cy="17145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FF99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143" y="2337764"/>
            <a:ext cx="75009" cy="857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11871" y="2316333"/>
            <a:ext cx="8876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100-200ms Latência</a:t>
            </a:r>
            <a:endParaRPr lang="en-US" sz="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306" y="2387771"/>
            <a:ext cx="100013" cy="1143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57988" y="2566364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Shape 17"/>
          <p:cNvSpPr/>
          <p:nvPr/>
        </p:nvSpPr>
        <p:spPr>
          <a:xfrm>
            <a:off x="957988" y="256636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18"/>
          <p:cNvSpPr/>
          <p:nvPr/>
        </p:nvSpPr>
        <p:spPr>
          <a:xfrm>
            <a:off x="4028349" y="2566364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19"/>
          <p:cNvSpPr/>
          <p:nvPr/>
        </p:nvSpPr>
        <p:spPr>
          <a:xfrm>
            <a:off x="957988" y="304747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0"/>
          <p:cNvSpPr/>
          <p:nvPr/>
        </p:nvSpPr>
        <p:spPr>
          <a:xfrm>
            <a:off x="957988" y="2566364"/>
            <a:ext cx="42863" cy="49540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8" name="Shape 21"/>
          <p:cNvSpPr/>
          <p:nvPr/>
        </p:nvSpPr>
        <p:spPr>
          <a:xfrm>
            <a:off x="1043713" y="2656889"/>
            <a:ext cx="285750" cy="285750"/>
          </a:xfrm>
          <a:prstGeom prst="ellipse">
            <a:avLst/>
          </a:prstGeom>
          <a:solidFill>
            <a:srgbClr val="00336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294" y="2735470"/>
            <a:ext cx="128588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15188" y="2652089"/>
            <a:ext cx="189309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API Gateway Externo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1415188" y="2836041"/>
            <a:ext cx="1893094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Comunicação REST/GraphQL via Internet</a:t>
            </a:r>
            <a:endParaRPr lang="en-US" sz="6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306" y="3226073"/>
            <a:ext cx="100013" cy="1143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957988" y="3404667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25"/>
          <p:cNvSpPr/>
          <p:nvPr/>
        </p:nvSpPr>
        <p:spPr>
          <a:xfrm>
            <a:off x="957988" y="340466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26"/>
          <p:cNvSpPr/>
          <p:nvPr/>
        </p:nvSpPr>
        <p:spPr>
          <a:xfrm>
            <a:off x="4028349" y="3404667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6" name="Shape 27"/>
          <p:cNvSpPr/>
          <p:nvPr/>
        </p:nvSpPr>
        <p:spPr>
          <a:xfrm>
            <a:off x="957988" y="3885781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Shape 28"/>
          <p:cNvSpPr/>
          <p:nvPr/>
        </p:nvSpPr>
        <p:spPr>
          <a:xfrm>
            <a:off x="957988" y="3404667"/>
            <a:ext cx="42863" cy="49540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8" name="Shape 29"/>
          <p:cNvSpPr/>
          <p:nvPr/>
        </p:nvSpPr>
        <p:spPr>
          <a:xfrm>
            <a:off x="1043713" y="3495191"/>
            <a:ext cx="285750" cy="285750"/>
          </a:xfrm>
          <a:prstGeom prst="ellipse">
            <a:avLst/>
          </a:prstGeom>
          <a:solidFill>
            <a:srgbClr val="003366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221" y="3573773"/>
            <a:ext cx="160734" cy="128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415188" y="3490392"/>
            <a:ext cx="1757363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Aplicação DUPIE (AWS/Azure)</a:t>
            </a:r>
            <a:endParaRPr lang="en-US" sz="800" dirty="0"/>
          </a:p>
        </p:txBody>
      </p:sp>
      <p:sp>
        <p:nvSpPr>
          <p:cNvPr id="41" name="Text 31"/>
          <p:cNvSpPr/>
          <p:nvPr/>
        </p:nvSpPr>
        <p:spPr>
          <a:xfrm>
            <a:off x="1415188" y="3674343"/>
            <a:ext cx="1757363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Processamento Multi-tenant</a:t>
            </a:r>
            <a:endParaRPr lang="en-US" sz="65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0306" y="4064375"/>
            <a:ext cx="100013" cy="114300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957988" y="4242969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Shape 33"/>
          <p:cNvSpPr/>
          <p:nvPr/>
        </p:nvSpPr>
        <p:spPr>
          <a:xfrm>
            <a:off x="957988" y="424296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34"/>
          <p:cNvSpPr/>
          <p:nvPr/>
        </p:nvSpPr>
        <p:spPr>
          <a:xfrm>
            <a:off x="4028349" y="4242969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6" name="Shape 35"/>
          <p:cNvSpPr/>
          <p:nvPr/>
        </p:nvSpPr>
        <p:spPr>
          <a:xfrm>
            <a:off x="957988" y="472408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Shape 36"/>
          <p:cNvSpPr/>
          <p:nvPr/>
        </p:nvSpPr>
        <p:spPr>
          <a:xfrm>
            <a:off x="957988" y="4242969"/>
            <a:ext cx="42863" cy="49540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8" name="Shape 37"/>
          <p:cNvSpPr/>
          <p:nvPr/>
        </p:nvSpPr>
        <p:spPr>
          <a:xfrm>
            <a:off x="1043713" y="4333494"/>
            <a:ext cx="285750" cy="285750"/>
          </a:xfrm>
          <a:prstGeom prst="ellipse">
            <a:avLst/>
          </a:prstGeom>
          <a:solidFill>
            <a:srgbClr val="003366"/>
          </a:solidFill>
          <a:ln/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331" y="4412075"/>
            <a:ext cx="112514" cy="128588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1415188" y="4328694"/>
            <a:ext cx="182880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Banco de Dados &amp; Webhooks</a:t>
            </a:r>
            <a:endParaRPr lang="en-US" sz="800" dirty="0"/>
          </a:p>
        </p:txBody>
      </p:sp>
      <p:sp>
        <p:nvSpPr>
          <p:cNvPr id="51" name="Text 39"/>
          <p:cNvSpPr/>
          <p:nvPr/>
        </p:nvSpPr>
        <p:spPr>
          <a:xfrm>
            <a:off x="1415188" y="4512645"/>
            <a:ext cx="182880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Persistência e Notificações Assíncronas</a:t>
            </a:r>
            <a:endParaRPr lang="en-US" sz="650" dirty="0"/>
          </a:p>
        </p:txBody>
      </p:sp>
      <p:sp>
        <p:nvSpPr>
          <p:cNvPr id="52" name="Shape 40"/>
          <p:cNvSpPr/>
          <p:nvPr/>
        </p:nvSpPr>
        <p:spPr>
          <a:xfrm>
            <a:off x="685800" y="4866959"/>
            <a:ext cx="3629025" cy="423267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53" name="Text 41"/>
          <p:cNvSpPr/>
          <p:nvPr/>
        </p:nvSpPr>
        <p:spPr>
          <a:xfrm>
            <a:off x="1203415" y="4924109"/>
            <a:ext cx="1339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1h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1194485" y="5116990"/>
            <a:ext cx="1518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RTO</a:t>
            </a:r>
            <a:endParaRPr lang="en-US" sz="550" dirty="0"/>
          </a:p>
        </p:txBody>
      </p:sp>
      <p:sp>
        <p:nvSpPr>
          <p:cNvPr id="55" name="Text 43"/>
          <p:cNvSpPr/>
          <p:nvPr/>
        </p:nvSpPr>
        <p:spPr>
          <a:xfrm>
            <a:off x="2249360" y="4924109"/>
            <a:ext cx="3143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</a:t>
            </a:r>
            <a:endParaRPr lang="en-US" sz="900" dirty="0"/>
          </a:p>
        </p:txBody>
      </p:sp>
      <p:sp>
        <p:nvSpPr>
          <p:cNvPr id="56" name="Text 44"/>
          <p:cNvSpPr/>
          <p:nvPr/>
        </p:nvSpPr>
        <p:spPr>
          <a:xfrm>
            <a:off x="2262755" y="5116990"/>
            <a:ext cx="2875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</a:t>
            </a:r>
            <a:endParaRPr lang="en-US" sz="550" dirty="0"/>
          </a:p>
        </p:txBody>
      </p:sp>
      <p:sp>
        <p:nvSpPr>
          <p:cNvPr id="57" name="Text 45"/>
          <p:cNvSpPr/>
          <p:nvPr/>
        </p:nvSpPr>
        <p:spPr>
          <a:xfrm>
            <a:off x="3466756" y="4924109"/>
            <a:ext cx="33932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OPEX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3503368" y="5116990"/>
            <a:ext cx="2661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</a:t>
            </a:r>
            <a:endParaRPr lang="en-US" sz="550" dirty="0"/>
          </a:p>
        </p:txBody>
      </p:sp>
      <p:sp>
        <p:nvSpPr>
          <p:cNvPr id="59" name="Shape 47"/>
          <p:cNvSpPr/>
          <p:nvPr/>
        </p:nvSpPr>
        <p:spPr>
          <a:xfrm>
            <a:off x="4714875" y="1211926"/>
            <a:ext cx="3857625" cy="4192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48"/>
          <p:cNvSpPr/>
          <p:nvPr/>
        </p:nvSpPr>
        <p:spPr>
          <a:xfrm>
            <a:off x="4714875" y="1211926"/>
            <a:ext cx="3857625" cy="42863"/>
          </a:xfrm>
          <a:prstGeom prst="rect">
            <a:avLst/>
          </a:prstGeom>
          <a:solidFill>
            <a:srgbClr val="009900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6241" y="1369981"/>
            <a:ext cx="171450" cy="17145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5889129" y="1326226"/>
            <a:ext cx="175200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200" dirty="0"/>
          </a:p>
        </p:txBody>
      </p:sp>
      <p:sp>
        <p:nvSpPr>
          <p:cNvPr id="63" name="Shape 50"/>
          <p:cNvSpPr/>
          <p:nvPr/>
        </p:nvSpPr>
        <p:spPr>
          <a:xfrm>
            <a:off x="5101363" y="1728062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4" name="Shape 51"/>
          <p:cNvSpPr/>
          <p:nvPr/>
        </p:nvSpPr>
        <p:spPr>
          <a:xfrm>
            <a:off x="5101363" y="1728062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5" name="Shape 52"/>
          <p:cNvSpPr/>
          <p:nvPr/>
        </p:nvSpPr>
        <p:spPr>
          <a:xfrm>
            <a:off x="8171724" y="1728062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6" name="Shape 53"/>
          <p:cNvSpPr/>
          <p:nvPr/>
        </p:nvSpPr>
        <p:spPr>
          <a:xfrm>
            <a:off x="5101363" y="220917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7" name="Shape 54"/>
          <p:cNvSpPr/>
          <p:nvPr/>
        </p:nvSpPr>
        <p:spPr>
          <a:xfrm>
            <a:off x="5101363" y="1728062"/>
            <a:ext cx="42863" cy="495402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68" name="Shape 55"/>
          <p:cNvSpPr/>
          <p:nvPr/>
        </p:nvSpPr>
        <p:spPr>
          <a:xfrm>
            <a:off x="5187088" y="1818587"/>
            <a:ext cx="285750" cy="285750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5669" y="1897168"/>
            <a:ext cx="128588" cy="128588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5558563" y="1813787"/>
            <a:ext cx="1332309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Core Bancário BS2</a:t>
            </a:r>
            <a:endParaRPr lang="en-US" sz="800" dirty="0"/>
          </a:p>
        </p:txBody>
      </p:sp>
      <p:sp>
        <p:nvSpPr>
          <p:cNvPr id="71" name="Text 57"/>
          <p:cNvSpPr/>
          <p:nvPr/>
        </p:nvSpPr>
        <p:spPr>
          <a:xfrm>
            <a:off x="5558563" y="1997739"/>
            <a:ext cx="1332309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Sistemas legados e usuários</a:t>
            </a:r>
            <a:endParaRPr lang="en-US" sz="650" dirty="0"/>
          </a:p>
        </p:txBody>
      </p:sp>
      <p:sp>
        <p:nvSpPr>
          <p:cNvPr id="72" name="Shape 58"/>
          <p:cNvSpPr/>
          <p:nvPr/>
        </p:nvSpPr>
        <p:spPr>
          <a:xfrm>
            <a:off x="6209705" y="2294902"/>
            <a:ext cx="867966" cy="171450"/>
          </a:xfrm>
          <a:prstGeom prst="roundRect">
            <a:avLst/>
          </a:prstGeom>
          <a:solidFill>
            <a:srgbClr val="FFFFFF"/>
          </a:solidFill>
          <a:ln w="9144">
            <a:solidFill>
              <a:srgbClr val="009900"/>
            </a:solidFill>
            <a:prstDash val="solid"/>
          </a:ln>
        </p:spPr>
      </p:sp>
      <p:pic>
        <p:nvPicPr>
          <p:cNvPr id="7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8286" y="2337764"/>
            <a:ext cx="64294" cy="85725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6388298" y="2316333"/>
            <a:ext cx="6107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&lt;1ms Latência</a:t>
            </a:r>
            <a:endParaRPr lang="en-US" sz="600" dirty="0"/>
          </a:p>
        </p:txBody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3681" y="2387771"/>
            <a:ext cx="100013" cy="114300"/>
          </a:xfrm>
          <a:prstGeom prst="rect">
            <a:avLst/>
          </a:prstGeom>
        </p:spPr>
      </p:pic>
      <p:sp>
        <p:nvSpPr>
          <p:cNvPr id="76" name="Shape 60"/>
          <p:cNvSpPr/>
          <p:nvPr/>
        </p:nvSpPr>
        <p:spPr>
          <a:xfrm>
            <a:off x="5101363" y="2566364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7" name="Shape 61"/>
          <p:cNvSpPr/>
          <p:nvPr/>
        </p:nvSpPr>
        <p:spPr>
          <a:xfrm>
            <a:off x="5101363" y="256636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8" name="Shape 62"/>
          <p:cNvSpPr/>
          <p:nvPr/>
        </p:nvSpPr>
        <p:spPr>
          <a:xfrm>
            <a:off x="8171724" y="2566364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9" name="Shape 63"/>
          <p:cNvSpPr/>
          <p:nvPr/>
        </p:nvSpPr>
        <p:spPr>
          <a:xfrm>
            <a:off x="5101363" y="304747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0" name="Shape 64"/>
          <p:cNvSpPr/>
          <p:nvPr/>
        </p:nvSpPr>
        <p:spPr>
          <a:xfrm>
            <a:off x="5101363" y="2566364"/>
            <a:ext cx="42863" cy="495402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81" name="Shape 65"/>
          <p:cNvSpPr/>
          <p:nvPr/>
        </p:nvSpPr>
        <p:spPr>
          <a:xfrm>
            <a:off x="5187088" y="2656889"/>
            <a:ext cx="285750" cy="285750"/>
          </a:xfrm>
          <a:prstGeom prst="ellipse">
            <a:avLst/>
          </a:prstGeom>
          <a:solidFill>
            <a:srgbClr val="009900"/>
          </a:solidFill>
          <a:ln/>
        </p:spPr>
      </p:sp>
      <p:pic>
        <p:nvPicPr>
          <p:cNvPr id="8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49596" y="2735470"/>
            <a:ext cx="160734" cy="128588"/>
          </a:xfrm>
          <a:prstGeom prst="rect">
            <a:avLst/>
          </a:prstGeom>
        </p:spPr>
      </p:pic>
      <p:sp>
        <p:nvSpPr>
          <p:cNvPr id="83" name="Text 66"/>
          <p:cNvSpPr/>
          <p:nvPr/>
        </p:nvSpPr>
        <p:spPr>
          <a:xfrm>
            <a:off x="5558563" y="2652089"/>
            <a:ext cx="154305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Camada de Integração</a:t>
            </a:r>
            <a:endParaRPr lang="en-US" sz="800" dirty="0"/>
          </a:p>
        </p:txBody>
      </p:sp>
      <p:sp>
        <p:nvSpPr>
          <p:cNvPr id="84" name="Text 67"/>
          <p:cNvSpPr/>
          <p:nvPr/>
        </p:nvSpPr>
        <p:spPr>
          <a:xfrm>
            <a:off x="5558563" y="2836041"/>
            <a:ext cx="1543050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Comunicação Interna gRPC/REST</a:t>
            </a:r>
            <a:endParaRPr lang="en-US" sz="650" dirty="0"/>
          </a:p>
        </p:txBody>
      </p:sp>
      <p:pic>
        <p:nvPicPr>
          <p:cNvPr id="8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3681" y="3226073"/>
            <a:ext cx="100013" cy="114300"/>
          </a:xfrm>
          <a:prstGeom prst="rect">
            <a:avLst/>
          </a:prstGeom>
        </p:spPr>
      </p:pic>
      <p:sp>
        <p:nvSpPr>
          <p:cNvPr id="86" name="Shape 68"/>
          <p:cNvSpPr/>
          <p:nvPr/>
        </p:nvSpPr>
        <p:spPr>
          <a:xfrm>
            <a:off x="5101363" y="3404667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7" name="Shape 69"/>
          <p:cNvSpPr/>
          <p:nvPr/>
        </p:nvSpPr>
        <p:spPr>
          <a:xfrm>
            <a:off x="5101363" y="3404667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8" name="Shape 70"/>
          <p:cNvSpPr/>
          <p:nvPr/>
        </p:nvSpPr>
        <p:spPr>
          <a:xfrm>
            <a:off x="8171724" y="3404667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9" name="Shape 71"/>
          <p:cNvSpPr/>
          <p:nvPr/>
        </p:nvSpPr>
        <p:spPr>
          <a:xfrm>
            <a:off x="5101363" y="3885781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0" name="Shape 72"/>
          <p:cNvSpPr/>
          <p:nvPr/>
        </p:nvSpPr>
        <p:spPr>
          <a:xfrm>
            <a:off x="5101363" y="3404667"/>
            <a:ext cx="42863" cy="495402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91" name="Shape 73"/>
          <p:cNvSpPr/>
          <p:nvPr/>
        </p:nvSpPr>
        <p:spPr>
          <a:xfrm>
            <a:off x="5187088" y="3495191"/>
            <a:ext cx="285750" cy="285750"/>
          </a:xfrm>
          <a:prstGeom prst="ellipse">
            <a:avLst/>
          </a:prstGeom>
          <a:solidFill>
            <a:srgbClr val="009900"/>
          </a:solidFill>
          <a:ln/>
        </p:spPr>
      </p:sp>
      <p:pic>
        <p:nvPicPr>
          <p:cNvPr id="9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65669" y="3573773"/>
            <a:ext cx="128588" cy="128588"/>
          </a:xfrm>
          <a:prstGeom prst="rect">
            <a:avLst/>
          </a:prstGeom>
        </p:spPr>
      </p:pic>
      <p:sp>
        <p:nvSpPr>
          <p:cNvPr id="93" name="Text 74"/>
          <p:cNvSpPr/>
          <p:nvPr/>
        </p:nvSpPr>
        <p:spPr>
          <a:xfrm>
            <a:off x="5558563" y="3490392"/>
            <a:ext cx="175914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Aplicação DUPIE Interna</a:t>
            </a:r>
            <a:endParaRPr lang="en-US" sz="800" dirty="0"/>
          </a:p>
        </p:txBody>
      </p:sp>
      <p:sp>
        <p:nvSpPr>
          <p:cNvPr id="94" name="Text 75"/>
          <p:cNvSpPr/>
          <p:nvPr/>
        </p:nvSpPr>
        <p:spPr>
          <a:xfrm>
            <a:off x="5558563" y="3674343"/>
            <a:ext cx="1759148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Processamento em Data Center Local</a:t>
            </a:r>
            <a:endParaRPr lang="en-US" sz="650" dirty="0"/>
          </a:p>
        </p:txBody>
      </p:sp>
      <p:pic>
        <p:nvPicPr>
          <p:cNvPr id="9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3681" y="4064375"/>
            <a:ext cx="100013" cy="114300"/>
          </a:xfrm>
          <a:prstGeom prst="rect">
            <a:avLst/>
          </a:prstGeom>
        </p:spPr>
      </p:pic>
      <p:sp>
        <p:nvSpPr>
          <p:cNvPr id="96" name="Shape 76"/>
          <p:cNvSpPr/>
          <p:nvPr/>
        </p:nvSpPr>
        <p:spPr>
          <a:xfrm>
            <a:off x="5101363" y="4242969"/>
            <a:ext cx="3084649" cy="4954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7" name="Shape 77"/>
          <p:cNvSpPr/>
          <p:nvPr/>
        </p:nvSpPr>
        <p:spPr>
          <a:xfrm>
            <a:off x="5101363" y="4242969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8" name="Shape 78"/>
          <p:cNvSpPr/>
          <p:nvPr/>
        </p:nvSpPr>
        <p:spPr>
          <a:xfrm>
            <a:off x="8171724" y="4242969"/>
            <a:ext cx="14288" cy="49540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9" name="Shape 79"/>
          <p:cNvSpPr/>
          <p:nvPr/>
        </p:nvSpPr>
        <p:spPr>
          <a:xfrm>
            <a:off x="5101363" y="4724084"/>
            <a:ext cx="3084649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0" name="Shape 80"/>
          <p:cNvSpPr/>
          <p:nvPr/>
        </p:nvSpPr>
        <p:spPr>
          <a:xfrm>
            <a:off x="5101363" y="4242969"/>
            <a:ext cx="42863" cy="495402"/>
          </a:xfrm>
          <a:prstGeom prst="rect">
            <a:avLst/>
          </a:prstGeom>
          <a:solidFill>
            <a:srgbClr val="009900"/>
          </a:solidFill>
          <a:ln/>
        </p:spPr>
      </p:sp>
      <p:sp>
        <p:nvSpPr>
          <p:cNvPr id="101" name="Shape 81"/>
          <p:cNvSpPr/>
          <p:nvPr/>
        </p:nvSpPr>
        <p:spPr>
          <a:xfrm>
            <a:off x="5187088" y="4333494"/>
            <a:ext cx="285750" cy="285750"/>
          </a:xfrm>
          <a:prstGeom prst="ellipse">
            <a:avLst/>
          </a:prstGeom>
          <a:solidFill>
            <a:srgbClr val="009900"/>
          </a:solidFill>
          <a:ln/>
        </p:spPr>
      </p:sp>
      <p:pic>
        <p:nvPicPr>
          <p:cNvPr id="10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73706" y="4412075"/>
            <a:ext cx="112514" cy="128588"/>
          </a:xfrm>
          <a:prstGeom prst="rect">
            <a:avLst/>
          </a:prstGeom>
        </p:spPr>
      </p:pic>
      <p:sp>
        <p:nvSpPr>
          <p:cNvPr id="103" name="Text 82"/>
          <p:cNvSpPr/>
          <p:nvPr/>
        </p:nvSpPr>
        <p:spPr>
          <a:xfrm>
            <a:off x="5558563" y="4328694"/>
            <a:ext cx="2030611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Banco de Dados &amp; Message Queue</a:t>
            </a:r>
            <a:endParaRPr lang="en-US" sz="800" dirty="0"/>
          </a:p>
        </p:txBody>
      </p:sp>
      <p:sp>
        <p:nvSpPr>
          <p:cNvPr id="104" name="Text 83"/>
          <p:cNvSpPr/>
          <p:nvPr/>
        </p:nvSpPr>
        <p:spPr>
          <a:xfrm>
            <a:off x="5558563" y="4512645"/>
            <a:ext cx="2030611" cy="1114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Persistência e Notificações Síncronas</a:t>
            </a:r>
            <a:endParaRPr lang="en-US" sz="650" dirty="0"/>
          </a:p>
        </p:txBody>
      </p:sp>
      <p:sp>
        <p:nvSpPr>
          <p:cNvPr id="105" name="Shape 84"/>
          <p:cNvSpPr/>
          <p:nvPr/>
        </p:nvSpPr>
        <p:spPr>
          <a:xfrm>
            <a:off x="4829175" y="4709796"/>
            <a:ext cx="3629025" cy="423267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06" name="Text 85"/>
          <p:cNvSpPr/>
          <p:nvPr/>
        </p:nvSpPr>
        <p:spPr>
          <a:xfrm>
            <a:off x="5263158" y="4766946"/>
            <a:ext cx="32146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2-4h</a:t>
            </a:r>
            <a:endParaRPr lang="en-US" sz="900" dirty="0"/>
          </a:p>
        </p:txBody>
      </p:sp>
      <p:sp>
        <p:nvSpPr>
          <p:cNvPr id="107" name="Text 86"/>
          <p:cNvSpPr/>
          <p:nvPr/>
        </p:nvSpPr>
        <p:spPr>
          <a:xfrm>
            <a:off x="5347990" y="4959827"/>
            <a:ext cx="1518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RTO</a:t>
            </a:r>
            <a:endParaRPr lang="en-US" sz="550" dirty="0"/>
          </a:p>
        </p:txBody>
      </p:sp>
      <p:sp>
        <p:nvSpPr>
          <p:cNvPr id="108" name="Text 87"/>
          <p:cNvSpPr/>
          <p:nvPr/>
        </p:nvSpPr>
        <p:spPr>
          <a:xfrm>
            <a:off x="6338292" y="4766946"/>
            <a:ext cx="50184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9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Manual</a:t>
            </a:r>
            <a:endParaRPr lang="en-US" sz="900" dirty="0"/>
          </a:p>
        </p:txBody>
      </p:sp>
      <p:sp>
        <p:nvSpPr>
          <p:cNvPr id="109" name="Text 88"/>
          <p:cNvSpPr/>
          <p:nvPr/>
        </p:nvSpPr>
        <p:spPr>
          <a:xfrm>
            <a:off x="6445448" y="4959827"/>
            <a:ext cx="2875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ESCALA</a:t>
            </a:r>
            <a:endParaRPr lang="en-US" sz="550" dirty="0"/>
          </a:p>
        </p:txBody>
      </p:sp>
      <p:sp>
        <p:nvSpPr>
          <p:cNvPr id="110" name="Text 89"/>
          <p:cNvSpPr/>
          <p:nvPr/>
        </p:nvSpPr>
        <p:spPr>
          <a:xfrm>
            <a:off x="7593806" y="4766946"/>
            <a:ext cx="4304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CAPEX</a:t>
            </a:r>
            <a:endParaRPr lang="en-US" sz="900" dirty="0"/>
          </a:p>
        </p:txBody>
      </p:sp>
      <p:sp>
        <p:nvSpPr>
          <p:cNvPr id="111" name="Text 90"/>
          <p:cNvSpPr/>
          <p:nvPr/>
        </p:nvSpPr>
        <p:spPr>
          <a:xfrm>
            <a:off x="7675959" y="4959827"/>
            <a:ext cx="26610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994767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Estratégias de Integração com Sistemas Legados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497676"/>
            <a:ext cx="3893344" cy="3720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97676"/>
            <a:ext cx="3893344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94117"/>
            <a:ext cx="19645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541" y="1554826"/>
            <a:ext cx="2312789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 Dupie)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8650" y="1876295"/>
            <a:ext cx="3779044" cy="453628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628650" y="1876295"/>
            <a:ext cx="28575" cy="453628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" name="Text 8"/>
          <p:cNvSpPr/>
          <p:nvPr/>
        </p:nvSpPr>
        <p:spPr>
          <a:xfrm>
            <a:off x="628650" y="1876295"/>
            <a:ext cx="3779044" cy="45362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Padrão: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APIs RESTful + Webhooks para notificações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assíncronas.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50474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5813" y="2415648"/>
            <a:ext cx="89118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Fluxo de Dados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628650" y="2663893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legado (Core) envia requisição via API REST.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28650" y="2856774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processa a transação em sua infraestrutura.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28650" y="3049656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Webhooks notificam o Banco sobre mudanças de status (aprovação, liquidação).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28650" y="267818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19" name="Text 14"/>
          <p:cNvSpPr/>
          <p:nvPr/>
        </p:nvSpPr>
        <p:spPr>
          <a:xfrm>
            <a:off x="628650" y="287106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0" name="Text 15"/>
          <p:cNvSpPr/>
          <p:nvPr/>
        </p:nvSpPr>
        <p:spPr>
          <a:xfrm>
            <a:off x="628650" y="306394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513106"/>
            <a:ext cx="100013" cy="1000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5813" y="3478281"/>
            <a:ext cx="106263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Técnicos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628650" y="3726526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de Rede: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Overhead de 50-100ms por requisição externa.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628650" y="3919407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Rate Limiting: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Limites de APIs (tipicamente 1k-5k TPS).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628650" y="4112289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Dependência: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Queda de conectividade paralisa o processamento.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628650" y="374081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7" name="Text 21"/>
          <p:cNvSpPr/>
          <p:nvPr/>
        </p:nvSpPr>
        <p:spPr>
          <a:xfrm>
            <a:off x="628650" y="393369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22"/>
          <p:cNvSpPr/>
          <p:nvPr/>
        </p:nvSpPr>
        <p:spPr>
          <a:xfrm>
            <a:off x="628650" y="4126576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425721"/>
            <a:ext cx="100013" cy="10001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5813" y="4390895"/>
            <a:ext cx="156269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Mitigações Arquitetônicas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28650" y="4639140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Implementação de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Circuit Breaker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Retry Logic.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628650" y="4832021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de filas assíncronas (RabbitMQ/Kafka) para absorver picos.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4679156" y="1497676"/>
            <a:ext cx="3893344" cy="3720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4679156" y="1497676"/>
            <a:ext cx="3893344" cy="28575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28"/>
          <p:cNvSpPr/>
          <p:nvPr/>
        </p:nvSpPr>
        <p:spPr>
          <a:xfrm>
            <a:off x="628650" y="465342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6" name="Text 29"/>
          <p:cNvSpPr/>
          <p:nvPr/>
        </p:nvSpPr>
        <p:spPr>
          <a:xfrm>
            <a:off x="628650" y="484630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306" y="1594117"/>
            <a:ext cx="157163" cy="15716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964906" y="1554826"/>
            <a:ext cx="16019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736306" y="1876295"/>
            <a:ext cx="3779044" cy="453628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40" name="Shape 32"/>
          <p:cNvSpPr/>
          <p:nvPr/>
        </p:nvSpPr>
        <p:spPr>
          <a:xfrm>
            <a:off x="4736306" y="1876295"/>
            <a:ext cx="28575" cy="453628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41" name="Text 33"/>
          <p:cNvSpPr/>
          <p:nvPr/>
        </p:nvSpPr>
        <p:spPr>
          <a:xfrm>
            <a:off x="4736306" y="1876295"/>
            <a:ext cx="3779044" cy="45362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Padrão: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Integração direta via Banco de Dados ou APIs </a:t>
            </a: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Internas.</a:t>
            </a:r>
            <a:endParaRPr lang="en-US" sz="85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306" y="2450474"/>
            <a:ext cx="87511" cy="10001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880967" y="2415648"/>
            <a:ext cx="89118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Fluxo de Dados</a:t>
            </a:r>
            <a:endParaRPr lang="en-US" sz="800" dirty="0"/>
          </a:p>
        </p:txBody>
      </p:sp>
      <p:sp>
        <p:nvSpPr>
          <p:cNvPr id="44" name="Text 35"/>
          <p:cNvSpPr/>
          <p:nvPr/>
        </p:nvSpPr>
        <p:spPr>
          <a:xfrm>
            <a:off x="4736306" y="2663893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 legado escreve diretamente na base ou via API interna (gRPC/REST).</a:t>
            </a:r>
            <a:endParaRPr lang="en-US" sz="800" dirty="0"/>
          </a:p>
        </p:txBody>
      </p:sp>
      <p:sp>
        <p:nvSpPr>
          <p:cNvPr id="45" name="Text 36"/>
          <p:cNvSpPr/>
          <p:nvPr/>
        </p:nvSpPr>
        <p:spPr>
          <a:xfrm>
            <a:off x="4736306" y="3006793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Processamento ocorre no mesmo data center (latência &lt;1ms).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4736306" y="3199674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Notificações distribuídas via Message Queue interna corporativa.</a:t>
            </a:r>
            <a:endParaRPr lang="en-US" sz="800" dirty="0"/>
          </a:p>
        </p:txBody>
      </p:sp>
      <p:sp>
        <p:nvSpPr>
          <p:cNvPr id="47" name="Text 38"/>
          <p:cNvSpPr/>
          <p:nvPr/>
        </p:nvSpPr>
        <p:spPr>
          <a:xfrm>
            <a:off x="4736306" y="267818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8" name="Text 39"/>
          <p:cNvSpPr/>
          <p:nvPr/>
        </p:nvSpPr>
        <p:spPr>
          <a:xfrm>
            <a:off x="4736306" y="302108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49" name="Text 40"/>
          <p:cNvSpPr/>
          <p:nvPr/>
        </p:nvSpPr>
        <p:spPr>
          <a:xfrm>
            <a:off x="4736306" y="321396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306" y="3513106"/>
            <a:ext cx="100013" cy="100013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893469" y="3478281"/>
            <a:ext cx="121800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Vantagens Técnicas</a:t>
            </a:r>
            <a:endParaRPr lang="en-US" sz="800" dirty="0"/>
          </a:p>
        </p:txBody>
      </p:sp>
      <p:sp>
        <p:nvSpPr>
          <p:cNvPr id="52" name="Text 42"/>
          <p:cNvSpPr/>
          <p:nvPr/>
        </p:nvSpPr>
        <p:spPr>
          <a:xfrm>
            <a:off x="4736306" y="3726526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Baixa Latência: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Comunicação local elimina overhead de rede externa.</a:t>
            </a:r>
            <a:endParaRPr lang="en-US" sz="750" dirty="0"/>
          </a:p>
        </p:txBody>
      </p:sp>
      <p:sp>
        <p:nvSpPr>
          <p:cNvPr id="53" name="Text 43"/>
          <p:cNvSpPr/>
          <p:nvPr/>
        </p:nvSpPr>
        <p:spPr>
          <a:xfrm>
            <a:off x="4736306" y="4069426"/>
            <a:ext cx="3779044" cy="3000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Consistência: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Possibilidade de transações distribuídas (2-phase commit).</a:t>
            </a:r>
            <a:endParaRPr lang="en-US" sz="750" dirty="0"/>
          </a:p>
        </p:txBody>
      </p:sp>
      <p:sp>
        <p:nvSpPr>
          <p:cNvPr id="54" name="Text 44"/>
          <p:cNvSpPr/>
          <p:nvPr/>
        </p:nvSpPr>
        <p:spPr>
          <a:xfrm>
            <a:off x="4736306" y="374081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5" name="Text 45"/>
          <p:cNvSpPr/>
          <p:nvPr/>
        </p:nvSpPr>
        <p:spPr>
          <a:xfrm>
            <a:off x="4736306" y="408371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306" y="4532877"/>
            <a:ext cx="100013" cy="100013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4893469" y="4498051"/>
            <a:ext cx="106263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Desafios Técnicos</a:t>
            </a:r>
            <a:endParaRPr lang="en-US" sz="800" dirty="0"/>
          </a:p>
        </p:txBody>
      </p:sp>
      <p:sp>
        <p:nvSpPr>
          <p:cNvPr id="58" name="Text 47"/>
          <p:cNvSpPr/>
          <p:nvPr/>
        </p:nvSpPr>
        <p:spPr>
          <a:xfrm>
            <a:off x="4736306" y="4746296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Complexidade: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Desenho de integração não é plug-and-play.</a:t>
            </a:r>
            <a:endParaRPr lang="en-US" sz="750" dirty="0"/>
          </a:p>
        </p:txBody>
      </p:sp>
      <p:sp>
        <p:nvSpPr>
          <p:cNvPr id="59" name="Text 48"/>
          <p:cNvSpPr/>
          <p:nvPr/>
        </p:nvSpPr>
        <p:spPr>
          <a:xfrm>
            <a:off x="4736306" y="4939178"/>
            <a:ext cx="3779044" cy="150019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Acoplamento: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de acoplamento forte entre o Core e o DUPIE.</a:t>
            </a:r>
            <a:endParaRPr lang="en-US" sz="750" dirty="0"/>
          </a:p>
        </p:txBody>
      </p:sp>
      <p:sp>
        <p:nvSpPr>
          <p:cNvPr id="60" name="Text 49"/>
          <p:cNvSpPr/>
          <p:nvPr/>
        </p:nvSpPr>
        <p:spPr>
          <a:xfrm>
            <a:off x="4736306" y="4760584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61" name="Text 50"/>
          <p:cNvSpPr/>
          <p:nvPr/>
        </p:nvSpPr>
        <p:spPr>
          <a:xfrm>
            <a:off x="4736306" y="495346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FF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Postura de Segurança: Controles Críticos em Ambos os Modelos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650541"/>
            <a:ext cx="5089196" cy="3315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50541"/>
            <a:ext cx="5089196" cy="285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650541"/>
            <a:ext cx="1272285" cy="43219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6"/>
          <p:cNvSpPr/>
          <p:nvPr/>
        </p:nvSpPr>
        <p:spPr>
          <a:xfrm>
            <a:off x="1836641" y="1650541"/>
            <a:ext cx="7144" cy="432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068450"/>
            <a:ext cx="127228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1650541"/>
            <a:ext cx="1272285" cy="432197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Controle de Segurança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843785" y="1650541"/>
            <a:ext cx="1272285" cy="43219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3108927" y="1650541"/>
            <a:ext cx="7144" cy="432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843785" y="2068450"/>
            <a:ext cx="127228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5" name="Text 12"/>
          <p:cNvSpPr/>
          <p:nvPr/>
        </p:nvSpPr>
        <p:spPr>
          <a:xfrm>
            <a:off x="1843785" y="1650541"/>
            <a:ext cx="1272285" cy="432197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SaaS (Evertec)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116070" y="1650541"/>
            <a:ext cx="1272285" cy="43219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4381212" y="1650541"/>
            <a:ext cx="7144" cy="432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116070" y="2068450"/>
            <a:ext cx="127228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9" name="Text 16"/>
          <p:cNvSpPr/>
          <p:nvPr/>
        </p:nvSpPr>
        <p:spPr>
          <a:xfrm>
            <a:off x="3116070" y="1650541"/>
            <a:ext cx="1272285" cy="432197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On-Premise (Banco)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388355" y="1650541"/>
            <a:ext cx="1272341" cy="425053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1" name="Shape 18"/>
          <p:cNvSpPr/>
          <p:nvPr/>
        </p:nvSpPr>
        <p:spPr>
          <a:xfrm>
            <a:off x="4388355" y="2061307"/>
            <a:ext cx="1272341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22" name="Text 19"/>
          <p:cNvSpPr/>
          <p:nvPr/>
        </p:nvSpPr>
        <p:spPr>
          <a:xfrm>
            <a:off x="4388355" y="1650541"/>
            <a:ext cx="1272341" cy="425053"/>
          </a:xfrm>
          <a:prstGeom prst="rect">
            <a:avLst/>
          </a:prstGeom>
          <a:noFill/>
          <a:ln/>
        </p:spPr>
        <p:txBody>
          <a:bodyPr wrap="none" lIns="127508" tIns="51054" rIns="127508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 se Ausente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71500" y="2075594"/>
            <a:ext cx="1272285" cy="450754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836641" y="2075594"/>
            <a:ext cx="7144" cy="45075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2519204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2075594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WAF (Web App Firewall)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843785" y="2075594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implementa e gerencia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116070" y="2075594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e gerencia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388355" y="2075594"/>
            <a:ext cx="1272341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Exposição a ataques OWASP Top 10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71500" y="2526348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836641" y="2526348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2843519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" y="252634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MFA (Múltiplo Fator)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843785" y="252634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Obrigatória para acessos admin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3116070" y="252634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Integrada com IAM corporativo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388355" y="2526348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Comprometimento de credenciais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571500" y="2850663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836641" y="2850663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9" name="Shape 36"/>
          <p:cNvSpPr/>
          <p:nvPr/>
        </p:nvSpPr>
        <p:spPr>
          <a:xfrm>
            <a:off x="571500" y="3167835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0" name="Text 37"/>
          <p:cNvSpPr/>
          <p:nvPr/>
        </p:nvSpPr>
        <p:spPr>
          <a:xfrm>
            <a:off x="571500" y="285066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 em Trânsito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843785" y="285066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garante (TLS 1.3)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3116070" y="285066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e valida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388355" y="2850663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Interceptação de dados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571500" y="3174978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836641" y="3174978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6" name="Shape 43"/>
          <p:cNvSpPr/>
          <p:nvPr/>
        </p:nvSpPr>
        <p:spPr>
          <a:xfrm>
            <a:off x="571500" y="3492150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7" name="Text 44"/>
          <p:cNvSpPr/>
          <p:nvPr/>
        </p:nvSpPr>
        <p:spPr>
          <a:xfrm>
            <a:off x="571500" y="317497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Criptografia em Repouso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843785" y="317497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gerencia chaves (KMS)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3116070" y="317497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gerencia via HSM corporativo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388355" y="3174978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Exposição de dados em repouso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571500" y="3499293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836641" y="3499293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3" name="Shape 50"/>
          <p:cNvSpPr/>
          <p:nvPr/>
        </p:nvSpPr>
        <p:spPr>
          <a:xfrm>
            <a:off x="571500" y="3816465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4" name="Text 51"/>
          <p:cNvSpPr/>
          <p:nvPr/>
        </p:nvSpPr>
        <p:spPr>
          <a:xfrm>
            <a:off x="571500" y="349929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Acessos (RBAC)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843785" y="349929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fornece, Banco valida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3116070" y="3499293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e gerencia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388355" y="3499293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Acesso não autorizado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571500" y="3823608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836641" y="3823608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0" name="Shape 57"/>
          <p:cNvSpPr/>
          <p:nvPr/>
        </p:nvSpPr>
        <p:spPr>
          <a:xfrm>
            <a:off x="571500" y="4140780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1" name="Text 58"/>
          <p:cNvSpPr/>
          <p:nvPr/>
        </p:nvSpPr>
        <p:spPr>
          <a:xfrm>
            <a:off x="571500" y="382360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 de Acessos (Logs)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1843785" y="382360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centraliza, Banco audita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3116070" y="3823608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centraliza e audita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4388355" y="3823608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Impossibilidade de rastreabilidade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571500" y="4147924"/>
            <a:ext cx="1272285" cy="324315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1836641" y="4147924"/>
            <a:ext cx="7144" cy="324315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7" name="Shape 64"/>
          <p:cNvSpPr/>
          <p:nvPr/>
        </p:nvSpPr>
        <p:spPr>
          <a:xfrm>
            <a:off x="571500" y="4465095"/>
            <a:ext cx="127228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8" name="Text 65"/>
          <p:cNvSpPr/>
          <p:nvPr/>
        </p:nvSpPr>
        <p:spPr>
          <a:xfrm>
            <a:off x="571500" y="4147924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Vulnerabilidades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1843785" y="4147924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realiza SAST/DAST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3116070" y="4147924"/>
            <a:ext cx="1272285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realiza SAST/DAST contínuo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4388355" y="4147924"/>
            <a:ext cx="1272341" cy="324315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Exploração de falhas conhecidas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571500" y="4472239"/>
            <a:ext cx="1272285" cy="450754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1836641" y="4472239"/>
            <a:ext cx="7144" cy="45075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4" name="Text 71"/>
          <p:cNvSpPr/>
          <p:nvPr/>
        </p:nvSpPr>
        <p:spPr>
          <a:xfrm>
            <a:off x="571500" y="4472239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Subcontratados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1843785" y="4472239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subcontratados da Evertec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3116070" y="4472239"/>
            <a:ext cx="1272285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seus próprios subcontratados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4388355" y="4472239"/>
            <a:ext cx="1272341" cy="450754"/>
          </a:xfrm>
          <a:prstGeom prst="rect">
            <a:avLst/>
          </a:prstGeom>
          <a:noFill/>
          <a:ln/>
        </p:spPr>
        <p:txBody>
          <a:bodyPr wrap="square" lIns="127508" tIns="34036" rIns="127508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 de exfiltração (Caso Sinqia)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5832146" y="1650541"/>
            <a:ext cx="2740354" cy="273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6"/>
          <p:cNvSpPr/>
          <p:nvPr/>
        </p:nvSpPr>
        <p:spPr>
          <a:xfrm>
            <a:off x="5832146" y="1650541"/>
            <a:ext cx="42863" cy="2734438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159" y="1768413"/>
            <a:ext cx="128588" cy="128588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6117896" y="1736266"/>
            <a:ext cx="198774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Caso Sinqia — Lições Técnicas</a:t>
            </a:r>
            <a:endParaRPr lang="en-US" sz="900" dirty="0"/>
          </a:p>
        </p:txBody>
      </p:sp>
      <p:sp>
        <p:nvSpPr>
          <p:cNvPr id="82" name="Text 78"/>
          <p:cNvSpPr/>
          <p:nvPr/>
        </p:nvSpPr>
        <p:spPr>
          <a:xfrm>
            <a:off x="5932159" y="1986297"/>
            <a:ext cx="254032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Vetor de Ataque: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Credenciais de terceiro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(subcontratado) foram comprometidas.</a:t>
            </a:r>
            <a:endParaRPr lang="en-US" sz="700" dirty="0"/>
          </a:p>
        </p:txBody>
      </p:sp>
      <p:sp>
        <p:nvSpPr>
          <p:cNvPr id="83" name="Text 79"/>
          <p:cNvSpPr/>
          <p:nvPr/>
        </p:nvSpPr>
        <p:spPr>
          <a:xfrm>
            <a:off x="5932159" y="2309161"/>
            <a:ext cx="254032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Controles Faltantes: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Falta de MFA em acessos de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terceiros, ausência de allowlists de IP e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inadequado de acessos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anormais.</a:t>
            </a:r>
            <a:endParaRPr lang="en-US" sz="700" dirty="0"/>
          </a:p>
        </p:txBody>
      </p:sp>
      <p:pic>
        <p:nvPicPr>
          <p:cNvPr id="8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59" y="2889898"/>
            <a:ext cx="128588" cy="128588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6117896" y="2857751"/>
            <a:ext cx="200918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 Técnica Obrigatória</a:t>
            </a:r>
            <a:endParaRPr lang="en-US" sz="900" dirty="0"/>
          </a:p>
        </p:txBody>
      </p:sp>
      <p:sp>
        <p:nvSpPr>
          <p:cNvPr id="86" name="Text 81"/>
          <p:cNvSpPr/>
          <p:nvPr/>
        </p:nvSpPr>
        <p:spPr>
          <a:xfrm>
            <a:off x="5932159" y="3107782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MFA para todos os acessos (incluindo terceiros)</a:t>
            </a:r>
            <a:endParaRPr lang="en-US" sz="650" dirty="0"/>
          </a:p>
        </p:txBody>
      </p:sp>
      <p:sp>
        <p:nvSpPr>
          <p:cNvPr id="87" name="Text 82"/>
          <p:cNvSpPr/>
          <p:nvPr/>
        </p:nvSpPr>
        <p:spPr>
          <a:xfrm>
            <a:off x="7238042" y="3107782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Allowlists rigorosas (apenas IPs conhecidos)</a:t>
            </a:r>
            <a:endParaRPr lang="en-US" sz="650" dirty="0"/>
          </a:p>
        </p:txBody>
      </p:sp>
      <p:sp>
        <p:nvSpPr>
          <p:cNvPr id="88" name="Text 83"/>
          <p:cNvSpPr/>
          <p:nvPr/>
        </p:nvSpPr>
        <p:spPr>
          <a:xfrm>
            <a:off x="5932159" y="3512800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contínuo de acessos (SIEM)</a:t>
            </a:r>
            <a:endParaRPr lang="en-US" sz="650" dirty="0"/>
          </a:p>
        </p:txBody>
      </p:sp>
      <p:sp>
        <p:nvSpPr>
          <p:cNvPr id="89" name="Text 84"/>
          <p:cNvSpPr/>
          <p:nvPr/>
        </p:nvSpPr>
        <p:spPr>
          <a:xfrm>
            <a:off x="7238042" y="3512800"/>
            <a:ext cx="1234446" cy="36215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Rotação automática de credenciais (90 dias)</a:t>
            </a:r>
            <a:endParaRPr lang="en-US" sz="650" dirty="0"/>
          </a:p>
        </p:txBody>
      </p:sp>
      <p:sp>
        <p:nvSpPr>
          <p:cNvPr id="90" name="Text 85"/>
          <p:cNvSpPr/>
          <p:nvPr/>
        </p:nvSpPr>
        <p:spPr>
          <a:xfrm>
            <a:off x="5932159" y="3917817"/>
            <a:ext cx="1234446" cy="241436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Segmentação de rede estrita</a:t>
            </a:r>
            <a:endParaRPr lang="en-US" sz="650" dirty="0"/>
          </a:p>
        </p:txBody>
      </p:sp>
      <p:pic>
        <p:nvPicPr>
          <p:cNvPr id="9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159" y="3122070"/>
            <a:ext cx="71438" cy="92869"/>
          </a:xfrm>
          <a:prstGeom prst="rect">
            <a:avLst/>
          </a:prstGeom>
        </p:spPr>
      </p:pic>
      <p:pic>
        <p:nvPicPr>
          <p:cNvPr id="9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042" y="3122070"/>
            <a:ext cx="71438" cy="92869"/>
          </a:xfrm>
          <a:prstGeom prst="rect">
            <a:avLst/>
          </a:prstGeom>
        </p:spPr>
      </p:pic>
      <p:pic>
        <p:nvPicPr>
          <p:cNvPr id="9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159" y="3527087"/>
            <a:ext cx="71438" cy="92869"/>
          </a:xfrm>
          <a:prstGeom prst="rect">
            <a:avLst/>
          </a:prstGeom>
        </p:spPr>
      </p:pic>
      <p:pic>
        <p:nvPicPr>
          <p:cNvPr id="9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042" y="3527087"/>
            <a:ext cx="71438" cy="92869"/>
          </a:xfrm>
          <a:prstGeom prst="rect">
            <a:avLst/>
          </a:prstGeom>
        </p:spPr>
      </p:pic>
      <p:pic>
        <p:nvPicPr>
          <p:cNvPr id="9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159" y="3932104"/>
            <a:ext cx="71438" cy="928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028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28625" y="994767"/>
            <a:ext cx="8286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Operações: Escalabilidade, Performance e Capacidade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28625" y="2036304"/>
            <a:ext cx="5286375" cy="32458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2036304"/>
            <a:ext cx="5286375" cy="285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2036304"/>
            <a:ext cx="1105495" cy="53578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6"/>
          <p:cNvSpPr/>
          <p:nvPr/>
        </p:nvSpPr>
        <p:spPr>
          <a:xfrm>
            <a:off x="1526977" y="2036304"/>
            <a:ext cx="7144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557797"/>
            <a:ext cx="1105495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036304"/>
            <a:ext cx="1105495" cy="535781"/>
          </a:xfrm>
          <a:prstGeom prst="rect">
            <a:avLst/>
          </a:prstGeom>
          <a:noFill/>
          <a:ln/>
        </p:spPr>
        <p:txBody>
          <a:bodyPr wrap="none" lIns="136017" tIns="85090" rIns="136017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Métrica / Operação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34120" y="2036304"/>
            <a:ext cx="2091696" cy="53578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8672" y="2036304"/>
            <a:ext cx="7144" cy="5357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534120" y="2557797"/>
            <a:ext cx="2091696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5" name="Text 12"/>
          <p:cNvSpPr/>
          <p:nvPr/>
        </p:nvSpPr>
        <p:spPr>
          <a:xfrm>
            <a:off x="1534120" y="2036304"/>
            <a:ext cx="2091696" cy="535781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Modelo SaaS (Evertec Dupie)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25816" y="2036304"/>
            <a:ext cx="2089184" cy="53578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5816" y="2557797"/>
            <a:ext cx="2089184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18" name="Text 15"/>
          <p:cNvSpPr/>
          <p:nvPr/>
        </p:nvSpPr>
        <p:spPr>
          <a:xfrm>
            <a:off x="3625816" y="2036304"/>
            <a:ext cx="2089184" cy="535781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Modelo On-Premise (Interno)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625" y="2564941"/>
            <a:ext cx="1105495" cy="59215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26977" y="2564941"/>
            <a:ext cx="7144" cy="59215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149947"/>
            <a:ext cx="1105495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2564941"/>
            <a:ext cx="1105495" cy="592150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Escalabilidade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644848" y="2631021"/>
            <a:ext cx="159305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Automática (Auto-scaling)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644848" y="2631021"/>
            <a:ext cx="1753791" cy="4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Sem necessidade de capacity planning.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741818" y="2631021"/>
            <a:ext cx="43755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Manual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41818" y="2631021"/>
            <a:ext cx="1775222" cy="4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Requer planejamento de capacidade e investimento prévio.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28625" y="3157091"/>
            <a:ext cx="1101923" cy="595722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523405" y="3157091"/>
            <a:ext cx="7144" cy="595722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3745669"/>
            <a:ext cx="110192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0" name="Text 27"/>
          <p:cNvSpPr/>
          <p:nvPr/>
        </p:nvSpPr>
        <p:spPr>
          <a:xfrm>
            <a:off x="428625" y="3157091"/>
            <a:ext cx="1101923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Throughput Estimado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530548" y="3157091"/>
            <a:ext cx="2093398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5.000 a 10.000 TPS (Transações por Segundo).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623946" y="3157091"/>
            <a:ext cx="2091054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Depende da infraestrutura provisionada (5k-20k TPS com HW adequado).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28625" y="3752813"/>
            <a:ext cx="1101923" cy="447154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523405" y="3752813"/>
            <a:ext cx="7144" cy="44715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4192823"/>
            <a:ext cx="110192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36" name="Text 33"/>
          <p:cNvSpPr/>
          <p:nvPr/>
        </p:nvSpPr>
        <p:spPr>
          <a:xfrm>
            <a:off x="428625" y="3752813"/>
            <a:ext cx="1101923" cy="44715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de Integração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644848" y="3822464"/>
            <a:ext cx="65186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100-200ms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644848" y="3822464"/>
            <a:ext cx="1764506" cy="3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(overhead de rede externa + processamento).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741762" y="3822464"/>
            <a:ext cx="29110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&lt;1ms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741762" y="3822464"/>
            <a:ext cx="1809155" cy="3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(comunicação interna ao data center).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28625" y="4199967"/>
            <a:ext cx="1101923" cy="595722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523405" y="4199967"/>
            <a:ext cx="7144" cy="595722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3" name="Shape 40"/>
          <p:cNvSpPr/>
          <p:nvPr/>
        </p:nvSpPr>
        <p:spPr>
          <a:xfrm>
            <a:off x="428625" y="4788545"/>
            <a:ext cx="110192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4" name="Text 41"/>
          <p:cNvSpPr/>
          <p:nvPr/>
        </p:nvSpPr>
        <p:spPr>
          <a:xfrm>
            <a:off x="428625" y="4199967"/>
            <a:ext cx="1101923" cy="59572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Patches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644848" y="4269618"/>
            <a:ext cx="86618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8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Zero Downtime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644848" y="4269618"/>
            <a:ext cx="1687711" cy="4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(rolling deployment gerenciado pela Evertec).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3741762" y="4269618"/>
            <a:ext cx="119122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99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Downtime Planejado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741762" y="4418186"/>
            <a:ext cx="1571625" cy="3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(tipicamente 2-4 horas em janelas de manutenção).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28625" y="4795689"/>
            <a:ext cx="1101923" cy="443582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1523405" y="4795689"/>
            <a:ext cx="7144" cy="443582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1" name="Text 48"/>
          <p:cNvSpPr/>
          <p:nvPr/>
        </p:nvSpPr>
        <p:spPr>
          <a:xfrm>
            <a:off x="428625" y="4795689"/>
            <a:ext cx="1101923" cy="44358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de Custo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530548" y="4795689"/>
            <a:ext cx="2093342" cy="44358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OPEX (Pay-as-you-go). Escala linearmente com o volume.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623890" y="4795689"/>
            <a:ext cx="2091110" cy="443582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CAPEX (Infraestrutura) + OPEX (Equipe, energia, licenças).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000750" y="2036304"/>
            <a:ext cx="2714625" cy="366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2"/>
          <p:cNvSpPr/>
          <p:nvPr/>
        </p:nvSpPr>
        <p:spPr>
          <a:xfrm>
            <a:off x="6000750" y="2036304"/>
            <a:ext cx="42863" cy="3666530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763" y="2250616"/>
            <a:ext cx="144661" cy="128588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6302573" y="2122029"/>
            <a:ext cx="231278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Comportamento em Cenários de Estresse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6100763" y="2579229"/>
            <a:ext cx="1566267" cy="3037880"/>
          </a:xfrm>
          <a:prstGeom prst="rect">
            <a:avLst/>
          </a:prstGeom>
          <a:solidFill>
            <a:srgbClr val="003366">
              <a:alpha val="3000"/>
            </a:srgbClr>
          </a:solidFill>
          <a:ln w="9144">
            <a:solidFill>
              <a:srgbClr val="003366">
                <a:alpha val="1000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172200" y="2650666"/>
            <a:ext cx="1409105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Crescimento Súbito de 50% no Volume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6172200" y="3047144"/>
            <a:ext cx="1409105" cy="144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Absorve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automaticamente via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auto-scaling. Custo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aumenta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proporcionalmente.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Requer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compra/provisionamento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novos servidores.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Risco de gargalo se não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antecipado.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7738467" y="2579229"/>
            <a:ext cx="1089422" cy="3037880"/>
          </a:xfrm>
          <a:prstGeom prst="rect">
            <a:avLst/>
          </a:prstGeom>
          <a:solidFill>
            <a:srgbClr val="003366">
              <a:alpha val="3000"/>
            </a:srgbClr>
          </a:solidFill>
          <a:ln w="9144">
            <a:solidFill>
              <a:srgbClr val="003366">
                <a:alpha val="1000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809905" y="2650666"/>
            <a:ext cx="932259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Pico de Carga Extremo (ex: Black Friday)</a:t>
            </a:r>
            <a:endParaRPr lang="en-US" sz="800" dirty="0"/>
          </a:p>
        </p:txBody>
      </p:sp>
      <p:sp>
        <p:nvSpPr>
          <p:cNvPr id="63" name="Text 59"/>
          <p:cNvSpPr/>
          <p:nvPr/>
        </p:nvSpPr>
        <p:spPr>
          <a:xfrm>
            <a:off x="7809905" y="3216808"/>
            <a:ext cx="932259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Filas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(Message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Queues)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absorvem 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pico. Risco 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"noisy neighbor"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a cloud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saturar.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degradação 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ou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indisponibilidade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o limite do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for </a:t>
            </a:r>
            <a:r>
              <a:rPr lang="en-US" sz="8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atingido.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63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Regulatória: LGPD e BCB 339/2023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390520"/>
            <a:ext cx="8001000" cy="385763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90520"/>
            <a:ext cx="42863" cy="385763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511964"/>
            <a:ext cx="17859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0119" y="1476245"/>
            <a:ext cx="13894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Requisitos BCB 339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878" y="1540539"/>
            <a:ext cx="85725" cy="857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96753" y="1503034"/>
            <a:ext cx="9358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Seguro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884" y="1540539"/>
            <a:ext cx="85725" cy="857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89759" y="1503034"/>
            <a:ext cx="157698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Controlado/Auditado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042" y="1540539"/>
            <a:ext cx="85725" cy="857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623917" y="1503034"/>
            <a:ext cx="137338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 e DR Obrigatórios</a:t>
            </a:r>
            <a:endParaRPr lang="en-US" sz="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1603" y="1540539"/>
            <a:ext cx="85725" cy="857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254478" y="1503034"/>
            <a:ext cx="109478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Conformidade LGPD</a:t>
            </a:r>
            <a:endParaRPr lang="en-US" sz="800" dirty="0"/>
          </a:p>
        </p:txBody>
      </p:sp>
      <p:sp>
        <p:nvSpPr>
          <p:cNvPr id="18" name="Shape 10"/>
          <p:cNvSpPr/>
          <p:nvPr/>
        </p:nvSpPr>
        <p:spPr>
          <a:xfrm>
            <a:off x="571500" y="1904870"/>
            <a:ext cx="3929063" cy="32514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1"/>
          <p:cNvSpPr/>
          <p:nvPr/>
        </p:nvSpPr>
        <p:spPr>
          <a:xfrm>
            <a:off x="571500" y="1904870"/>
            <a:ext cx="3929063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029885"/>
            <a:ext cx="196453" cy="1571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82266" y="1990595"/>
            <a:ext cx="181272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(Evertec)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2437079"/>
            <a:ext cx="160734" cy="128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7972" y="2404932"/>
            <a:ext cx="131802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LGPD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700088" y="2654964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Papel: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Evertec é processadora; Banco é controlador.</a:t>
            </a:r>
            <a:endParaRPr lang="en-US" sz="750" dirty="0"/>
          </a:p>
        </p:txBody>
      </p:sp>
      <p:sp>
        <p:nvSpPr>
          <p:cNvPr id="25" name="Text 15"/>
          <p:cNvSpPr/>
          <p:nvPr/>
        </p:nvSpPr>
        <p:spPr>
          <a:xfrm>
            <a:off x="700088" y="2862132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Contrato: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DPA (Data Processing Agreement) obrigatório.</a:t>
            </a:r>
            <a:endParaRPr lang="en-US" sz="750" dirty="0"/>
          </a:p>
        </p:txBody>
      </p:sp>
      <p:sp>
        <p:nvSpPr>
          <p:cNvPr id="26" name="Text 16"/>
          <p:cNvSpPr/>
          <p:nvPr/>
        </p:nvSpPr>
        <p:spPr>
          <a:xfrm>
            <a:off x="700088" y="3069301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Localização de dados incerta (pode estar fora do Brasil, violando LGPD implicitamente).</a:t>
            </a:r>
            <a:endParaRPr lang="en-US" sz="750" dirty="0"/>
          </a:p>
        </p:txBody>
      </p:sp>
      <p:sp>
        <p:nvSpPr>
          <p:cNvPr id="27" name="Text 17"/>
          <p:cNvSpPr/>
          <p:nvPr/>
        </p:nvSpPr>
        <p:spPr>
          <a:xfrm>
            <a:off x="700088" y="266925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18"/>
          <p:cNvSpPr/>
          <p:nvPr/>
        </p:nvSpPr>
        <p:spPr>
          <a:xfrm>
            <a:off x="700088" y="287642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9" name="Text 19"/>
          <p:cNvSpPr/>
          <p:nvPr/>
        </p:nvSpPr>
        <p:spPr>
          <a:xfrm>
            <a:off x="700088" y="308358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8" y="3544360"/>
            <a:ext cx="128588" cy="1285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85825" y="3512214"/>
            <a:ext cx="18788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BCB 339/2023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700088" y="3762245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Validação: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é responsável por validar controles da Evertec.</a:t>
            </a:r>
            <a:endParaRPr lang="en-US" sz="750" dirty="0"/>
          </a:p>
        </p:txBody>
      </p:sp>
      <p:sp>
        <p:nvSpPr>
          <p:cNvPr id="33" name="Text 22"/>
          <p:cNvSpPr/>
          <p:nvPr/>
        </p:nvSpPr>
        <p:spPr>
          <a:xfrm>
            <a:off x="700088" y="3969414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Jurisdição porto-riquenha pode conflitar com regulações brasileiras.</a:t>
            </a:r>
            <a:endParaRPr lang="en-US" sz="750" dirty="0"/>
          </a:p>
        </p:txBody>
      </p:sp>
      <p:sp>
        <p:nvSpPr>
          <p:cNvPr id="34" name="Shape 23"/>
          <p:cNvSpPr/>
          <p:nvPr/>
        </p:nvSpPr>
        <p:spPr>
          <a:xfrm>
            <a:off x="700088" y="4412326"/>
            <a:ext cx="3671888" cy="629710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35" name="Shape 24"/>
          <p:cNvSpPr/>
          <p:nvPr/>
        </p:nvSpPr>
        <p:spPr>
          <a:xfrm>
            <a:off x="700088" y="4412326"/>
            <a:ext cx="28575" cy="62971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6" name="Text 25"/>
          <p:cNvSpPr/>
          <p:nvPr/>
        </p:nvSpPr>
        <p:spPr>
          <a:xfrm>
            <a:off x="700088" y="377653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7" name="Text 26"/>
          <p:cNvSpPr/>
          <p:nvPr/>
        </p:nvSpPr>
        <p:spPr>
          <a:xfrm>
            <a:off x="700088" y="398370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38" name="Text 27"/>
          <p:cNvSpPr/>
          <p:nvPr/>
        </p:nvSpPr>
        <p:spPr>
          <a:xfrm>
            <a:off x="757238" y="4469476"/>
            <a:ext cx="35575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Mitigações Obrigatórias</a:t>
            </a:r>
            <a:endParaRPr lang="en-US" sz="8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238" y="4717721"/>
            <a:ext cx="85725" cy="85725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00113" y="4696290"/>
            <a:ext cx="341471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Cláusula contratual de residência de dados no Brasil e direito de auditoria.</a:t>
            </a:r>
            <a:endParaRPr lang="en-US" sz="750" dirty="0"/>
          </a:p>
        </p:txBody>
      </p:sp>
      <p:sp>
        <p:nvSpPr>
          <p:cNvPr id="41" name="Shape 29"/>
          <p:cNvSpPr/>
          <p:nvPr/>
        </p:nvSpPr>
        <p:spPr>
          <a:xfrm>
            <a:off x="4643438" y="1904870"/>
            <a:ext cx="3929063" cy="32228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0"/>
          <p:cNvSpPr/>
          <p:nvPr/>
        </p:nvSpPr>
        <p:spPr>
          <a:xfrm>
            <a:off x="4643438" y="1904870"/>
            <a:ext cx="3929063" cy="2857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2029885"/>
            <a:ext cx="157163" cy="157163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014913" y="1990595"/>
            <a:ext cx="16019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1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2025" y="2437079"/>
            <a:ext cx="160734" cy="12858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4989909" y="2404932"/>
            <a:ext cx="131802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LGPD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4772025" y="2654964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Papel: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é controlador e responsável integral.</a:t>
            </a:r>
            <a:endParaRPr lang="en-US" sz="750" dirty="0"/>
          </a:p>
        </p:txBody>
      </p:sp>
      <p:sp>
        <p:nvSpPr>
          <p:cNvPr id="48" name="Text 34"/>
          <p:cNvSpPr/>
          <p:nvPr/>
        </p:nvSpPr>
        <p:spPr>
          <a:xfrm>
            <a:off x="4772025" y="2862132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Implementação: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Controles de acesso, criptografia e auditoria sob responsabilidade do Banco.</a:t>
            </a:r>
            <a:endParaRPr lang="en-US" sz="750" dirty="0"/>
          </a:p>
        </p:txBody>
      </p:sp>
      <p:sp>
        <p:nvSpPr>
          <p:cNvPr id="49" name="Text 35"/>
          <p:cNvSpPr/>
          <p:nvPr/>
        </p:nvSpPr>
        <p:spPr>
          <a:xfrm>
            <a:off x="4772025" y="3219320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Direito de auditoria interna garantido.</a:t>
            </a:r>
            <a:endParaRPr lang="en-US" sz="750" dirty="0"/>
          </a:p>
        </p:txBody>
      </p:sp>
      <p:sp>
        <p:nvSpPr>
          <p:cNvPr id="50" name="Text 36"/>
          <p:cNvSpPr/>
          <p:nvPr/>
        </p:nvSpPr>
        <p:spPr>
          <a:xfrm>
            <a:off x="4772025" y="266925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1" name="Text 37"/>
          <p:cNvSpPr/>
          <p:nvPr/>
        </p:nvSpPr>
        <p:spPr>
          <a:xfrm>
            <a:off x="4772025" y="287642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2" name="Text 38"/>
          <p:cNvSpPr/>
          <p:nvPr/>
        </p:nvSpPr>
        <p:spPr>
          <a:xfrm>
            <a:off x="4772025" y="3233607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2025" y="3544360"/>
            <a:ext cx="128588" cy="128588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957763" y="3512214"/>
            <a:ext cx="187880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BCB 339/2023</a:t>
            </a:r>
            <a:endParaRPr lang="en-US" sz="900" dirty="0"/>
          </a:p>
        </p:txBody>
      </p:sp>
      <p:sp>
        <p:nvSpPr>
          <p:cNvPr id="55" name="Text 40"/>
          <p:cNvSpPr/>
          <p:nvPr/>
        </p:nvSpPr>
        <p:spPr>
          <a:xfrm>
            <a:off x="4772025" y="3762245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Validação: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implementa e valida todos os controles.</a:t>
            </a:r>
            <a:endParaRPr lang="en-US" sz="750" dirty="0"/>
          </a:p>
        </p:txBody>
      </p:sp>
      <p:sp>
        <p:nvSpPr>
          <p:cNvPr id="56" name="Text 41"/>
          <p:cNvSpPr/>
          <p:nvPr/>
        </p:nvSpPr>
        <p:spPr>
          <a:xfrm>
            <a:off x="4772025" y="3969414"/>
            <a:ext cx="3671888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Residência: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Dados residem no Brasil (data center do Banco ou cloud privada brasileira).</a:t>
            </a:r>
            <a:endParaRPr lang="en-US" sz="750" dirty="0"/>
          </a:p>
        </p:txBody>
      </p:sp>
      <p:sp>
        <p:nvSpPr>
          <p:cNvPr id="57" name="Text 42"/>
          <p:cNvSpPr/>
          <p:nvPr/>
        </p:nvSpPr>
        <p:spPr>
          <a:xfrm>
            <a:off x="4772025" y="4326601"/>
            <a:ext cx="3671888" cy="150019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Responsabilidade: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Integral do Banco.</a:t>
            </a:r>
            <a:endParaRPr lang="en-US" sz="750" dirty="0"/>
          </a:p>
        </p:txBody>
      </p:sp>
      <p:sp>
        <p:nvSpPr>
          <p:cNvPr id="58" name="Text 43"/>
          <p:cNvSpPr/>
          <p:nvPr/>
        </p:nvSpPr>
        <p:spPr>
          <a:xfrm>
            <a:off x="4772025" y="3776532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9" name="Text 44"/>
          <p:cNvSpPr/>
          <p:nvPr/>
        </p:nvSpPr>
        <p:spPr>
          <a:xfrm>
            <a:off x="4772025" y="3983701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60" name="Text 45"/>
          <p:cNvSpPr/>
          <p:nvPr/>
        </p:nvSpPr>
        <p:spPr>
          <a:xfrm>
            <a:off x="4772025" y="4340889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284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Resiliência: RTO, RPO e Estratégias de Disaster Recovery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750554"/>
            <a:ext cx="3893344" cy="36779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750554"/>
            <a:ext cx="3893344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875569"/>
            <a:ext cx="196453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2266" y="1836279"/>
            <a:ext cx="181272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SaaS (Evertec)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14375" y="2272047"/>
            <a:ext cx="1750219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714375" y="2272047"/>
            <a:ext cx="28575" cy="61079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" name="Text 8"/>
          <p:cNvSpPr/>
          <p:nvPr/>
        </p:nvSpPr>
        <p:spPr>
          <a:xfrm>
            <a:off x="800100" y="2357772"/>
            <a:ext cx="156448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RTO (Recovery Time)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00100" y="2538152"/>
            <a:ext cx="156448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 Hora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57463" y="2272047"/>
            <a:ext cx="1764506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2557463" y="2272047"/>
            <a:ext cx="28575" cy="610791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6" name="Text 12"/>
          <p:cNvSpPr/>
          <p:nvPr/>
        </p:nvSpPr>
        <p:spPr>
          <a:xfrm>
            <a:off x="2657475" y="2357772"/>
            <a:ext cx="1578769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RPO (Recovery Point)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2657475" y="2538152"/>
            <a:ext cx="157876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15 Minutos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22141"/>
            <a:ext cx="144661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6186" y="2989994"/>
            <a:ext cx="12483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 e Testes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14375" y="3240025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Replicação geográfica (dados replicados em múltiplas regiões AWS/Azure).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714375" y="3597213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Testes de DR: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Evertec realiza testes periódicos (tipicamente trimestrais).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714375" y="3954400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Dependência da Evertec para validar e testar DR; Banco tem visibilidade limitada.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714375" y="4418744"/>
            <a:ext cx="3607594" cy="87402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714375" y="4418744"/>
            <a:ext cx="28575" cy="87402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Text 20"/>
          <p:cNvSpPr/>
          <p:nvPr/>
        </p:nvSpPr>
        <p:spPr>
          <a:xfrm>
            <a:off x="714375" y="325431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6" name="Text 21"/>
          <p:cNvSpPr/>
          <p:nvPr/>
        </p:nvSpPr>
        <p:spPr>
          <a:xfrm>
            <a:off x="714375" y="361150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7" name="Text 22"/>
          <p:cNvSpPr/>
          <p:nvPr/>
        </p:nvSpPr>
        <p:spPr>
          <a:xfrm>
            <a:off x="714375" y="396868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23"/>
          <p:cNvSpPr/>
          <p:nvPr/>
        </p:nvSpPr>
        <p:spPr>
          <a:xfrm>
            <a:off x="800100" y="4504469"/>
            <a:ext cx="343614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Mitigação Contratual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752715"/>
            <a:ext cx="64294" cy="8572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1544" y="4731283"/>
            <a:ext cx="3314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Exigir cláusula contratual para testes de DR semestrais com participação do Banco.</a:t>
            </a:r>
            <a:endParaRPr lang="en-US" sz="7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5055598"/>
            <a:ext cx="64294" cy="8572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1544" y="5034167"/>
            <a:ext cx="228957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Garantia de SLA com penalidades financeiras.</a:t>
            </a:r>
            <a:endParaRPr lang="en-US" sz="750" dirty="0"/>
          </a:p>
        </p:txBody>
      </p:sp>
      <p:sp>
        <p:nvSpPr>
          <p:cNvPr id="33" name="Shape 26"/>
          <p:cNvSpPr/>
          <p:nvPr/>
        </p:nvSpPr>
        <p:spPr>
          <a:xfrm>
            <a:off x="4679156" y="1750554"/>
            <a:ext cx="3893344" cy="3649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4679156" y="1750554"/>
            <a:ext cx="3893344" cy="2857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1875569"/>
            <a:ext cx="157163" cy="15716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050631" y="1836279"/>
            <a:ext cx="16019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4822031" y="2272047"/>
            <a:ext cx="1750219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38" name="Shape 30"/>
          <p:cNvSpPr/>
          <p:nvPr/>
        </p:nvSpPr>
        <p:spPr>
          <a:xfrm>
            <a:off x="4822031" y="2272047"/>
            <a:ext cx="28575" cy="61079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Text 31"/>
          <p:cNvSpPr/>
          <p:nvPr/>
        </p:nvSpPr>
        <p:spPr>
          <a:xfrm>
            <a:off x="4907756" y="2357772"/>
            <a:ext cx="156448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RTO (Recovery Time)</a:t>
            </a:r>
            <a:endParaRPr lang="en-US" sz="700" dirty="0"/>
          </a:p>
        </p:txBody>
      </p:sp>
      <p:sp>
        <p:nvSpPr>
          <p:cNvPr id="40" name="Text 32"/>
          <p:cNvSpPr/>
          <p:nvPr/>
        </p:nvSpPr>
        <p:spPr>
          <a:xfrm>
            <a:off x="4907756" y="2538152"/>
            <a:ext cx="156448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2-4 Horas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6665119" y="2272047"/>
            <a:ext cx="1764506" cy="6107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42" name="Shape 34"/>
          <p:cNvSpPr/>
          <p:nvPr/>
        </p:nvSpPr>
        <p:spPr>
          <a:xfrm>
            <a:off x="6665119" y="2272047"/>
            <a:ext cx="28575" cy="61079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3" name="Text 35"/>
          <p:cNvSpPr/>
          <p:nvPr/>
        </p:nvSpPr>
        <p:spPr>
          <a:xfrm>
            <a:off x="6765131" y="2357772"/>
            <a:ext cx="1578769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RPO (Recovery Point)</a:t>
            </a:r>
            <a:endParaRPr lang="en-US" sz="700" dirty="0"/>
          </a:p>
        </p:txBody>
      </p:sp>
      <p:sp>
        <p:nvSpPr>
          <p:cNvPr id="44" name="Text 36"/>
          <p:cNvSpPr/>
          <p:nvPr/>
        </p:nvSpPr>
        <p:spPr>
          <a:xfrm>
            <a:off x="6765131" y="2538152"/>
            <a:ext cx="157876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 Hora</a:t>
            </a:r>
            <a:endParaRPr lang="en-US" sz="12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3022141"/>
            <a:ext cx="144661" cy="128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023842" y="2989994"/>
            <a:ext cx="12483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 e Testes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4822031" y="3240025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Estratégia: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Site secundário (standby) com replicação de dados em tempo real.</a:t>
            </a:r>
            <a:endParaRPr lang="en-US" sz="750" dirty="0"/>
          </a:p>
        </p:txBody>
      </p:sp>
      <p:sp>
        <p:nvSpPr>
          <p:cNvPr id="48" name="Text 39"/>
          <p:cNvSpPr/>
          <p:nvPr/>
        </p:nvSpPr>
        <p:spPr>
          <a:xfrm>
            <a:off x="4822031" y="3597213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Testes de DR: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Banco realiza testes periódicos (tipicamente semestrais).</a:t>
            </a:r>
            <a:endParaRPr lang="en-US" sz="750" dirty="0"/>
          </a:p>
        </p:txBody>
      </p:sp>
      <p:sp>
        <p:nvSpPr>
          <p:cNvPr id="49" name="Text 40"/>
          <p:cNvSpPr/>
          <p:nvPr/>
        </p:nvSpPr>
        <p:spPr>
          <a:xfrm>
            <a:off x="4822031" y="3954400"/>
            <a:ext cx="3607594" cy="30003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Custo: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Investimento significativo em infraestrutura secundária (50-100% do custo primário).</a:t>
            </a:r>
            <a:endParaRPr lang="en-US" sz="750" dirty="0"/>
          </a:p>
        </p:txBody>
      </p:sp>
      <p:sp>
        <p:nvSpPr>
          <p:cNvPr id="50" name="Shape 41"/>
          <p:cNvSpPr/>
          <p:nvPr/>
        </p:nvSpPr>
        <p:spPr>
          <a:xfrm>
            <a:off x="4822031" y="4418744"/>
            <a:ext cx="3607594" cy="701148"/>
          </a:xfrm>
          <a:prstGeom prst="rect">
            <a:avLst/>
          </a:prstGeom>
          <a:solidFill>
            <a:srgbClr val="333333">
              <a:alpha val="5000"/>
            </a:srgbClr>
          </a:solidFill>
          <a:ln/>
        </p:spPr>
      </p:sp>
      <p:sp>
        <p:nvSpPr>
          <p:cNvPr id="51" name="Shape 42"/>
          <p:cNvSpPr/>
          <p:nvPr/>
        </p:nvSpPr>
        <p:spPr>
          <a:xfrm>
            <a:off x="4822031" y="4418744"/>
            <a:ext cx="28575" cy="70114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2" name="Text 43"/>
          <p:cNvSpPr/>
          <p:nvPr/>
        </p:nvSpPr>
        <p:spPr>
          <a:xfrm>
            <a:off x="4822031" y="325431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3" name="Text 44"/>
          <p:cNvSpPr/>
          <p:nvPr/>
        </p:nvSpPr>
        <p:spPr>
          <a:xfrm>
            <a:off x="4822031" y="3611500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4" name="Text 45"/>
          <p:cNvSpPr/>
          <p:nvPr/>
        </p:nvSpPr>
        <p:spPr>
          <a:xfrm>
            <a:off x="4822031" y="396868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■</a:t>
            </a:r>
            <a:endParaRPr lang="en-US" sz="500" dirty="0"/>
          </a:p>
        </p:txBody>
      </p:sp>
      <p:sp>
        <p:nvSpPr>
          <p:cNvPr id="55" name="Text 46"/>
          <p:cNvSpPr/>
          <p:nvPr/>
        </p:nvSpPr>
        <p:spPr>
          <a:xfrm>
            <a:off x="4907756" y="4504469"/>
            <a:ext cx="3436144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Vantagem Estratégica</a:t>
            </a:r>
            <a:endParaRPr lang="en-US" sz="80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7756" y="4752715"/>
            <a:ext cx="85725" cy="85725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050631" y="4731283"/>
            <a:ext cx="32932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Controle total sobre RTO/RPO; Banco define estratégia conforme necessidade.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380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87611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Gestão de Terceiros: Mitigação Técnica do Risco Sinqia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750554"/>
            <a:ext cx="2740354" cy="16300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750554"/>
            <a:ext cx="42863" cy="1630087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889857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394" y="1857710"/>
            <a:ext cx="1500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Análise do Caso Sinqia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78656" y="2122029"/>
            <a:ext cx="25260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Vetor de Ataque: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Credenciais de terceiro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(subcontratado) comprometidas via phishing.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78656" y="2459180"/>
            <a:ext cx="252604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Propagação: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Acesso à infraestrutura para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exfiltração de dados.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678656" y="2796332"/>
            <a:ext cx="2526041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Controles Faltantes: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Ausência de MFA para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terceiros, falta de Allowlists de IP e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inadequado.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571500" y="3494940"/>
            <a:ext cx="2740354" cy="22430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71500" y="3494940"/>
            <a:ext cx="2740354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3634243"/>
            <a:ext cx="128588" cy="128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394" y="3602096"/>
            <a:ext cx="163234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Onboarding de Terceiros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78656" y="3944996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Mapeamento: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Identificar todos os terceiros com acesso ao DUPIE.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678656" y="4276455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Avaliação: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Validar certificações e políticas de segurança do terceiro.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678656" y="4607914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Implementação: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Aplicar controles técnicos (MFA, Allowlists, VPN).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678656" y="4939373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Revisar logs de acesso mensalmente.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678656" y="5270832"/>
            <a:ext cx="2526041" cy="26002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Renovação: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Revisão anual de contratos e acessos.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678656" y="3944996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3" name="Text 18"/>
          <p:cNvSpPr/>
          <p:nvPr/>
        </p:nvSpPr>
        <p:spPr>
          <a:xfrm>
            <a:off x="678656" y="39449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24" name="Shape 19"/>
          <p:cNvSpPr/>
          <p:nvPr/>
        </p:nvSpPr>
        <p:spPr>
          <a:xfrm>
            <a:off x="678656" y="4276455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5" name="Text 20"/>
          <p:cNvSpPr/>
          <p:nvPr/>
        </p:nvSpPr>
        <p:spPr>
          <a:xfrm>
            <a:off x="678656" y="42764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26" name="Shape 21"/>
          <p:cNvSpPr/>
          <p:nvPr/>
        </p:nvSpPr>
        <p:spPr>
          <a:xfrm>
            <a:off x="678656" y="4607914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7" name="Text 22"/>
          <p:cNvSpPr/>
          <p:nvPr/>
        </p:nvSpPr>
        <p:spPr>
          <a:xfrm>
            <a:off x="678656" y="460791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28" name="Shape 23"/>
          <p:cNvSpPr/>
          <p:nvPr/>
        </p:nvSpPr>
        <p:spPr>
          <a:xfrm>
            <a:off x="678656" y="4939373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29" name="Text 24"/>
          <p:cNvSpPr/>
          <p:nvPr/>
        </p:nvSpPr>
        <p:spPr>
          <a:xfrm>
            <a:off x="678656" y="49393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30" name="Shape 25"/>
          <p:cNvSpPr/>
          <p:nvPr/>
        </p:nvSpPr>
        <p:spPr>
          <a:xfrm>
            <a:off x="678656" y="5270832"/>
            <a:ext cx="128588" cy="128588"/>
          </a:xfrm>
          <a:prstGeom prst="ellipse">
            <a:avLst/>
          </a:prstGeom>
          <a:solidFill>
            <a:srgbClr val="003366"/>
          </a:solidFill>
          <a:ln/>
        </p:spPr>
      </p:sp>
      <p:sp>
        <p:nvSpPr>
          <p:cNvPr id="31" name="Text 26"/>
          <p:cNvSpPr/>
          <p:nvPr/>
        </p:nvSpPr>
        <p:spPr>
          <a:xfrm>
            <a:off x="678656" y="52708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counter(process-counter)</a:t>
            </a:r>
            <a:endParaRPr lang="en-US" sz="550" dirty="0"/>
          </a:p>
        </p:txBody>
      </p:sp>
      <p:sp>
        <p:nvSpPr>
          <p:cNvPr id="32" name="Shape 27"/>
          <p:cNvSpPr/>
          <p:nvPr/>
        </p:nvSpPr>
        <p:spPr>
          <a:xfrm>
            <a:off x="3483304" y="1750554"/>
            <a:ext cx="5089196" cy="34167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8"/>
          <p:cNvSpPr/>
          <p:nvPr/>
        </p:nvSpPr>
        <p:spPr>
          <a:xfrm>
            <a:off x="3483304" y="1750554"/>
            <a:ext cx="5089196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4" name="Shape 29"/>
          <p:cNvSpPr/>
          <p:nvPr/>
        </p:nvSpPr>
        <p:spPr>
          <a:xfrm>
            <a:off x="3483304" y="1750554"/>
            <a:ext cx="1526753" cy="51792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5" name="Shape 30"/>
          <p:cNvSpPr/>
          <p:nvPr/>
        </p:nvSpPr>
        <p:spPr>
          <a:xfrm>
            <a:off x="5002913" y="1750554"/>
            <a:ext cx="7144" cy="5179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1"/>
          <p:cNvSpPr/>
          <p:nvPr/>
        </p:nvSpPr>
        <p:spPr>
          <a:xfrm>
            <a:off x="3483304" y="2254188"/>
            <a:ext cx="1526753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37" name="Text 32"/>
          <p:cNvSpPr/>
          <p:nvPr/>
        </p:nvSpPr>
        <p:spPr>
          <a:xfrm>
            <a:off x="3483304" y="1750554"/>
            <a:ext cx="1526753" cy="51792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Controle Técnico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5010057" y="1750554"/>
            <a:ext cx="1781194" cy="51792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Shape 34"/>
          <p:cNvSpPr/>
          <p:nvPr/>
        </p:nvSpPr>
        <p:spPr>
          <a:xfrm>
            <a:off x="6784107" y="1750554"/>
            <a:ext cx="7144" cy="5179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5"/>
          <p:cNvSpPr/>
          <p:nvPr/>
        </p:nvSpPr>
        <p:spPr>
          <a:xfrm>
            <a:off x="5010057" y="2254188"/>
            <a:ext cx="1781194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41" name="Text 36"/>
          <p:cNvSpPr/>
          <p:nvPr/>
        </p:nvSpPr>
        <p:spPr>
          <a:xfrm>
            <a:off x="5010057" y="1750554"/>
            <a:ext cx="1781194" cy="51792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Implementação SaaS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6791251" y="1750554"/>
            <a:ext cx="1781249" cy="51792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3" name="Shape 38"/>
          <p:cNvSpPr/>
          <p:nvPr/>
        </p:nvSpPr>
        <p:spPr>
          <a:xfrm>
            <a:off x="6791251" y="2254188"/>
            <a:ext cx="1781249" cy="14288"/>
          </a:xfrm>
          <a:prstGeom prst="rect">
            <a:avLst/>
          </a:prstGeom>
          <a:solidFill>
            <a:srgbClr val="001A4D"/>
          </a:solidFill>
          <a:ln/>
        </p:spPr>
      </p:sp>
      <p:sp>
        <p:nvSpPr>
          <p:cNvPr id="44" name="Text 39"/>
          <p:cNvSpPr/>
          <p:nvPr/>
        </p:nvSpPr>
        <p:spPr>
          <a:xfrm>
            <a:off x="6791251" y="1750554"/>
            <a:ext cx="1781249" cy="517922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Implementação On-Premise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3483304" y="2261332"/>
            <a:ext cx="1526753" cy="406468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5002913" y="2261332"/>
            <a:ext cx="7144" cy="406468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7" name="Shape 42"/>
          <p:cNvSpPr/>
          <p:nvPr/>
        </p:nvSpPr>
        <p:spPr>
          <a:xfrm>
            <a:off x="3483304" y="266065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48" name="Text 43"/>
          <p:cNvSpPr/>
          <p:nvPr/>
        </p:nvSpPr>
        <p:spPr>
          <a:xfrm>
            <a:off x="3483304" y="2261332"/>
            <a:ext cx="1526753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MFA para Terceiros</a:t>
            </a:r>
            <a:endParaRPr lang="en-US" sz="700" dirty="0"/>
          </a:p>
        </p:txBody>
      </p:sp>
      <p:sp>
        <p:nvSpPr>
          <p:cNvPr id="49" name="Text 44"/>
          <p:cNvSpPr/>
          <p:nvPr/>
        </p:nvSpPr>
        <p:spPr>
          <a:xfrm>
            <a:off x="5010057" y="2261332"/>
            <a:ext cx="1781194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implementa, Banco valida evidências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6791251" y="2261332"/>
            <a:ext cx="1781249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via IAM corporativo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3483304" y="266780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2" name="Shape 47"/>
          <p:cNvSpPr/>
          <p:nvPr/>
        </p:nvSpPr>
        <p:spPr>
          <a:xfrm>
            <a:off x="5002913" y="266780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3" name="Shape 48"/>
          <p:cNvSpPr/>
          <p:nvPr/>
        </p:nvSpPr>
        <p:spPr>
          <a:xfrm>
            <a:off x="3483304" y="307069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4" name="Text 49"/>
          <p:cNvSpPr/>
          <p:nvPr/>
        </p:nvSpPr>
        <p:spPr>
          <a:xfrm>
            <a:off x="3483304" y="266780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Allowlists de IP</a:t>
            </a:r>
            <a:endParaRPr lang="en-US" sz="700" dirty="0"/>
          </a:p>
        </p:txBody>
      </p:sp>
      <p:sp>
        <p:nvSpPr>
          <p:cNvPr id="55" name="Text 50"/>
          <p:cNvSpPr/>
          <p:nvPr/>
        </p:nvSpPr>
        <p:spPr>
          <a:xfrm>
            <a:off x="5010057" y="266780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configura, Banco fornece IPs autorizados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6791251" y="266780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configura no firewall corporativo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3483304" y="307784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58" name="Shape 53"/>
          <p:cNvSpPr/>
          <p:nvPr/>
        </p:nvSpPr>
        <p:spPr>
          <a:xfrm>
            <a:off x="5002913" y="307784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59" name="Shape 54"/>
          <p:cNvSpPr/>
          <p:nvPr/>
        </p:nvSpPr>
        <p:spPr>
          <a:xfrm>
            <a:off x="3483304" y="348073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0" name="Text 55"/>
          <p:cNvSpPr/>
          <p:nvPr/>
        </p:nvSpPr>
        <p:spPr>
          <a:xfrm>
            <a:off x="3483304" y="307784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Monitoramento de Acessos</a:t>
            </a:r>
            <a:endParaRPr lang="en-US" sz="700" dirty="0"/>
          </a:p>
        </p:txBody>
      </p:sp>
      <p:sp>
        <p:nvSpPr>
          <p:cNvPr id="61" name="Text 56"/>
          <p:cNvSpPr/>
          <p:nvPr/>
        </p:nvSpPr>
        <p:spPr>
          <a:xfrm>
            <a:off x="5010057" y="307784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SIEM da Evertec, Banco audita logs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6791251" y="307784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SIEM corporativo do Banco</a:t>
            </a:r>
            <a:endParaRPr lang="en-US" sz="750" dirty="0"/>
          </a:p>
        </p:txBody>
      </p:sp>
      <p:sp>
        <p:nvSpPr>
          <p:cNvPr id="63" name="Shape 58"/>
          <p:cNvSpPr/>
          <p:nvPr/>
        </p:nvSpPr>
        <p:spPr>
          <a:xfrm>
            <a:off x="3483304" y="348788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64" name="Shape 59"/>
          <p:cNvSpPr/>
          <p:nvPr/>
        </p:nvSpPr>
        <p:spPr>
          <a:xfrm>
            <a:off x="5002913" y="348788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5" name="Shape 60"/>
          <p:cNvSpPr/>
          <p:nvPr/>
        </p:nvSpPr>
        <p:spPr>
          <a:xfrm>
            <a:off x="3483304" y="3890776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66" name="Text 61"/>
          <p:cNvSpPr/>
          <p:nvPr/>
        </p:nvSpPr>
        <p:spPr>
          <a:xfrm>
            <a:off x="3483304" y="348788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Rotação de Credenciais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5010057" y="348788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Evertec implementa (política de 90 dias)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6791251" y="348788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implementa via gestão de identidade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3483304" y="389792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70" name="Shape 65"/>
          <p:cNvSpPr/>
          <p:nvPr/>
        </p:nvSpPr>
        <p:spPr>
          <a:xfrm>
            <a:off x="5002913" y="389792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1" name="Shape 66"/>
          <p:cNvSpPr/>
          <p:nvPr/>
        </p:nvSpPr>
        <p:spPr>
          <a:xfrm>
            <a:off x="3483304" y="4300817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2" name="Text 67"/>
          <p:cNvSpPr/>
          <p:nvPr/>
        </p:nvSpPr>
        <p:spPr>
          <a:xfrm>
            <a:off x="3483304" y="389792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Segmentação de Rede</a:t>
            </a:r>
            <a:endParaRPr lang="en-US" sz="700" dirty="0"/>
          </a:p>
        </p:txBody>
      </p:sp>
      <p:sp>
        <p:nvSpPr>
          <p:cNvPr id="73" name="Text 68"/>
          <p:cNvSpPr/>
          <p:nvPr/>
        </p:nvSpPr>
        <p:spPr>
          <a:xfrm>
            <a:off x="5010057" y="389792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restrito via VPN site-to-site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6791251" y="389792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 restrito via regras de firewall interno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3483304" y="4307960"/>
            <a:ext cx="1526753" cy="410040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76" name="Shape 71"/>
          <p:cNvSpPr/>
          <p:nvPr/>
        </p:nvSpPr>
        <p:spPr>
          <a:xfrm>
            <a:off x="5002913" y="4307960"/>
            <a:ext cx="7144" cy="410040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7" name="Shape 72"/>
          <p:cNvSpPr/>
          <p:nvPr/>
        </p:nvSpPr>
        <p:spPr>
          <a:xfrm>
            <a:off x="3483304" y="4710857"/>
            <a:ext cx="1526753" cy="7144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78" name="Text 73"/>
          <p:cNvSpPr/>
          <p:nvPr/>
        </p:nvSpPr>
        <p:spPr>
          <a:xfrm>
            <a:off x="3483304" y="4307960"/>
            <a:ext cx="1526753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Auditoria Contínua</a:t>
            </a:r>
            <a:endParaRPr lang="en-US" sz="700" dirty="0"/>
          </a:p>
        </p:txBody>
      </p:sp>
      <p:sp>
        <p:nvSpPr>
          <p:cNvPr id="79" name="Text 74"/>
          <p:cNvSpPr/>
          <p:nvPr/>
        </p:nvSpPr>
        <p:spPr>
          <a:xfrm>
            <a:off x="5010057" y="4307960"/>
            <a:ext cx="1781194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logs de acesso mensalmente</a:t>
            </a:r>
            <a:endParaRPr lang="en-US" sz="750" dirty="0"/>
          </a:p>
        </p:txBody>
      </p:sp>
      <p:sp>
        <p:nvSpPr>
          <p:cNvPr id="80" name="Text 75"/>
          <p:cNvSpPr/>
          <p:nvPr/>
        </p:nvSpPr>
        <p:spPr>
          <a:xfrm>
            <a:off x="6791251" y="4307960"/>
            <a:ext cx="1781249" cy="410040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audita logs de acesso mensalmente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3483304" y="4718000"/>
            <a:ext cx="1526753" cy="406468"/>
          </a:xfrm>
          <a:prstGeom prst="rect">
            <a:avLst/>
          </a:prstGeom>
          <a:solidFill>
            <a:srgbClr val="003366">
              <a:alpha val="2000"/>
            </a:srgbClr>
          </a:solidFill>
          <a:ln/>
        </p:spPr>
      </p:sp>
      <p:sp>
        <p:nvSpPr>
          <p:cNvPr id="82" name="Shape 77"/>
          <p:cNvSpPr/>
          <p:nvPr/>
        </p:nvSpPr>
        <p:spPr>
          <a:xfrm>
            <a:off x="5002913" y="4718000"/>
            <a:ext cx="7144" cy="406468"/>
          </a:xfrm>
          <a:prstGeom prst="rect">
            <a:avLst/>
          </a:prstGeom>
          <a:solidFill>
            <a:srgbClr val="E6EBF0"/>
          </a:solidFill>
          <a:ln/>
        </p:spPr>
      </p:sp>
      <p:sp>
        <p:nvSpPr>
          <p:cNvPr id="83" name="Text 78"/>
          <p:cNvSpPr/>
          <p:nvPr/>
        </p:nvSpPr>
        <p:spPr>
          <a:xfrm>
            <a:off x="3483304" y="4718000"/>
            <a:ext cx="1526753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 de Penetração</a:t>
            </a:r>
            <a:endParaRPr lang="en-US" sz="700" dirty="0"/>
          </a:p>
        </p:txBody>
      </p:sp>
      <p:sp>
        <p:nvSpPr>
          <p:cNvPr id="84" name="Text 79"/>
          <p:cNvSpPr/>
          <p:nvPr/>
        </p:nvSpPr>
        <p:spPr>
          <a:xfrm>
            <a:off x="5010057" y="4718000"/>
            <a:ext cx="1781194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contrata terceiro para testar (anual)</a:t>
            </a:r>
            <a:endParaRPr lang="en-US" sz="750" dirty="0"/>
          </a:p>
        </p:txBody>
      </p:sp>
      <p:sp>
        <p:nvSpPr>
          <p:cNvPr id="85" name="Text 80"/>
          <p:cNvSpPr/>
          <p:nvPr/>
        </p:nvSpPr>
        <p:spPr>
          <a:xfrm>
            <a:off x="6791251" y="4718000"/>
            <a:ext cx="1781249" cy="406468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contrata terceiro para testar (anual)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Recomendações Técnicas e Critérios de Decisão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54801"/>
            <a:ext cx="17859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531" y="1319082"/>
            <a:ext cx="207347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Critérios de Decisão Técnica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71500" y="1676270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676270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789677"/>
            <a:ext cx="142875" cy="114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7250" y="1761995"/>
            <a:ext cx="1403747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e Performance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657225" y="1988809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100-200ms (aceitável para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assíncrono).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657225" y="2277405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&lt;1ms (crítico para síncrono).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657225" y="2450278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Se latência for crítica para o Core, On-Premise é preferível.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2963233" y="1676270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2963233" y="1676270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8" y="1789677"/>
            <a:ext cx="114300" cy="1143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20408" y="1761995"/>
            <a:ext cx="87332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Escalabilidade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3048958" y="1988809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Automática (ideal para picos).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3048958" y="2147395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Manual (requer capacity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planning).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3048958" y="2450278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Se o crescimento for imprevisível, SaaS mitiga o risco.</a:t>
            </a:r>
            <a:endParaRPr lang="en-US" sz="650" dirty="0"/>
          </a:p>
        </p:txBody>
      </p:sp>
      <p:sp>
        <p:nvSpPr>
          <p:cNvPr id="22" name="Shape 16"/>
          <p:cNvSpPr/>
          <p:nvPr/>
        </p:nvSpPr>
        <p:spPr>
          <a:xfrm>
            <a:off x="571500" y="2950341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2950341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3063748"/>
            <a:ext cx="114300" cy="1143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8675" y="3036066"/>
            <a:ext cx="1296591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Conformidade (LGPD)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657225" y="3262880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Risco de dados fora do Brasil.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657225" y="3421466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Residência garantida no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Brasil.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657225" y="3724349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Exigir cláusula de residência de dados no Brasil para SaaS.</a:t>
            </a:r>
            <a:endParaRPr lang="en-US" sz="650" dirty="0"/>
          </a:p>
        </p:txBody>
      </p:sp>
      <p:sp>
        <p:nvSpPr>
          <p:cNvPr id="29" name="Shape 22"/>
          <p:cNvSpPr/>
          <p:nvPr/>
        </p:nvSpPr>
        <p:spPr>
          <a:xfrm>
            <a:off x="2963233" y="2950341"/>
            <a:ext cx="2306008" cy="11883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2963233" y="2950341"/>
            <a:ext cx="28575" cy="1188346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958" y="3063748"/>
            <a:ext cx="142875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248983" y="3036066"/>
            <a:ext cx="1489472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Capacidade Operacional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3048958" y="3262880"/>
            <a:ext cx="213455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Equipe enxuta (5-10 pessoas).</a:t>
            </a:r>
            <a:endParaRPr lang="en-US" sz="700" dirty="0"/>
          </a:p>
        </p:txBody>
      </p:sp>
      <p:sp>
        <p:nvSpPr>
          <p:cNvPr id="34" name="Text 26"/>
          <p:cNvSpPr/>
          <p:nvPr/>
        </p:nvSpPr>
        <p:spPr>
          <a:xfrm>
            <a:off x="3048958" y="3421466"/>
            <a:ext cx="213455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On-Premise: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Equipe dedicada (15-20 </a:t>
            </a: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pessoas).</a:t>
            </a:r>
            <a:endParaRPr lang="en-US" sz="700" dirty="0"/>
          </a:p>
        </p:txBody>
      </p:sp>
      <p:sp>
        <p:nvSpPr>
          <p:cNvPr id="35" name="Text 27"/>
          <p:cNvSpPr/>
          <p:nvPr/>
        </p:nvSpPr>
        <p:spPr>
          <a:xfrm>
            <a:off x="3048958" y="3724349"/>
            <a:ext cx="2134558" cy="328613"/>
          </a:xfrm>
          <a:prstGeom prst="rect">
            <a:avLst/>
          </a:prstGeom>
          <a:noFill/>
          <a:ln/>
        </p:spPr>
        <p:txBody>
          <a:bodyPr wrap="square" lIns="0" tIns="51054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Rec: Avaliar capacidade real de alocação de recursos internos.</a:t>
            </a:r>
            <a:endParaRPr lang="en-US" sz="6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91" y="1354801"/>
            <a:ext cx="142875" cy="14287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655004" y="1319082"/>
            <a:ext cx="191809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Próximos Passos Técnicos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440691" y="1676270"/>
            <a:ext cx="3131809" cy="2462417"/>
          </a:xfrm>
          <a:prstGeom prst="rect">
            <a:avLst/>
          </a:prstGeom>
          <a:solidFill>
            <a:srgbClr val="003366">
              <a:alpha val="3000"/>
            </a:srgbClr>
          </a:solidFill>
          <a:ln/>
        </p:spPr>
      </p:sp>
      <p:sp>
        <p:nvSpPr>
          <p:cNvPr id="39" name="Shape 30"/>
          <p:cNvSpPr/>
          <p:nvPr/>
        </p:nvSpPr>
        <p:spPr>
          <a:xfrm>
            <a:off x="5440691" y="1676270"/>
            <a:ext cx="3131809" cy="28575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40" name="Shape 31"/>
          <p:cNvSpPr/>
          <p:nvPr/>
        </p:nvSpPr>
        <p:spPr>
          <a:xfrm>
            <a:off x="5547847" y="1783426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1" name="Text 32"/>
          <p:cNvSpPr/>
          <p:nvPr/>
        </p:nvSpPr>
        <p:spPr>
          <a:xfrm>
            <a:off x="5547847" y="178342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42" name="Text 33"/>
          <p:cNvSpPr/>
          <p:nvPr/>
        </p:nvSpPr>
        <p:spPr>
          <a:xfrm>
            <a:off x="5805022" y="1783426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Validação de Arquitetura</a:t>
            </a:r>
            <a:endParaRPr lang="en-US" sz="750" dirty="0"/>
          </a:p>
        </p:txBody>
      </p:sp>
      <p:sp>
        <p:nvSpPr>
          <p:cNvPr id="43" name="Text 34"/>
          <p:cNvSpPr/>
          <p:nvPr/>
        </p:nvSpPr>
        <p:spPr>
          <a:xfrm>
            <a:off x="5805022" y="1958448"/>
            <a:ext cx="2660321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Desenhar arquitetura de referência detalhada para o modelo escolhido.</a:t>
            </a:r>
            <a:endParaRPr lang="en-US" sz="650" dirty="0"/>
          </a:p>
        </p:txBody>
      </p:sp>
      <p:sp>
        <p:nvSpPr>
          <p:cNvPr id="44" name="Shape 35"/>
          <p:cNvSpPr/>
          <p:nvPr/>
        </p:nvSpPr>
        <p:spPr>
          <a:xfrm>
            <a:off x="5547847" y="2285609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5" name="Text 36"/>
          <p:cNvSpPr/>
          <p:nvPr/>
        </p:nvSpPr>
        <p:spPr>
          <a:xfrm>
            <a:off x="5547847" y="228560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46" name="Text 37"/>
          <p:cNvSpPr/>
          <p:nvPr/>
        </p:nvSpPr>
        <p:spPr>
          <a:xfrm>
            <a:off x="5805022" y="2285609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Prototipagem (PoC)</a:t>
            </a:r>
            <a:endParaRPr lang="en-US" sz="750" dirty="0"/>
          </a:p>
        </p:txBody>
      </p:sp>
      <p:sp>
        <p:nvSpPr>
          <p:cNvPr id="47" name="Text 38"/>
          <p:cNvSpPr/>
          <p:nvPr/>
        </p:nvSpPr>
        <p:spPr>
          <a:xfrm>
            <a:off x="5805022" y="2460631"/>
            <a:ext cx="2660321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Implementar integração com o Core Bancário para validar latência.</a:t>
            </a:r>
            <a:endParaRPr lang="en-US" sz="650" dirty="0"/>
          </a:p>
        </p:txBody>
      </p:sp>
      <p:sp>
        <p:nvSpPr>
          <p:cNvPr id="48" name="Shape 39"/>
          <p:cNvSpPr/>
          <p:nvPr/>
        </p:nvSpPr>
        <p:spPr>
          <a:xfrm>
            <a:off x="5547847" y="2787793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9" name="Text 40"/>
          <p:cNvSpPr/>
          <p:nvPr/>
        </p:nvSpPr>
        <p:spPr>
          <a:xfrm>
            <a:off x="5547847" y="27877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50" name="Text 41"/>
          <p:cNvSpPr/>
          <p:nvPr/>
        </p:nvSpPr>
        <p:spPr>
          <a:xfrm>
            <a:off x="5805022" y="2787793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Teste de Segurança</a:t>
            </a:r>
            <a:endParaRPr lang="en-US" sz="750" dirty="0"/>
          </a:p>
        </p:txBody>
      </p:sp>
      <p:sp>
        <p:nvSpPr>
          <p:cNvPr id="51" name="Text 42"/>
          <p:cNvSpPr/>
          <p:nvPr/>
        </p:nvSpPr>
        <p:spPr>
          <a:xfrm>
            <a:off x="5805022" y="2962815"/>
            <a:ext cx="266032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Realizar pentest na arquitetura (SaaS ou On-Premise).</a:t>
            </a:r>
            <a:endParaRPr lang="en-US" sz="650" dirty="0"/>
          </a:p>
        </p:txBody>
      </p:sp>
      <p:sp>
        <p:nvSpPr>
          <p:cNvPr id="52" name="Shape 43"/>
          <p:cNvSpPr/>
          <p:nvPr/>
        </p:nvSpPr>
        <p:spPr>
          <a:xfrm>
            <a:off x="5547847" y="3169258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3" name="Text 44"/>
          <p:cNvSpPr/>
          <p:nvPr/>
        </p:nvSpPr>
        <p:spPr>
          <a:xfrm>
            <a:off x="5547847" y="31692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54" name="Text 45"/>
          <p:cNvSpPr/>
          <p:nvPr/>
        </p:nvSpPr>
        <p:spPr>
          <a:xfrm>
            <a:off x="5805022" y="3169258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Estimativa de Custo</a:t>
            </a:r>
            <a:endParaRPr lang="en-US" sz="750" dirty="0"/>
          </a:p>
        </p:txBody>
      </p:sp>
      <p:sp>
        <p:nvSpPr>
          <p:cNvPr id="55" name="Text 46"/>
          <p:cNvSpPr/>
          <p:nvPr/>
        </p:nvSpPr>
        <p:spPr>
          <a:xfrm>
            <a:off x="5805022" y="3344280"/>
            <a:ext cx="2660321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Refinar estimativas de CAPEX e OPEX com dados da PoC.</a:t>
            </a:r>
            <a:endParaRPr lang="en-US" sz="650" dirty="0"/>
          </a:p>
        </p:txBody>
      </p:sp>
      <p:sp>
        <p:nvSpPr>
          <p:cNvPr id="56" name="Shape 47"/>
          <p:cNvSpPr/>
          <p:nvPr/>
        </p:nvSpPr>
        <p:spPr>
          <a:xfrm>
            <a:off x="5547847" y="3550723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7" name="Text 48"/>
          <p:cNvSpPr/>
          <p:nvPr/>
        </p:nvSpPr>
        <p:spPr>
          <a:xfrm>
            <a:off x="5547847" y="355072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counter(step-counter)</a:t>
            </a:r>
            <a:endParaRPr lang="en-US" sz="650" dirty="0"/>
          </a:p>
        </p:txBody>
      </p:sp>
      <p:sp>
        <p:nvSpPr>
          <p:cNvPr id="58" name="Text 49"/>
          <p:cNvSpPr/>
          <p:nvPr/>
        </p:nvSpPr>
        <p:spPr>
          <a:xfrm>
            <a:off x="5805022" y="3550723"/>
            <a:ext cx="266032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Decisão e Contratação</a:t>
            </a:r>
            <a:endParaRPr lang="en-US" sz="750" dirty="0"/>
          </a:p>
        </p:txBody>
      </p:sp>
      <p:sp>
        <p:nvSpPr>
          <p:cNvPr id="59" name="Text 50"/>
          <p:cNvSpPr/>
          <p:nvPr/>
        </p:nvSpPr>
        <p:spPr>
          <a:xfrm>
            <a:off x="5805022" y="3725745"/>
            <a:ext cx="2660321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Comitê assina Termo de Decisão e Jurídico inicia negociação.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3483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34838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Segurança da Informação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Devolutiva de SI: Parecer Executivo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426239"/>
            <a:ext cx="8001000" cy="87153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26239"/>
            <a:ext cx="57150" cy="87153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81628"/>
            <a:ext cx="257175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5863" y="1657155"/>
            <a:ext cx="3562945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CLASSIFICAÇÃO OFICIAL E PARECER TÉCNICO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85863" y="1826819"/>
            <a:ext cx="356294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CONSULTE A CARTA DE RISCO DUPIE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71500" y="2583526"/>
            <a:ext cx="2524116" cy="24788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" y="2583526"/>
            <a:ext cx="2524116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Shape 9"/>
          <p:cNvSpPr/>
          <p:nvPr/>
        </p:nvSpPr>
        <p:spPr>
          <a:xfrm>
            <a:off x="750094" y="2797839"/>
            <a:ext cx="357188" cy="357188"/>
          </a:xfrm>
          <a:prstGeom prst="ellipse">
            <a:avLst/>
          </a:prstGeom>
          <a:solidFill>
            <a:srgbClr val="003366">
              <a:alpha val="1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80" y="2904995"/>
            <a:ext cx="125016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094" y="3297901"/>
            <a:ext cx="21669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Criticidade dos Dados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50094" y="3619370"/>
            <a:ext cx="216692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manipula dados altamente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críticos, incluindo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dados pessoais (CPF/CNPJ)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dados transacionais financeiros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o que a torna crítica no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contexto regulatório e operacional do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309928" y="2583526"/>
            <a:ext cx="2524116" cy="24788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3309928" y="2583526"/>
            <a:ext cx="2524116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Shape 14"/>
          <p:cNvSpPr/>
          <p:nvPr/>
        </p:nvSpPr>
        <p:spPr>
          <a:xfrm>
            <a:off x="3488522" y="2797839"/>
            <a:ext cx="357188" cy="357188"/>
          </a:xfrm>
          <a:prstGeom prst="ellipse">
            <a:avLst/>
          </a:prstGeom>
          <a:solidFill>
            <a:srgbClr val="003366">
              <a:alpha val="10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678" y="2904995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88522" y="3297901"/>
            <a:ext cx="216692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Riscos Estruturais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3488522" y="3619370"/>
            <a:ext cx="2166928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Embora existam controles de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segurança relevantes (OAuth2,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criptografia), a arquitetura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 Multi-tenant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introduz riscos estruturais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relacionados à segregação lógica de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que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não podem ser totalmente eliminados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6048356" y="2583526"/>
            <a:ext cx="2524144" cy="24503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6048356" y="2583526"/>
            <a:ext cx="2524144" cy="28575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Shape 19"/>
          <p:cNvSpPr/>
          <p:nvPr/>
        </p:nvSpPr>
        <p:spPr>
          <a:xfrm>
            <a:off x="6226950" y="2797839"/>
            <a:ext cx="357188" cy="357188"/>
          </a:xfrm>
          <a:prstGeom prst="ellipse">
            <a:avLst/>
          </a:prstGeom>
          <a:solidFill>
            <a:srgbClr val="003366">
              <a:alpha val="1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06" y="2904995"/>
            <a:ext cx="142875" cy="1428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26950" y="3297901"/>
            <a:ext cx="216695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Exigência de Auditoria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226950" y="3619370"/>
            <a:ext cx="216695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aprovação está condicionada à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realização de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validações contínuas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 à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exigência de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evidências técnicas rigorosas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por parte do fornecedor que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comprovem o isolamento efetivo dos </a:t>
            </a:r>
            <a:r>
              <a:rPr lang="en-US" sz="80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do BS2.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3483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34838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Segurança da Informação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Mapeamento de Riscos Críticos (SaaS Multi-tenant)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426239"/>
            <a:ext cx="3911203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26239"/>
            <a:ext cx="35719" cy="167163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79842"/>
            <a:ext cx="137517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4767" y="1640551"/>
            <a:ext cx="148768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Confidencialidade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27252" y="1640551"/>
            <a:ext cx="541139" cy="200025"/>
          </a:xfrm>
          <a:prstGeom prst="rect">
            <a:avLst/>
          </a:prstGeom>
          <a:solidFill>
            <a:srgbClr val="FFEBEB"/>
          </a:solidFill>
          <a:ln w="9144">
            <a:solidFill>
              <a:srgbClr val="CC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727252" y="1640551"/>
            <a:ext cx="541139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CRÍTICO</a:t>
            </a:r>
            <a:endParaRPr lang="en-US" sz="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083464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5838" y="2054889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Compartilhamento de infraestrutura entre diferentes clientes do fornecedor.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2569239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5838" y="2540664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Risco potencial de </a:t>
            </a: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falhas na segregação lógica</a:t>
            </a: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</a:t>
            </a: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resultando em exposição cruzada de dados.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661297" y="1426239"/>
            <a:ext cx="3911203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4661297" y="1426239"/>
            <a:ext cx="35719" cy="167163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609" y="1679842"/>
            <a:ext cx="196453" cy="15716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43500" y="1640551"/>
            <a:ext cx="214669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Operacional e Arquitetural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7817048" y="1640551"/>
            <a:ext cx="541139" cy="200025"/>
          </a:xfrm>
          <a:prstGeom prst="rect">
            <a:avLst/>
          </a:prstGeom>
          <a:solidFill>
            <a:srgbClr val="FFEBEB"/>
          </a:solidFill>
          <a:ln w="9144">
            <a:solidFill>
              <a:srgbClr val="CC000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817048" y="1640551"/>
            <a:ext cx="541139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C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CRÍTICO</a:t>
            </a:r>
            <a:endParaRPr lang="en-US" sz="6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5609" y="2083464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75634" y="2054889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Forte dependência do fornecedor para processos críticos de negócio.</a:t>
            </a:r>
            <a:endParaRPr lang="en-US" sz="8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609" y="2569239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75634" y="2540664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de credenciais sob controle de terceiros (risco </a:t>
            </a: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evidenciado pelo </a:t>
            </a:r>
            <a:r>
              <a:rPr lang="en-US" sz="8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incidente Sinqia</a:t>
            </a: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).</a:t>
            </a:r>
            <a:endParaRPr lang="en-US" sz="850" dirty="0"/>
          </a:p>
        </p:txBody>
      </p:sp>
      <p:sp>
        <p:nvSpPr>
          <p:cNvPr id="26" name="Shape 17"/>
          <p:cNvSpPr/>
          <p:nvPr/>
        </p:nvSpPr>
        <p:spPr>
          <a:xfrm>
            <a:off x="571500" y="3276470"/>
            <a:ext cx="3911203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8"/>
          <p:cNvSpPr/>
          <p:nvPr/>
        </p:nvSpPr>
        <p:spPr>
          <a:xfrm>
            <a:off x="571500" y="3276470"/>
            <a:ext cx="35719" cy="167163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3530073"/>
            <a:ext cx="157163" cy="157163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014413" y="3490782"/>
            <a:ext cx="94297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Integridade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3861197" y="3490782"/>
            <a:ext cx="407194" cy="200025"/>
          </a:xfrm>
          <a:prstGeom prst="rect">
            <a:avLst/>
          </a:prstGeom>
          <a:solidFill>
            <a:srgbClr val="FFF3CD"/>
          </a:solidFill>
          <a:ln w="9144">
            <a:solidFill>
              <a:srgbClr val="FFC107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3861197" y="3490782"/>
            <a:ext cx="407194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5640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ALTO</a:t>
            </a:r>
            <a:endParaRPr lang="en-US" sz="6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3933695"/>
            <a:ext cx="114300" cy="1143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85838" y="3905120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Dependência total de mecanismos de controle lógico (RBAC, claims).</a:t>
            </a:r>
            <a:endParaRPr lang="en-US" sz="8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4419470"/>
            <a:ext cx="114300" cy="1143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985838" y="4390895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Integrações com múltiplos sistemas aumentam a superfície de ataque.</a:t>
            </a:r>
            <a:endParaRPr lang="en-US" sz="850" dirty="0"/>
          </a:p>
        </p:txBody>
      </p:sp>
      <p:sp>
        <p:nvSpPr>
          <p:cNvPr id="36" name="Shape 24"/>
          <p:cNvSpPr/>
          <p:nvPr/>
        </p:nvSpPr>
        <p:spPr>
          <a:xfrm>
            <a:off x="4661297" y="3276470"/>
            <a:ext cx="3911203" cy="1671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25"/>
          <p:cNvSpPr/>
          <p:nvPr/>
        </p:nvSpPr>
        <p:spPr>
          <a:xfrm>
            <a:off x="4661297" y="3276470"/>
            <a:ext cx="35719" cy="1671638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5609" y="3530073"/>
            <a:ext cx="157163" cy="157163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104209" y="3490782"/>
            <a:ext cx="126087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Disponibilidade</a:t>
            </a:r>
            <a:endParaRPr lang="en-US" sz="1100" dirty="0"/>
          </a:p>
        </p:txBody>
      </p:sp>
      <p:sp>
        <p:nvSpPr>
          <p:cNvPr id="40" name="Shape 27"/>
          <p:cNvSpPr/>
          <p:nvPr/>
        </p:nvSpPr>
        <p:spPr>
          <a:xfrm>
            <a:off x="7950994" y="3490782"/>
            <a:ext cx="407194" cy="200025"/>
          </a:xfrm>
          <a:prstGeom prst="rect">
            <a:avLst/>
          </a:prstGeom>
          <a:solidFill>
            <a:srgbClr val="FFF3CD"/>
          </a:solidFill>
          <a:ln w="9144">
            <a:solidFill>
              <a:srgbClr val="FFC107"/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7950994" y="3490782"/>
            <a:ext cx="407194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5640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ALTO</a:t>
            </a:r>
            <a:endParaRPr lang="en-US" sz="6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5609" y="3933695"/>
            <a:ext cx="114300" cy="11430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075634" y="3905120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Uso de infraestrutura compartilhada (nuvem do fornecedor).</a:t>
            </a:r>
            <a:endParaRPr lang="en-US" sz="85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5609" y="4419470"/>
            <a:ext cx="114300" cy="11430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075634" y="4390895"/>
            <a:ext cx="3282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Dependência operacional de terceiros regulados (registradoras).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3483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348383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Segurança da Informação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Recomendações e Controles Exigidos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390520"/>
            <a:ext cx="8001000" cy="83436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90520"/>
            <a:ext cx="57150" cy="834368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657685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4438" y="1533395"/>
            <a:ext cx="71437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DIRETRIZ ESTRATÉGICA DE SI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214438" y="1761995"/>
            <a:ext cx="7143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Avaliar e priorizar a adoção do modelo </a:t>
            </a:r>
            <a:r>
              <a:rPr lang="en-US" sz="8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 Single-Tenant</a:t>
            </a: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(ambiente dedicado ao banco), substituindo controles </a:t>
            </a: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lógicos por isolamento físico para eliminar os riscos de exposição cruzada.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4919"/>
            <a:ext cx="125016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7953" y="2439200"/>
            <a:ext cx="49327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Controles Obrigatórios (Caso o modelo Multi-Tenant seja mantido)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71500" y="276066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571500" y="276066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15" name="Shape 10"/>
          <p:cNvSpPr/>
          <p:nvPr/>
        </p:nvSpPr>
        <p:spPr>
          <a:xfrm>
            <a:off x="714375" y="290354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89" y="2999984"/>
            <a:ext cx="96441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90354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1. Governança de Acessos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1143000" y="310892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Implementação rigorosa de Controle de Acesso Baseado em Papéis (RBAC) e exigência de Autenticação Multifator (MFA) para todas as integrações.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643438" y="276066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43438" y="276066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21" name="Shape 15"/>
          <p:cNvSpPr/>
          <p:nvPr/>
        </p:nvSpPr>
        <p:spPr>
          <a:xfrm>
            <a:off x="4786313" y="290354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716" y="2999984"/>
            <a:ext cx="144661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14938" y="290354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2. Integração com SIEM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5214938" y="310892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Envio contínuo de logs de auditoria e segurança para a ferramenta SIEM do BS2, garantindo visibilidade e monitoramento em tempo real.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571500" y="381467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571500" y="381467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27" name="Shape 20"/>
          <p:cNvSpPr/>
          <p:nvPr/>
        </p:nvSpPr>
        <p:spPr>
          <a:xfrm>
            <a:off x="714375" y="395755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89" y="4053994"/>
            <a:ext cx="96441" cy="128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43000" y="395755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3. Evidências de Auditoria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1143000" y="416293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Garantia contratual de fornecimento periódico de evidências de segurança, relatórios de conformidade e direito à auditoria independente.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4643438" y="3814679"/>
            <a:ext cx="3929063" cy="932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4643438" y="3814679"/>
            <a:ext cx="3929063" cy="21431"/>
          </a:xfrm>
          <a:prstGeom prst="rect">
            <a:avLst/>
          </a:prstGeom>
          <a:solidFill>
            <a:srgbClr val="0055A4"/>
          </a:solidFill>
          <a:ln/>
        </p:spPr>
      </p:sp>
      <p:sp>
        <p:nvSpPr>
          <p:cNvPr id="33" name="Shape 25"/>
          <p:cNvSpPr/>
          <p:nvPr/>
        </p:nvSpPr>
        <p:spPr>
          <a:xfrm>
            <a:off x="4786313" y="3957554"/>
            <a:ext cx="321469" cy="321469"/>
          </a:xfrm>
          <a:prstGeom prst="ellipse">
            <a:avLst/>
          </a:prstGeom>
          <a:solidFill>
            <a:srgbClr val="0055A4">
              <a:alpha val="10000"/>
            </a:srgbClr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753" y="4053994"/>
            <a:ext cx="128588" cy="128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14938" y="3957554"/>
            <a:ext cx="3214688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4. Testes de Segurança Contínuos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5214938" y="4162937"/>
            <a:ext cx="321468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Execução contínua de testes de intrusão (Pentest) e varreduras de vulnerabilidade para atestar a eficácia do isolamento lógico do tenant.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759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Modelo On-Premise: Visão de Habilitação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354801"/>
            <a:ext cx="8001000" cy="800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354801"/>
            <a:ext cx="35719" cy="80010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1354801"/>
            <a:ext cx="8001000" cy="8001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modelo on-premise transfere para o BS2 a responsabilidade de provisionar, manter e evoluir os componentes técnicos críticos. Embora exija investimento inicial em infraestrutura (CAPEX) e contratação de consultoria especializada, ele viabiliza a construção de uma fundação técnica robusta e independente.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" y="2369214"/>
            <a:ext cx="2571750" cy="144582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369214"/>
            <a:ext cx="2571750" cy="28575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2512089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04602" y="2847845"/>
            <a:ext cx="150554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Controle Arquitetônico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14375" y="3112164"/>
            <a:ext cx="22860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Governança total sobre a infraestrutura, dados e segurança, mitigando os riscos de exposição cruzada apontados pela SI.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3286125" y="2369214"/>
            <a:ext cx="2571750" cy="144582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5" name="Shape 11"/>
          <p:cNvSpPr/>
          <p:nvPr/>
        </p:nvSpPr>
        <p:spPr>
          <a:xfrm>
            <a:off x="3286125" y="2369214"/>
            <a:ext cx="2571750" cy="28575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988" y="2512089"/>
            <a:ext cx="200025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21026" y="2847845"/>
            <a:ext cx="130194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Redução de Lock-in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429000" y="3112164"/>
            <a:ext cx="22860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operação interna dos componentes reduz drasticamente a dependência crítica do fornecedor para a continuidade do negócio.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6000750" y="2369214"/>
            <a:ext cx="2571750" cy="144582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0" name="Shape 15"/>
          <p:cNvSpPr/>
          <p:nvPr/>
        </p:nvSpPr>
        <p:spPr>
          <a:xfrm>
            <a:off x="6000750" y="2369214"/>
            <a:ext cx="2571750" cy="28575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038" y="2512089"/>
            <a:ext cx="257175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46366" y="2847845"/>
            <a:ext cx="12805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Ativos Reutilizáveis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143625" y="3112164"/>
            <a:ext cx="2286000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Componentes como Kafka, Vault e Keycloak são implantados como plataforma corporativa, servindo a outros produtos do banco.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571500" y="4100792"/>
            <a:ext cx="8001000" cy="147518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4311532"/>
            <a:ext cx="144661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6192" y="4279385"/>
            <a:ext cx="441126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Roadmap Executivo de Implantação (Consultoria + Equipe Interna)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1107281" y="4829454"/>
            <a:ext cx="6929438" cy="21431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1"/>
          <p:cNvSpPr/>
          <p:nvPr/>
        </p:nvSpPr>
        <p:spPr>
          <a:xfrm>
            <a:off x="1469464" y="4722298"/>
            <a:ext cx="242888" cy="242888"/>
          </a:xfrm>
          <a:prstGeom prst="ellipse">
            <a:avLst/>
          </a:prstGeom>
          <a:solidFill>
            <a:srgbClr val="003366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469464" y="472229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S1-2</a:t>
            </a:r>
            <a:endParaRPr lang="en-US" sz="700" dirty="0"/>
          </a:p>
        </p:txBody>
      </p:sp>
      <p:sp>
        <p:nvSpPr>
          <p:cNvPr id="30" name="Text 23"/>
          <p:cNvSpPr/>
          <p:nvPr/>
        </p:nvSpPr>
        <p:spPr>
          <a:xfrm>
            <a:off x="1133708" y="5072342"/>
            <a:ext cx="91440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Discovery &amp; Arq.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802416" y="5268795"/>
            <a:ext cx="157698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Design, dependências e plano de DR</a:t>
            </a:r>
            <a:endParaRPr lang="en-US" sz="600" dirty="0"/>
          </a:p>
        </p:txBody>
      </p:sp>
      <p:sp>
        <p:nvSpPr>
          <p:cNvPr id="32" name="Shape 25"/>
          <p:cNvSpPr/>
          <p:nvPr/>
        </p:nvSpPr>
        <p:spPr>
          <a:xfrm>
            <a:off x="3456849" y="4722298"/>
            <a:ext cx="242888" cy="242888"/>
          </a:xfrm>
          <a:prstGeom prst="ellipse">
            <a:avLst/>
          </a:prstGeom>
          <a:solidFill>
            <a:srgbClr val="003366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456849" y="472229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S3-4</a:t>
            </a:r>
            <a:endParaRPr lang="en-US" sz="700" dirty="0"/>
          </a:p>
        </p:txBody>
      </p:sp>
      <p:sp>
        <p:nvSpPr>
          <p:cNvPr id="34" name="Text 27"/>
          <p:cNvSpPr/>
          <p:nvPr/>
        </p:nvSpPr>
        <p:spPr>
          <a:xfrm>
            <a:off x="3122879" y="5072342"/>
            <a:ext cx="9108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Automação HML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2904102" y="5268795"/>
            <a:ext cx="134838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Clusters HA e testes integrados</a:t>
            </a:r>
            <a:endParaRPr lang="en-US" sz="600" dirty="0"/>
          </a:p>
        </p:txBody>
      </p:sp>
      <p:sp>
        <p:nvSpPr>
          <p:cNvPr id="36" name="Shape 29"/>
          <p:cNvSpPr/>
          <p:nvPr/>
        </p:nvSpPr>
        <p:spPr>
          <a:xfrm>
            <a:off x="5444235" y="4722298"/>
            <a:ext cx="242888" cy="242888"/>
          </a:xfrm>
          <a:prstGeom prst="ellipse">
            <a:avLst/>
          </a:prstGeom>
          <a:solidFill>
            <a:srgbClr val="003366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444235" y="472229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S5-6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5170987" y="5072342"/>
            <a:ext cx="78938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Operação PRD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4769151" y="5268795"/>
            <a:ext cx="159305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Implantação, SIEM e observabilidade</a:t>
            </a:r>
            <a:endParaRPr lang="en-US" sz="600" dirty="0"/>
          </a:p>
        </p:txBody>
      </p:sp>
      <p:sp>
        <p:nvSpPr>
          <p:cNvPr id="40" name="Shape 33"/>
          <p:cNvSpPr/>
          <p:nvPr/>
        </p:nvSpPr>
        <p:spPr>
          <a:xfrm>
            <a:off x="7431621" y="4722298"/>
            <a:ext cx="242888" cy="242888"/>
          </a:xfrm>
          <a:prstGeom prst="ellipse">
            <a:avLst/>
          </a:prstGeom>
          <a:solidFill>
            <a:srgbClr val="FF3366"/>
          </a:solidFill>
          <a:ln w="27432">
            <a:solidFill>
              <a:srgbClr val="FFFFF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431621" y="4722298"/>
            <a:ext cx="24288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S7-8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7197663" y="5072342"/>
            <a:ext cx="71080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DR &amp; Go-Live</a:t>
            </a:r>
            <a:endParaRPr lang="en-US" sz="750" dirty="0"/>
          </a:p>
        </p:txBody>
      </p:sp>
      <p:sp>
        <p:nvSpPr>
          <p:cNvPr id="43" name="Text 36"/>
          <p:cNvSpPr/>
          <p:nvPr/>
        </p:nvSpPr>
        <p:spPr>
          <a:xfrm>
            <a:off x="6723497" y="5268795"/>
            <a:ext cx="165913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Testes de contingência e capacitação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13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Matriz RACI: Implantação On-Premise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426239"/>
            <a:ext cx="8001000" cy="3109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26239"/>
            <a:ext cx="8001000" cy="35719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1569114"/>
            <a:ext cx="3086100" cy="3303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885224"/>
            <a:ext cx="3086100" cy="142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569114"/>
            <a:ext cx="3086100" cy="330398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Atividade Crítica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800475" y="1569114"/>
            <a:ext cx="817345" cy="3303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3800475" y="1885224"/>
            <a:ext cx="817345" cy="142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3" name="Text 10"/>
          <p:cNvSpPr/>
          <p:nvPr/>
        </p:nvSpPr>
        <p:spPr>
          <a:xfrm>
            <a:off x="3800475" y="1569114"/>
            <a:ext cx="817345" cy="330398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617820" y="1569114"/>
            <a:ext cx="954891" cy="3303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820" y="1885224"/>
            <a:ext cx="954891" cy="142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820" y="1569114"/>
            <a:ext cx="954891" cy="330398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572711" y="1569114"/>
            <a:ext cx="776101" cy="3303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5"/>
          <p:cNvSpPr/>
          <p:nvPr/>
        </p:nvSpPr>
        <p:spPr>
          <a:xfrm>
            <a:off x="5572711" y="1885224"/>
            <a:ext cx="776101" cy="142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6"/>
          <p:cNvSpPr/>
          <p:nvPr/>
        </p:nvSpPr>
        <p:spPr>
          <a:xfrm>
            <a:off x="5572711" y="1569114"/>
            <a:ext cx="776101" cy="330398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Segurança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348812" y="1569114"/>
            <a:ext cx="681782" cy="3303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8"/>
          <p:cNvSpPr/>
          <p:nvPr/>
        </p:nvSpPr>
        <p:spPr>
          <a:xfrm>
            <a:off x="6348812" y="1885224"/>
            <a:ext cx="681782" cy="142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2" name="Text 19"/>
          <p:cNvSpPr/>
          <p:nvPr/>
        </p:nvSpPr>
        <p:spPr>
          <a:xfrm>
            <a:off x="6348812" y="1569114"/>
            <a:ext cx="681782" cy="330398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Negócios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030594" y="1569114"/>
            <a:ext cx="821280" cy="3303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Shape 21"/>
          <p:cNvSpPr/>
          <p:nvPr/>
        </p:nvSpPr>
        <p:spPr>
          <a:xfrm>
            <a:off x="7030594" y="1885224"/>
            <a:ext cx="821280" cy="142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Text 22"/>
          <p:cNvSpPr/>
          <p:nvPr/>
        </p:nvSpPr>
        <p:spPr>
          <a:xfrm>
            <a:off x="7030594" y="1569114"/>
            <a:ext cx="821280" cy="330398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Consultoria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7851874" y="1569114"/>
            <a:ext cx="577751" cy="33039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4"/>
          <p:cNvSpPr/>
          <p:nvPr/>
        </p:nvSpPr>
        <p:spPr>
          <a:xfrm>
            <a:off x="7851874" y="1885224"/>
            <a:ext cx="577751" cy="14288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8" name="Text 25"/>
          <p:cNvSpPr/>
          <p:nvPr/>
        </p:nvSpPr>
        <p:spPr>
          <a:xfrm>
            <a:off x="7851874" y="1569114"/>
            <a:ext cx="577751" cy="330398"/>
          </a:xfrm>
          <a:prstGeom prst="rect">
            <a:avLst/>
          </a:prstGeom>
          <a:noFill/>
          <a:ln/>
        </p:spPr>
        <p:txBody>
          <a:bodyPr wrap="none" lIns="85090" tIns="102108" rIns="85090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Evertec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14375" y="1892368"/>
            <a:ext cx="3086100" cy="346472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Discovery, Desenho e Dependências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087704" y="1978093"/>
            <a:ext cx="242888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1" name="Text 28"/>
          <p:cNvSpPr/>
          <p:nvPr/>
        </p:nvSpPr>
        <p:spPr>
          <a:xfrm>
            <a:off x="4087704" y="1978093"/>
            <a:ext cx="242888" cy="171450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A/R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009527" y="1978093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0"/>
          <p:cNvSpPr/>
          <p:nvPr/>
        </p:nvSpPr>
        <p:spPr>
          <a:xfrm>
            <a:off x="5009527" y="19780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5875037" y="1978093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2"/>
          <p:cNvSpPr/>
          <p:nvPr/>
        </p:nvSpPr>
        <p:spPr>
          <a:xfrm>
            <a:off x="5875037" y="19780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36" name="Shape 33"/>
          <p:cNvSpPr/>
          <p:nvPr/>
        </p:nvSpPr>
        <p:spPr>
          <a:xfrm>
            <a:off x="6603978" y="1978093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4"/>
          <p:cNvSpPr/>
          <p:nvPr/>
        </p:nvSpPr>
        <p:spPr>
          <a:xfrm>
            <a:off x="6603978" y="19780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7355495" y="1978093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9" name="Text 36"/>
          <p:cNvSpPr/>
          <p:nvPr/>
        </p:nvSpPr>
        <p:spPr>
          <a:xfrm>
            <a:off x="7355495" y="19780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8055025" y="1978093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8"/>
          <p:cNvSpPr/>
          <p:nvPr/>
        </p:nvSpPr>
        <p:spPr>
          <a:xfrm>
            <a:off x="8055025" y="1978093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714375" y="2238840"/>
            <a:ext cx="7715250" cy="350044"/>
          </a:xfrm>
          <a:prstGeom prst="rect">
            <a:avLst/>
          </a:prstGeom>
          <a:solidFill>
            <a:srgbClr val="FBFBFB"/>
          </a:solidFill>
          <a:ln/>
        </p:spPr>
      </p:sp>
      <p:sp>
        <p:nvSpPr>
          <p:cNvPr id="43" name="Text 40"/>
          <p:cNvSpPr/>
          <p:nvPr/>
        </p:nvSpPr>
        <p:spPr>
          <a:xfrm>
            <a:off x="714375" y="2238840"/>
            <a:ext cx="3086100" cy="3500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Provisionamento (K8s, Storage, Rede)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4123423" y="2328137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Text 42"/>
          <p:cNvSpPr/>
          <p:nvPr/>
        </p:nvSpPr>
        <p:spPr>
          <a:xfrm>
            <a:off x="4123423" y="23281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973808" y="2328137"/>
            <a:ext cx="242888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7" name="Text 44"/>
          <p:cNvSpPr/>
          <p:nvPr/>
        </p:nvSpPr>
        <p:spPr>
          <a:xfrm>
            <a:off x="4973808" y="2328137"/>
            <a:ext cx="242888" cy="171450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A/R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5875037" y="2328137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Text 46"/>
          <p:cNvSpPr/>
          <p:nvPr/>
        </p:nvSpPr>
        <p:spPr>
          <a:xfrm>
            <a:off x="5875037" y="23281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6603978" y="2328137"/>
            <a:ext cx="171450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51" name="Text 48"/>
          <p:cNvSpPr/>
          <p:nvPr/>
        </p:nvSpPr>
        <p:spPr>
          <a:xfrm>
            <a:off x="6603978" y="23281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52" name="Shape 49"/>
          <p:cNvSpPr/>
          <p:nvPr/>
        </p:nvSpPr>
        <p:spPr>
          <a:xfrm>
            <a:off x="7355495" y="2328137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3" name="Text 50"/>
          <p:cNvSpPr/>
          <p:nvPr/>
        </p:nvSpPr>
        <p:spPr>
          <a:xfrm>
            <a:off x="7355495" y="23281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54" name="Shape 51"/>
          <p:cNvSpPr/>
          <p:nvPr/>
        </p:nvSpPr>
        <p:spPr>
          <a:xfrm>
            <a:off x="8055025" y="2328137"/>
            <a:ext cx="171450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55" name="Text 52"/>
          <p:cNvSpPr/>
          <p:nvPr/>
        </p:nvSpPr>
        <p:spPr>
          <a:xfrm>
            <a:off x="8055025" y="232813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714375" y="2588884"/>
            <a:ext cx="3086100" cy="3500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Segurança (TLS, RBAC, Secrets, WAF)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4123423" y="2678181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8" name="Text 55"/>
          <p:cNvSpPr/>
          <p:nvPr/>
        </p:nvSpPr>
        <p:spPr>
          <a:xfrm>
            <a:off x="4123423" y="26781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59" name="Shape 56"/>
          <p:cNvSpPr/>
          <p:nvPr/>
        </p:nvSpPr>
        <p:spPr>
          <a:xfrm>
            <a:off x="5009527" y="2678181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0" name="Text 57"/>
          <p:cNvSpPr/>
          <p:nvPr/>
        </p:nvSpPr>
        <p:spPr>
          <a:xfrm>
            <a:off x="5009527" y="26781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61" name="Shape 58"/>
          <p:cNvSpPr/>
          <p:nvPr/>
        </p:nvSpPr>
        <p:spPr>
          <a:xfrm>
            <a:off x="5839318" y="2678181"/>
            <a:ext cx="242888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2" name="Text 59"/>
          <p:cNvSpPr/>
          <p:nvPr/>
        </p:nvSpPr>
        <p:spPr>
          <a:xfrm>
            <a:off x="5839318" y="2678181"/>
            <a:ext cx="242888" cy="171450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A/R</a:t>
            </a:r>
            <a:endParaRPr lang="en-US" sz="600" dirty="0"/>
          </a:p>
        </p:txBody>
      </p:sp>
      <p:sp>
        <p:nvSpPr>
          <p:cNvPr id="63" name="Shape 60"/>
          <p:cNvSpPr/>
          <p:nvPr/>
        </p:nvSpPr>
        <p:spPr>
          <a:xfrm>
            <a:off x="6603978" y="2678181"/>
            <a:ext cx="171450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64" name="Text 61"/>
          <p:cNvSpPr/>
          <p:nvPr/>
        </p:nvSpPr>
        <p:spPr>
          <a:xfrm>
            <a:off x="6603978" y="26781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65" name="Shape 62"/>
          <p:cNvSpPr/>
          <p:nvPr/>
        </p:nvSpPr>
        <p:spPr>
          <a:xfrm>
            <a:off x="7355495" y="2678181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6" name="Text 63"/>
          <p:cNvSpPr/>
          <p:nvPr/>
        </p:nvSpPr>
        <p:spPr>
          <a:xfrm>
            <a:off x="7355495" y="26781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67" name="Shape 64"/>
          <p:cNvSpPr/>
          <p:nvPr/>
        </p:nvSpPr>
        <p:spPr>
          <a:xfrm>
            <a:off x="8055025" y="2678181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8" name="Text 65"/>
          <p:cNvSpPr/>
          <p:nvPr/>
        </p:nvSpPr>
        <p:spPr>
          <a:xfrm>
            <a:off x="8055025" y="26781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714375" y="2938928"/>
            <a:ext cx="7715250" cy="350044"/>
          </a:xfrm>
          <a:prstGeom prst="rect">
            <a:avLst/>
          </a:prstGeom>
          <a:solidFill>
            <a:srgbClr val="FBFBFB"/>
          </a:solidFill>
          <a:ln/>
        </p:spPr>
      </p:sp>
      <p:sp>
        <p:nvSpPr>
          <p:cNvPr id="70" name="Text 67"/>
          <p:cNvSpPr/>
          <p:nvPr/>
        </p:nvSpPr>
        <p:spPr>
          <a:xfrm>
            <a:off x="714375" y="2938928"/>
            <a:ext cx="3086100" cy="3500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Implantação (Kafka, Vault, Keycloak, Traefik)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123423" y="3028224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2" name="Text 69"/>
          <p:cNvSpPr/>
          <p:nvPr/>
        </p:nvSpPr>
        <p:spPr>
          <a:xfrm>
            <a:off x="4123423" y="302822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73" name="Shape 70"/>
          <p:cNvSpPr/>
          <p:nvPr/>
        </p:nvSpPr>
        <p:spPr>
          <a:xfrm>
            <a:off x="5009527" y="3028224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4" name="Text 71"/>
          <p:cNvSpPr/>
          <p:nvPr/>
        </p:nvSpPr>
        <p:spPr>
          <a:xfrm>
            <a:off x="5009527" y="302822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75" name="Shape 72"/>
          <p:cNvSpPr/>
          <p:nvPr/>
        </p:nvSpPr>
        <p:spPr>
          <a:xfrm>
            <a:off x="5875037" y="3028224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6" name="Text 73"/>
          <p:cNvSpPr/>
          <p:nvPr/>
        </p:nvSpPr>
        <p:spPr>
          <a:xfrm>
            <a:off x="5875037" y="302822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77" name="Shape 74"/>
          <p:cNvSpPr/>
          <p:nvPr/>
        </p:nvSpPr>
        <p:spPr>
          <a:xfrm>
            <a:off x="6603978" y="3028224"/>
            <a:ext cx="171450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78" name="Text 75"/>
          <p:cNvSpPr/>
          <p:nvPr/>
        </p:nvSpPr>
        <p:spPr>
          <a:xfrm>
            <a:off x="6603978" y="302822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79" name="Shape 76"/>
          <p:cNvSpPr/>
          <p:nvPr/>
        </p:nvSpPr>
        <p:spPr>
          <a:xfrm>
            <a:off x="7319776" y="3028224"/>
            <a:ext cx="242888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0" name="Text 77"/>
          <p:cNvSpPr/>
          <p:nvPr/>
        </p:nvSpPr>
        <p:spPr>
          <a:xfrm>
            <a:off x="7319776" y="3028224"/>
            <a:ext cx="242888" cy="171450"/>
          </a:xfrm>
          <a:prstGeom prst="rect">
            <a:avLst/>
          </a:prstGeom>
          <a:noFill/>
          <a:ln/>
        </p:spPr>
        <p:txBody>
          <a:bodyPr wrap="none" lIns="51054" tIns="0" rIns="51054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A/R</a:t>
            </a:r>
            <a:endParaRPr lang="en-US" sz="600" dirty="0"/>
          </a:p>
        </p:txBody>
      </p:sp>
      <p:sp>
        <p:nvSpPr>
          <p:cNvPr id="81" name="Shape 78"/>
          <p:cNvSpPr/>
          <p:nvPr/>
        </p:nvSpPr>
        <p:spPr>
          <a:xfrm>
            <a:off x="8055025" y="3028224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2" name="Text 79"/>
          <p:cNvSpPr/>
          <p:nvPr/>
        </p:nvSpPr>
        <p:spPr>
          <a:xfrm>
            <a:off x="8055025" y="302822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83" name="Text 80"/>
          <p:cNvSpPr/>
          <p:nvPr/>
        </p:nvSpPr>
        <p:spPr>
          <a:xfrm>
            <a:off x="714375" y="3288971"/>
            <a:ext cx="3086100" cy="3500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Monitoramento, Alertas e SIEM</a:t>
            </a:r>
            <a:endParaRPr lang="en-US" sz="700" dirty="0"/>
          </a:p>
        </p:txBody>
      </p:sp>
      <p:sp>
        <p:nvSpPr>
          <p:cNvPr id="84" name="Shape 81"/>
          <p:cNvSpPr/>
          <p:nvPr/>
        </p:nvSpPr>
        <p:spPr>
          <a:xfrm>
            <a:off x="4123423" y="3378268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5" name="Text 82"/>
          <p:cNvSpPr/>
          <p:nvPr/>
        </p:nvSpPr>
        <p:spPr>
          <a:xfrm>
            <a:off x="4123423" y="33782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86" name="Shape 83"/>
          <p:cNvSpPr/>
          <p:nvPr/>
        </p:nvSpPr>
        <p:spPr>
          <a:xfrm>
            <a:off x="5009527" y="3378268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7" name="Text 84"/>
          <p:cNvSpPr/>
          <p:nvPr/>
        </p:nvSpPr>
        <p:spPr>
          <a:xfrm>
            <a:off x="5009527" y="33782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88" name="Shape 85"/>
          <p:cNvSpPr/>
          <p:nvPr/>
        </p:nvSpPr>
        <p:spPr>
          <a:xfrm>
            <a:off x="5875037" y="3378268"/>
            <a:ext cx="171450" cy="1714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89" name="Text 86"/>
          <p:cNvSpPr/>
          <p:nvPr/>
        </p:nvSpPr>
        <p:spPr>
          <a:xfrm>
            <a:off x="5875037" y="33782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endParaRPr lang="en-US" sz="600" dirty="0"/>
          </a:p>
        </p:txBody>
      </p:sp>
      <p:sp>
        <p:nvSpPr>
          <p:cNvPr id="90" name="Shape 87"/>
          <p:cNvSpPr/>
          <p:nvPr/>
        </p:nvSpPr>
        <p:spPr>
          <a:xfrm>
            <a:off x="6603978" y="3378268"/>
            <a:ext cx="171450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91" name="Text 88"/>
          <p:cNvSpPr/>
          <p:nvPr/>
        </p:nvSpPr>
        <p:spPr>
          <a:xfrm>
            <a:off x="6603978" y="33782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92" name="Shape 89"/>
          <p:cNvSpPr/>
          <p:nvPr/>
        </p:nvSpPr>
        <p:spPr>
          <a:xfrm>
            <a:off x="7355495" y="3378268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3" name="Text 90"/>
          <p:cNvSpPr/>
          <p:nvPr/>
        </p:nvSpPr>
        <p:spPr>
          <a:xfrm>
            <a:off x="7355495" y="33782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94" name="Shape 91"/>
          <p:cNvSpPr/>
          <p:nvPr/>
        </p:nvSpPr>
        <p:spPr>
          <a:xfrm>
            <a:off x="8055025" y="3378268"/>
            <a:ext cx="171450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95" name="Text 92"/>
          <p:cNvSpPr/>
          <p:nvPr/>
        </p:nvSpPr>
        <p:spPr>
          <a:xfrm>
            <a:off x="8055025" y="337826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96" name="Shape 93"/>
          <p:cNvSpPr/>
          <p:nvPr/>
        </p:nvSpPr>
        <p:spPr>
          <a:xfrm>
            <a:off x="714375" y="3639015"/>
            <a:ext cx="7715250" cy="350044"/>
          </a:xfrm>
          <a:prstGeom prst="rect">
            <a:avLst/>
          </a:prstGeom>
          <a:solidFill>
            <a:srgbClr val="FBFBFB"/>
          </a:solidFill>
          <a:ln/>
        </p:spPr>
      </p:sp>
      <p:sp>
        <p:nvSpPr>
          <p:cNvPr id="97" name="Text 94"/>
          <p:cNvSpPr/>
          <p:nvPr/>
        </p:nvSpPr>
        <p:spPr>
          <a:xfrm>
            <a:off x="714375" y="3639015"/>
            <a:ext cx="3086100" cy="3500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Testes Integrados e Aceite Funcional</a:t>
            </a:r>
            <a:endParaRPr lang="en-US" sz="700" dirty="0"/>
          </a:p>
        </p:txBody>
      </p:sp>
      <p:sp>
        <p:nvSpPr>
          <p:cNvPr id="98" name="Shape 95"/>
          <p:cNvSpPr/>
          <p:nvPr/>
        </p:nvSpPr>
        <p:spPr>
          <a:xfrm>
            <a:off x="4123423" y="3728312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9" name="Text 96"/>
          <p:cNvSpPr/>
          <p:nvPr/>
        </p:nvSpPr>
        <p:spPr>
          <a:xfrm>
            <a:off x="4123423" y="372831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100" name="Shape 97"/>
          <p:cNvSpPr/>
          <p:nvPr/>
        </p:nvSpPr>
        <p:spPr>
          <a:xfrm>
            <a:off x="5009527" y="3728312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1" name="Text 98"/>
          <p:cNvSpPr/>
          <p:nvPr/>
        </p:nvSpPr>
        <p:spPr>
          <a:xfrm>
            <a:off x="5009527" y="372831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102" name="Shape 99"/>
          <p:cNvSpPr/>
          <p:nvPr/>
        </p:nvSpPr>
        <p:spPr>
          <a:xfrm>
            <a:off x="5875037" y="3728312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3" name="Text 100"/>
          <p:cNvSpPr/>
          <p:nvPr/>
        </p:nvSpPr>
        <p:spPr>
          <a:xfrm>
            <a:off x="5875037" y="372831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104" name="Shape 101"/>
          <p:cNvSpPr/>
          <p:nvPr/>
        </p:nvSpPr>
        <p:spPr>
          <a:xfrm>
            <a:off x="6603978" y="3728312"/>
            <a:ext cx="171450" cy="1714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05" name="Text 102"/>
          <p:cNvSpPr/>
          <p:nvPr/>
        </p:nvSpPr>
        <p:spPr>
          <a:xfrm>
            <a:off x="6603978" y="372831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endParaRPr lang="en-US" sz="600" dirty="0"/>
          </a:p>
        </p:txBody>
      </p:sp>
      <p:sp>
        <p:nvSpPr>
          <p:cNvPr id="106" name="Shape 103"/>
          <p:cNvSpPr/>
          <p:nvPr/>
        </p:nvSpPr>
        <p:spPr>
          <a:xfrm>
            <a:off x="7355495" y="3728312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7" name="Text 104"/>
          <p:cNvSpPr/>
          <p:nvPr/>
        </p:nvSpPr>
        <p:spPr>
          <a:xfrm>
            <a:off x="7355495" y="372831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108" name="Shape 105"/>
          <p:cNvSpPr/>
          <p:nvPr/>
        </p:nvSpPr>
        <p:spPr>
          <a:xfrm>
            <a:off x="8055025" y="3728312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09" name="Text 106"/>
          <p:cNvSpPr/>
          <p:nvPr/>
        </p:nvSpPr>
        <p:spPr>
          <a:xfrm>
            <a:off x="8055025" y="372831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110" name="Text 107"/>
          <p:cNvSpPr/>
          <p:nvPr/>
        </p:nvSpPr>
        <p:spPr>
          <a:xfrm>
            <a:off x="714375" y="3989059"/>
            <a:ext cx="3086100" cy="3500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Validação de Disaster Recovery (DR)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4123423" y="4078356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2" name="Text 109"/>
          <p:cNvSpPr/>
          <p:nvPr/>
        </p:nvSpPr>
        <p:spPr>
          <a:xfrm>
            <a:off x="4123423" y="40783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113" name="Shape 110"/>
          <p:cNvSpPr/>
          <p:nvPr/>
        </p:nvSpPr>
        <p:spPr>
          <a:xfrm>
            <a:off x="5009527" y="4078356"/>
            <a:ext cx="171450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14" name="Text 111"/>
          <p:cNvSpPr/>
          <p:nvPr/>
        </p:nvSpPr>
        <p:spPr>
          <a:xfrm>
            <a:off x="5009527" y="40783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115" name="Shape 112"/>
          <p:cNvSpPr/>
          <p:nvPr/>
        </p:nvSpPr>
        <p:spPr>
          <a:xfrm>
            <a:off x="5875037" y="4078356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6" name="Text 113"/>
          <p:cNvSpPr/>
          <p:nvPr/>
        </p:nvSpPr>
        <p:spPr>
          <a:xfrm>
            <a:off x="5875037" y="40783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117" name="Shape 114"/>
          <p:cNvSpPr/>
          <p:nvPr/>
        </p:nvSpPr>
        <p:spPr>
          <a:xfrm>
            <a:off x="6603978" y="4078356"/>
            <a:ext cx="171450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118" name="Text 115"/>
          <p:cNvSpPr/>
          <p:nvPr/>
        </p:nvSpPr>
        <p:spPr>
          <a:xfrm>
            <a:off x="6603978" y="40783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119" name="Shape 116"/>
          <p:cNvSpPr/>
          <p:nvPr/>
        </p:nvSpPr>
        <p:spPr>
          <a:xfrm>
            <a:off x="7355495" y="4078356"/>
            <a:ext cx="171450" cy="1714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0" name="Text 117"/>
          <p:cNvSpPr/>
          <p:nvPr/>
        </p:nvSpPr>
        <p:spPr>
          <a:xfrm>
            <a:off x="7355495" y="40783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endParaRPr lang="en-US" sz="600" dirty="0"/>
          </a:p>
        </p:txBody>
      </p:sp>
      <p:sp>
        <p:nvSpPr>
          <p:cNvPr id="121" name="Shape 118"/>
          <p:cNvSpPr/>
          <p:nvPr/>
        </p:nvSpPr>
        <p:spPr>
          <a:xfrm>
            <a:off x="8055025" y="4078356"/>
            <a:ext cx="171450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2" name="Text 119"/>
          <p:cNvSpPr/>
          <p:nvPr/>
        </p:nvSpPr>
        <p:spPr>
          <a:xfrm>
            <a:off x="8055025" y="407835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123" name="Shape 120"/>
          <p:cNvSpPr/>
          <p:nvPr/>
        </p:nvSpPr>
        <p:spPr>
          <a:xfrm>
            <a:off x="571500" y="4628424"/>
            <a:ext cx="8001000" cy="492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Shape 121"/>
          <p:cNvSpPr/>
          <p:nvPr/>
        </p:nvSpPr>
        <p:spPr>
          <a:xfrm>
            <a:off x="678656" y="4789159"/>
            <a:ext cx="145889" cy="17145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25" name="Text 122"/>
          <p:cNvSpPr/>
          <p:nvPr/>
        </p:nvSpPr>
        <p:spPr>
          <a:xfrm>
            <a:off x="678656" y="4789159"/>
            <a:ext cx="1458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881695" y="4805232"/>
            <a:ext cx="63579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Accountable:</a:t>
            </a:r>
            <a:endParaRPr lang="en-US" sz="650" dirty="0"/>
          </a:p>
        </p:txBody>
      </p:sp>
      <p:sp>
        <p:nvSpPr>
          <p:cNvPr id="127" name="Text 124"/>
          <p:cNvSpPr/>
          <p:nvPr/>
        </p:nvSpPr>
        <p:spPr>
          <a:xfrm>
            <a:off x="1574639" y="4735581"/>
            <a:ext cx="108043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Responsável Final (Aprova)</a:t>
            </a:r>
            <a:endParaRPr lang="en-US" sz="650" dirty="0"/>
          </a:p>
        </p:txBody>
      </p:sp>
      <p:sp>
        <p:nvSpPr>
          <p:cNvPr id="128" name="Shape 125"/>
          <p:cNvSpPr/>
          <p:nvPr/>
        </p:nvSpPr>
        <p:spPr>
          <a:xfrm>
            <a:off x="2869388" y="4789159"/>
            <a:ext cx="142987" cy="1714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9" name="Text 126"/>
          <p:cNvSpPr/>
          <p:nvPr/>
        </p:nvSpPr>
        <p:spPr>
          <a:xfrm>
            <a:off x="2869388" y="4789159"/>
            <a:ext cx="1429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</a:t>
            </a:r>
            <a:endParaRPr lang="en-US" sz="600" dirty="0"/>
          </a:p>
        </p:txBody>
      </p:sp>
      <p:sp>
        <p:nvSpPr>
          <p:cNvPr id="130" name="Text 127"/>
          <p:cNvSpPr/>
          <p:nvPr/>
        </p:nvSpPr>
        <p:spPr>
          <a:xfrm>
            <a:off x="3069524" y="4805232"/>
            <a:ext cx="60364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Responsible:</a:t>
            </a:r>
            <a:endParaRPr lang="en-US" sz="650" dirty="0"/>
          </a:p>
        </p:txBody>
      </p:sp>
      <p:sp>
        <p:nvSpPr>
          <p:cNvPr id="131" name="Text 128"/>
          <p:cNvSpPr/>
          <p:nvPr/>
        </p:nvSpPr>
        <p:spPr>
          <a:xfrm>
            <a:off x="3730321" y="4735581"/>
            <a:ext cx="72244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Executor da Tarefa</a:t>
            </a:r>
            <a:endParaRPr lang="en-US" sz="650" dirty="0"/>
          </a:p>
        </p:txBody>
      </p:sp>
      <p:sp>
        <p:nvSpPr>
          <p:cNvPr id="132" name="Shape 129"/>
          <p:cNvSpPr/>
          <p:nvPr/>
        </p:nvSpPr>
        <p:spPr>
          <a:xfrm>
            <a:off x="4667073" y="4789159"/>
            <a:ext cx="147424" cy="1714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3" name="Text 130"/>
          <p:cNvSpPr/>
          <p:nvPr/>
        </p:nvSpPr>
        <p:spPr>
          <a:xfrm>
            <a:off x="4667073" y="4789159"/>
            <a:ext cx="1474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</a:t>
            </a:r>
            <a:endParaRPr lang="en-US" sz="600" dirty="0"/>
          </a:p>
        </p:txBody>
      </p:sp>
      <p:sp>
        <p:nvSpPr>
          <p:cNvPr id="134" name="Text 131"/>
          <p:cNvSpPr/>
          <p:nvPr/>
        </p:nvSpPr>
        <p:spPr>
          <a:xfrm>
            <a:off x="4871647" y="4805232"/>
            <a:ext cx="5179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Consulted:</a:t>
            </a:r>
            <a:endParaRPr lang="en-US" sz="650" dirty="0"/>
          </a:p>
        </p:txBody>
      </p:sp>
      <p:sp>
        <p:nvSpPr>
          <p:cNvPr id="135" name="Text 132"/>
          <p:cNvSpPr/>
          <p:nvPr/>
        </p:nvSpPr>
        <p:spPr>
          <a:xfrm>
            <a:off x="5446719" y="4735581"/>
            <a:ext cx="111944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Consultado (Apoio Técnico)</a:t>
            </a:r>
            <a:endParaRPr lang="en-US" sz="650" dirty="0"/>
          </a:p>
        </p:txBody>
      </p:sp>
      <p:sp>
        <p:nvSpPr>
          <p:cNvPr id="136" name="Shape 133"/>
          <p:cNvSpPr/>
          <p:nvPr/>
        </p:nvSpPr>
        <p:spPr>
          <a:xfrm>
            <a:off x="6780479" y="4789159"/>
            <a:ext cx="148847" cy="171450"/>
          </a:xfrm>
          <a:prstGeom prst="rect">
            <a:avLst/>
          </a:prstGeom>
          <a:solidFill>
            <a:srgbClr val="F5F5F5"/>
          </a:solidFill>
          <a:ln w="9144">
            <a:solidFill>
              <a:srgbClr val="CCCCCC"/>
            </a:solidFill>
            <a:prstDash val="dash"/>
          </a:ln>
        </p:spPr>
      </p:sp>
      <p:sp>
        <p:nvSpPr>
          <p:cNvPr id="137" name="Text 134"/>
          <p:cNvSpPr/>
          <p:nvPr/>
        </p:nvSpPr>
        <p:spPr>
          <a:xfrm>
            <a:off x="6780479" y="4789159"/>
            <a:ext cx="1488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</a:t>
            </a:r>
            <a:endParaRPr lang="en-US" sz="600" dirty="0"/>
          </a:p>
        </p:txBody>
      </p:sp>
      <p:sp>
        <p:nvSpPr>
          <p:cNvPr id="138" name="Text 135"/>
          <p:cNvSpPr/>
          <p:nvPr/>
        </p:nvSpPr>
        <p:spPr>
          <a:xfrm>
            <a:off x="6984690" y="4805232"/>
            <a:ext cx="4661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5555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Informed:</a:t>
            </a:r>
            <a:endParaRPr lang="en-US" sz="650" dirty="0"/>
          </a:p>
        </p:txBody>
      </p:sp>
      <p:sp>
        <p:nvSpPr>
          <p:cNvPr id="139" name="Text 136"/>
          <p:cNvSpPr/>
          <p:nvPr/>
        </p:nvSpPr>
        <p:spPr>
          <a:xfrm>
            <a:off x="7507970" y="4735581"/>
            <a:ext cx="95737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Informado do Progresso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969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 Técnica: Componentes Críticos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1500" y="1283364"/>
            <a:ext cx="800100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fundação On-Premise exige o provisionamento e sustentação autônoma de 6 blocos estruturais de alta criticidade.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667340"/>
            <a:ext cx="3929063" cy="107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667340"/>
            <a:ext cx="42863" cy="107653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1810215"/>
            <a:ext cx="357188" cy="357188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4" y="1903084"/>
            <a:ext cx="171450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4438" y="1810215"/>
            <a:ext cx="3143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Kubernetes (K8s)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214438" y="2038815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Orquestração de containers e gestão resiliente de todos os workloads da aplicação DUPIE.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1214438" y="2375967"/>
            <a:ext cx="1843088" cy="225028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440260"/>
            <a:ext cx="92869" cy="928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8744" y="2422401"/>
            <a:ext cx="1607344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Cluster HA (3+ nós) • SSD Storage</a:t>
            </a:r>
            <a:endParaRPr lang="en-US" sz="650" dirty="0"/>
          </a:p>
        </p:txBody>
      </p:sp>
      <p:sp>
        <p:nvSpPr>
          <p:cNvPr id="16" name="Shape 11"/>
          <p:cNvSpPr/>
          <p:nvPr/>
        </p:nvSpPr>
        <p:spPr>
          <a:xfrm>
            <a:off x="4643438" y="1667340"/>
            <a:ext cx="3929063" cy="107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643438" y="1667340"/>
            <a:ext cx="42863" cy="107653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18" name="Shape 13"/>
          <p:cNvSpPr/>
          <p:nvPr/>
        </p:nvSpPr>
        <p:spPr>
          <a:xfrm>
            <a:off x="4786313" y="1810215"/>
            <a:ext cx="357188" cy="357188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181" y="1903084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86375" y="1810215"/>
            <a:ext cx="3143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Apache Kafka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5286375" y="2038815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Message broker de alta vazão para processamento assíncrono de eventos e duplicatas.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5286375" y="2375967"/>
            <a:ext cx="2009180" cy="225028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813" y="2440260"/>
            <a:ext cx="92869" cy="9286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50681" y="2422401"/>
            <a:ext cx="1773436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Cluster (3+ brokers) • Replicação f=3</a:t>
            </a:r>
            <a:endParaRPr lang="en-US" sz="650" dirty="0"/>
          </a:p>
        </p:txBody>
      </p:sp>
      <p:sp>
        <p:nvSpPr>
          <p:cNvPr id="25" name="Shape 18"/>
          <p:cNvSpPr/>
          <p:nvPr/>
        </p:nvSpPr>
        <p:spPr>
          <a:xfrm>
            <a:off x="571500" y="2886745"/>
            <a:ext cx="3929063" cy="107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571500" y="2886745"/>
            <a:ext cx="42863" cy="107653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7" name="Shape 20"/>
          <p:cNvSpPr/>
          <p:nvPr/>
        </p:nvSpPr>
        <p:spPr>
          <a:xfrm>
            <a:off x="714375" y="3029620"/>
            <a:ext cx="357188" cy="357188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44" y="3122488"/>
            <a:ext cx="171450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14438" y="3029620"/>
            <a:ext cx="3143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HashiCorp Vault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214438" y="3258220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centralizada e segura de secrets, chaves criptográficas e credenciais (Compliance LGPD).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1214438" y="3595371"/>
            <a:ext cx="1866305" cy="225028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875" y="3659665"/>
            <a:ext cx="92869" cy="9286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378744" y="3641806"/>
            <a:ext cx="1630561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Cluster Raft HA • DR Ativo-Passivo</a:t>
            </a:r>
            <a:endParaRPr lang="en-US" sz="650" dirty="0"/>
          </a:p>
        </p:txBody>
      </p:sp>
      <p:sp>
        <p:nvSpPr>
          <p:cNvPr id="34" name="Shape 25"/>
          <p:cNvSpPr/>
          <p:nvPr/>
        </p:nvSpPr>
        <p:spPr>
          <a:xfrm>
            <a:off x="4643438" y="2886745"/>
            <a:ext cx="3929063" cy="107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6"/>
          <p:cNvSpPr/>
          <p:nvPr/>
        </p:nvSpPr>
        <p:spPr>
          <a:xfrm>
            <a:off x="4643438" y="2886745"/>
            <a:ext cx="42863" cy="107653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6" name="Shape 27"/>
          <p:cNvSpPr/>
          <p:nvPr/>
        </p:nvSpPr>
        <p:spPr>
          <a:xfrm>
            <a:off x="4786313" y="3029620"/>
            <a:ext cx="357188" cy="357188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13" y="3122488"/>
            <a:ext cx="128588" cy="17145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286375" y="3029620"/>
            <a:ext cx="3143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Keycloak (IAM)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5286375" y="3258220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Gerenciamento de identidade, controle de acessos (RBAC) e federação com AD corporativo.</a:t>
            </a:r>
            <a:endParaRPr lang="en-US" sz="750" dirty="0"/>
          </a:p>
        </p:txBody>
      </p:sp>
      <p:sp>
        <p:nvSpPr>
          <p:cNvPr id="40" name="Shape 30"/>
          <p:cNvSpPr/>
          <p:nvPr/>
        </p:nvSpPr>
        <p:spPr>
          <a:xfrm>
            <a:off x="5286375" y="3595371"/>
            <a:ext cx="1760934" cy="225028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13" y="3659665"/>
            <a:ext cx="92869" cy="92869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450681" y="3641806"/>
            <a:ext cx="1525191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PostgreSQL HA • TLS Obrigatório</a:t>
            </a:r>
            <a:endParaRPr lang="en-US" sz="650" dirty="0"/>
          </a:p>
        </p:txBody>
      </p:sp>
      <p:sp>
        <p:nvSpPr>
          <p:cNvPr id="43" name="Shape 32"/>
          <p:cNvSpPr/>
          <p:nvPr/>
        </p:nvSpPr>
        <p:spPr>
          <a:xfrm>
            <a:off x="571500" y="4106149"/>
            <a:ext cx="3929063" cy="107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3"/>
          <p:cNvSpPr/>
          <p:nvPr/>
        </p:nvSpPr>
        <p:spPr>
          <a:xfrm>
            <a:off x="571500" y="4106149"/>
            <a:ext cx="42863" cy="107653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5" name="Shape 34"/>
          <p:cNvSpPr/>
          <p:nvPr/>
        </p:nvSpPr>
        <p:spPr>
          <a:xfrm>
            <a:off x="714375" y="4249024"/>
            <a:ext cx="357188" cy="357188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4341893"/>
            <a:ext cx="214313" cy="17145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1214438" y="4249024"/>
            <a:ext cx="3143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Traefik API Gateway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1214438" y="4477624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Ingress controller para roteamento seguro de tráfego, rate limiting e proteção de perímetro.</a:t>
            </a:r>
            <a:endParaRPr lang="en-US" sz="750" dirty="0"/>
          </a:p>
        </p:txBody>
      </p:sp>
      <p:sp>
        <p:nvSpPr>
          <p:cNvPr id="49" name="Shape 37"/>
          <p:cNvSpPr/>
          <p:nvPr/>
        </p:nvSpPr>
        <p:spPr>
          <a:xfrm>
            <a:off x="1214438" y="4814776"/>
            <a:ext cx="1884164" cy="225028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5875" y="4879070"/>
            <a:ext cx="92869" cy="92869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1378744" y="4861210"/>
            <a:ext cx="1648420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2+ Replicas • Integração com WAF</a:t>
            </a:r>
            <a:endParaRPr lang="en-US" sz="650" dirty="0"/>
          </a:p>
        </p:txBody>
      </p:sp>
      <p:sp>
        <p:nvSpPr>
          <p:cNvPr id="52" name="Shape 39"/>
          <p:cNvSpPr/>
          <p:nvPr/>
        </p:nvSpPr>
        <p:spPr>
          <a:xfrm>
            <a:off x="4643438" y="4106149"/>
            <a:ext cx="3929063" cy="10765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0"/>
          <p:cNvSpPr/>
          <p:nvPr/>
        </p:nvSpPr>
        <p:spPr>
          <a:xfrm>
            <a:off x="4643438" y="4106149"/>
            <a:ext cx="42863" cy="1076530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54" name="Shape 41"/>
          <p:cNvSpPr/>
          <p:nvPr/>
        </p:nvSpPr>
        <p:spPr>
          <a:xfrm>
            <a:off x="4786313" y="4249024"/>
            <a:ext cx="357188" cy="357188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9181" y="4341893"/>
            <a:ext cx="171450" cy="171450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5286375" y="4249024"/>
            <a:ext cx="3143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Observabilidade (Prometheus/ELK)</a:t>
            </a:r>
            <a:endParaRPr lang="en-US" sz="900" dirty="0"/>
          </a:p>
        </p:txBody>
      </p:sp>
      <p:sp>
        <p:nvSpPr>
          <p:cNvPr id="57" name="Text 43"/>
          <p:cNvSpPr/>
          <p:nvPr/>
        </p:nvSpPr>
        <p:spPr>
          <a:xfrm>
            <a:off x="5286375" y="4477624"/>
            <a:ext cx="31432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contínuo de performance, alertas proativos e centralização de logs para auditoria.</a:t>
            </a:r>
            <a:endParaRPr lang="en-US" sz="750" dirty="0"/>
          </a:p>
        </p:txBody>
      </p:sp>
      <p:sp>
        <p:nvSpPr>
          <p:cNvPr id="58" name="Shape 44"/>
          <p:cNvSpPr/>
          <p:nvPr/>
        </p:nvSpPr>
        <p:spPr>
          <a:xfrm>
            <a:off x="5286375" y="4814776"/>
            <a:ext cx="1928813" cy="225028"/>
          </a:xfrm>
          <a:prstGeom prst="rect">
            <a:avLst/>
          </a:prstGeom>
          <a:solidFill>
            <a:srgbClr val="F9F9F9"/>
          </a:solidFill>
          <a:ln/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57813" y="4879070"/>
            <a:ext cx="92869" cy="92869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5450681" y="4861210"/>
            <a:ext cx="1693069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Integração SIEM • Retenção 90 dias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280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Alocação de Equipes e Transição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1500" y="1283364"/>
            <a:ext cx="800100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Estratégia de redução progressiva da dependência externa e internalização de conhecimento.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667340"/>
            <a:ext cx="2547947" cy="3546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667340"/>
            <a:ext cx="2547947" cy="35719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9" name="Shape 6"/>
          <p:cNvSpPr/>
          <p:nvPr/>
        </p:nvSpPr>
        <p:spPr>
          <a:xfrm>
            <a:off x="571500" y="1667340"/>
            <a:ext cx="2547947" cy="88046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540664"/>
            <a:ext cx="2547947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1810215"/>
            <a:ext cx="22621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spc="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FASE 1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14375" y="1974521"/>
            <a:ext cx="226219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Implantação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309" y="2269201"/>
            <a:ext cx="100013" cy="10001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96321" y="2251342"/>
            <a:ext cx="598289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 Semanas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714375" y="2683539"/>
            <a:ext cx="2262197" cy="18216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EQUIPE INTERNA BS2</a:t>
            </a:r>
            <a:endParaRPr lang="en-US" sz="6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963038"/>
            <a:ext cx="114300" cy="1000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113" y="2937142"/>
            <a:ext cx="10072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Lead Infraestrutura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2696180" y="2940714"/>
            <a:ext cx="280392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9" name="Text 14"/>
          <p:cNvSpPr/>
          <p:nvPr/>
        </p:nvSpPr>
        <p:spPr>
          <a:xfrm>
            <a:off x="2696180" y="2940714"/>
            <a:ext cx="280392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100%</a:t>
            </a:r>
            <a:endParaRPr lang="en-US" sz="5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186280"/>
            <a:ext cx="114300" cy="10001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113" y="3160384"/>
            <a:ext cx="69473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Eng. DevOps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2696180" y="3163956"/>
            <a:ext cx="280392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3" name="Text 17"/>
          <p:cNvSpPr/>
          <p:nvPr/>
        </p:nvSpPr>
        <p:spPr>
          <a:xfrm>
            <a:off x="2696180" y="3163956"/>
            <a:ext cx="280392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100%</a:t>
            </a:r>
            <a:endParaRPr lang="en-US" sz="5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409522"/>
            <a:ext cx="114300" cy="10001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00113" y="3383626"/>
            <a:ext cx="98583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Arquiteto Soluções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2722969" y="3387198"/>
            <a:ext cx="253603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7" name="Text 20"/>
          <p:cNvSpPr/>
          <p:nvPr/>
        </p:nvSpPr>
        <p:spPr>
          <a:xfrm>
            <a:off x="2722969" y="3387198"/>
            <a:ext cx="253603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80%</a:t>
            </a:r>
            <a:endParaRPr lang="en-US" sz="5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632764"/>
            <a:ext cx="114300" cy="10001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0113" y="3606868"/>
            <a:ext cx="83224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Eng. Segurança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2722969" y="3610440"/>
            <a:ext cx="253603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1" name="Text 23"/>
          <p:cNvSpPr/>
          <p:nvPr/>
        </p:nvSpPr>
        <p:spPr>
          <a:xfrm>
            <a:off x="2722969" y="3610440"/>
            <a:ext cx="253603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60%</a:t>
            </a:r>
            <a:endParaRPr lang="en-US" sz="550" dirty="0"/>
          </a:p>
        </p:txBody>
      </p:sp>
      <p:sp>
        <p:nvSpPr>
          <p:cNvPr id="32" name="Text 24"/>
          <p:cNvSpPr/>
          <p:nvPr/>
        </p:nvSpPr>
        <p:spPr>
          <a:xfrm>
            <a:off x="714375" y="3865829"/>
            <a:ext cx="2262197" cy="18216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CONSULTORIA ESPECIALIZADA</a:t>
            </a:r>
            <a:endParaRPr lang="en-US" sz="6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145328"/>
            <a:ext cx="114300" cy="10001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0113" y="4119432"/>
            <a:ext cx="867966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Consultor Sênior</a:t>
            </a:r>
            <a:endParaRPr lang="en-US" sz="750" dirty="0"/>
          </a:p>
        </p:txBody>
      </p:sp>
      <p:sp>
        <p:nvSpPr>
          <p:cNvPr id="35" name="Shape 26"/>
          <p:cNvSpPr/>
          <p:nvPr/>
        </p:nvSpPr>
        <p:spPr>
          <a:xfrm>
            <a:off x="2696180" y="4123004"/>
            <a:ext cx="280392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6" name="Text 27"/>
          <p:cNvSpPr/>
          <p:nvPr/>
        </p:nvSpPr>
        <p:spPr>
          <a:xfrm>
            <a:off x="2696180" y="4123004"/>
            <a:ext cx="280392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100%</a:t>
            </a:r>
            <a:endParaRPr lang="en-US" sz="5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368571"/>
            <a:ext cx="114300" cy="10001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00113" y="4342674"/>
            <a:ext cx="94833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Eng. Especialistas</a:t>
            </a:r>
            <a:endParaRPr lang="en-US" sz="750" dirty="0"/>
          </a:p>
        </p:txBody>
      </p:sp>
      <p:sp>
        <p:nvSpPr>
          <p:cNvPr id="39" name="Shape 29"/>
          <p:cNvSpPr/>
          <p:nvPr/>
        </p:nvSpPr>
        <p:spPr>
          <a:xfrm>
            <a:off x="2696180" y="4346246"/>
            <a:ext cx="280392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0" name="Text 30"/>
          <p:cNvSpPr/>
          <p:nvPr/>
        </p:nvSpPr>
        <p:spPr>
          <a:xfrm>
            <a:off x="2696180" y="4346246"/>
            <a:ext cx="280392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100%</a:t>
            </a:r>
            <a:endParaRPr lang="en-US" sz="550" dirty="0"/>
          </a:p>
        </p:txBody>
      </p:sp>
      <p:sp>
        <p:nvSpPr>
          <p:cNvPr id="41" name="Shape 31"/>
          <p:cNvSpPr/>
          <p:nvPr/>
        </p:nvSpPr>
        <p:spPr>
          <a:xfrm>
            <a:off x="571500" y="4847648"/>
            <a:ext cx="2547947" cy="366117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42" name="Text 32"/>
          <p:cNvSpPr/>
          <p:nvPr/>
        </p:nvSpPr>
        <p:spPr>
          <a:xfrm>
            <a:off x="571500" y="4847648"/>
            <a:ext cx="2547947" cy="36611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Esforço Total: ~3.500 horas</a:t>
            </a:r>
            <a:endParaRPr lang="en-US" sz="700" dirty="0"/>
          </a:p>
        </p:txBody>
      </p:sp>
      <p:sp>
        <p:nvSpPr>
          <p:cNvPr id="43" name="Shape 33"/>
          <p:cNvSpPr/>
          <p:nvPr/>
        </p:nvSpPr>
        <p:spPr>
          <a:xfrm>
            <a:off x="3298041" y="1667340"/>
            <a:ext cx="2547947" cy="3546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4"/>
          <p:cNvSpPr/>
          <p:nvPr/>
        </p:nvSpPr>
        <p:spPr>
          <a:xfrm>
            <a:off x="3298041" y="1667340"/>
            <a:ext cx="2547947" cy="35719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5" name="Shape 35"/>
          <p:cNvSpPr/>
          <p:nvPr/>
        </p:nvSpPr>
        <p:spPr>
          <a:xfrm>
            <a:off x="3298041" y="1667340"/>
            <a:ext cx="2547947" cy="88046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Shape 36"/>
          <p:cNvSpPr/>
          <p:nvPr/>
        </p:nvSpPr>
        <p:spPr>
          <a:xfrm>
            <a:off x="3298041" y="2540664"/>
            <a:ext cx="2547947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7" name="Text 37"/>
          <p:cNvSpPr/>
          <p:nvPr/>
        </p:nvSpPr>
        <p:spPr>
          <a:xfrm>
            <a:off x="3440916" y="1810215"/>
            <a:ext cx="22621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spc="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FASE 2</a:t>
            </a:r>
            <a:endParaRPr lang="en-US" sz="600" dirty="0"/>
          </a:p>
        </p:txBody>
      </p:sp>
      <p:sp>
        <p:nvSpPr>
          <p:cNvPr id="48" name="Text 38"/>
          <p:cNvSpPr/>
          <p:nvPr/>
        </p:nvSpPr>
        <p:spPr>
          <a:xfrm>
            <a:off x="3440916" y="1974521"/>
            <a:ext cx="226219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Operação Assistida</a:t>
            </a:r>
            <a:endParaRPr lang="en-US" sz="11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2995" y="2269201"/>
            <a:ext cx="100013" cy="100013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4063008" y="2251342"/>
            <a:ext cx="1117997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90 Dias (Pós Go-Live)</a:t>
            </a:r>
            <a:endParaRPr lang="en-US" sz="700" dirty="0"/>
          </a:p>
        </p:txBody>
      </p:sp>
      <p:sp>
        <p:nvSpPr>
          <p:cNvPr id="51" name="Text 40"/>
          <p:cNvSpPr/>
          <p:nvPr/>
        </p:nvSpPr>
        <p:spPr>
          <a:xfrm>
            <a:off x="3440916" y="2683539"/>
            <a:ext cx="2262197" cy="18216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EQUIPE INTERNA BS2</a:t>
            </a:r>
            <a:endParaRPr lang="en-US" sz="650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0916" y="2963038"/>
            <a:ext cx="114300" cy="100013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3626653" y="2937142"/>
            <a:ext cx="98940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Eng. de Operações</a:t>
            </a:r>
            <a:endParaRPr lang="en-US" sz="750" dirty="0"/>
          </a:p>
        </p:txBody>
      </p:sp>
      <p:sp>
        <p:nvSpPr>
          <p:cNvPr id="54" name="Shape 42"/>
          <p:cNvSpPr/>
          <p:nvPr/>
        </p:nvSpPr>
        <p:spPr>
          <a:xfrm>
            <a:off x="5422720" y="2940714"/>
            <a:ext cx="280392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5" name="Text 43"/>
          <p:cNvSpPr/>
          <p:nvPr/>
        </p:nvSpPr>
        <p:spPr>
          <a:xfrm>
            <a:off x="5422720" y="2940714"/>
            <a:ext cx="280392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100%</a:t>
            </a:r>
            <a:endParaRPr lang="en-US" sz="550" dirty="0"/>
          </a:p>
        </p:txBody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0916" y="3186280"/>
            <a:ext cx="114300" cy="100013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3626653" y="3160384"/>
            <a:ext cx="8697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SI</a:t>
            </a:r>
            <a:endParaRPr lang="en-US" sz="750" dirty="0"/>
          </a:p>
        </p:txBody>
      </p:sp>
      <p:sp>
        <p:nvSpPr>
          <p:cNvPr id="58" name="Shape 45"/>
          <p:cNvSpPr/>
          <p:nvPr/>
        </p:nvSpPr>
        <p:spPr>
          <a:xfrm>
            <a:off x="5244126" y="3163956"/>
            <a:ext cx="458986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59" name="Text 46"/>
          <p:cNvSpPr/>
          <p:nvPr/>
        </p:nvSpPr>
        <p:spPr>
          <a:xfrm>
            <a:off x="5244126" y="3163956"/>
            <a:ext cx="458986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Sob dem.</a:t>
            </a:r>
            <a:endParaRPr lang="en-US" sz="550" dirty="0"/>
          </a:p>
        </p:txBody>
      </p:sp>
      <p:sp>
        <p:nvSpPr>
          <p:cNvPr id="60" name="Text 47"/>
          <p:cNvSpPr/>
          <p:nvPr/>
        </p:nvSpPr>
        <p:spPr>
          <a:xfrm>
            <a:off x="3440916" y="3383626"/>
            <a:ext cx="226219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Foco em absorção de conhecimento prático (shadowing), alertas e capacity planning inicial.</a:t>
            </a:r>
            <a:endParaRPr lang="en-US" sz="600" dirty="0"/>
          </a:p>
        </p:txBody>
      </p:sp>
      <p:sp>
        <p:nvSpPr>
          <p:cNvPr id="61" name="Text 48"/>
          <p:cNvSpPr/>
          <p:nvPr/>
        </p:nvSpPr>
        <p:spPr>
          <a:xfrm>
            <a:off x="3440916" y="3802205"/>
            <a:ext cx="2262197" cy="18216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CONSULTORIA ESPECIALIZADA</a:t>
            </a:r>
            <a:endParaRPr lang="en-US" sz="65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0916" y="4081704"/>
            <a:ext cx="114300" cy="100013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3626653" y="4055808"/>
            <a:ext cx="86439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Suporte Contínuo</a:t>
            </a:r>
            <a:endParaRPr lang="en-US" sz="750" dirty="0"/>
          </a:p>
        </p:txBody>
      </p:sp>
      <p:sp>
        <p:nvSpPr>
          <p:cNvPr id="64" name="Shape 50"/>
          <p:cNvSpPr/>
          <p:nvPr/>
        </p:nvSpPr>
        <p:spPr>
          <a:xfrm>
            <a:off x="5253056" y="4059380"/>
            <a:ext cx="450056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5" name="Text 51"/>
          <p:cNvSpPr/>
          <p:nvPr/>
        </p:nvSpPr>
        <p:spPr>
          <a:xfrm>
            <a:off x="5253056" y="4059380"/>
            <a:ext cx="450056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40h/sem</a:t>
            </a:r>
            <a:endParaRPr lang="en-US" sz="550" dirty="0"/>
          </a:p>
        </p:txBody>
      </p:sp>
      <p:sp>
        <p:nvSpPr>
          <p:cNvPr id="66" name="Text 52"/>
          <p:cNvSpPr/>
          <p:nvPr/>
        </p:nvSpPr>
        <p:spPr>
          <a:xfrm>
            <a:off x="3440916" y="4279050"/>
            <a:ext cx="226219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Mentoria ativa e resolução de problemas complexos durante a estabilização.</a:t>
            </a:r>
            <a:endParaRPr lang="en-US" sz="600" dirty="0"/>
          </a:p>
        </p:txBody>
      </p:sp>
      <p:sp>
        <p:nvSpPr>
          <p:cNvPr id="67" name="Shape 53"/>
          <p:cNvSpPr/>
          <p:nvPr/>
        </p:nvSpPr>
        <p:spPr>
          <a:xfrm>
            <a:off x="3298041" y="4847648"/>
            <a:ext cx="2547947" cy="36611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68" name="Text 54"/>
          <p:cNvSpPr/>
          <p:nvPr/>
        </p:nvSpPr>
        <p:spPr>
          <a:xfrm>
            <a:off x="3298041" y="4847648"/>
            <a:ext cx="2547947" cy="36611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Transferência de Conhecimento</a:t>
            </a:r>
            <a:endParaRPr lang="en-US" sz="700" dirty="0"/>
          </a:p>
        </p:txBody>
      </p:sp>
      <p:sp>
        <p:nvSpPr>
          <p:cNvPr id="69" name="Shape 55"/>
          <p:cNvSpPr/>
          <p:nvPr/>
        </p:nvSpPr>
        <p:spPr>
          <a:xfrm>
            <a:off x="6024581" y="1667340"/>
            <a:ext cx="2547947" cy="3546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hape 56"/>
          <p:cNvSpPr/>
          <p:nvPr/>
        </p:nvSpPr>
        <p:spPr>
          <a:xfrm>
            <a:off x="6024581" y="1667340"/>
            <a:ext cx="2547947" cy="35719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71" name="Shape 57"/>
          <p:cNvSpPr/>
          <p:nvPr/>
        </p:nvSpPr>
        <p:spPr>
          <a:xfrm>
            <a:off x="6024581" y="1667340"/>
            <a:ext cx="2547947" cy="88046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2" name="Shape 58"/>
          <p:cNvSpPr/>
          <p:nvPr/>
        </p:nvSpPr>
        <p:spPr>
          <a:xfrm>
            <a:off x="6024581" y="2540664"/>
            <a:ext cx="2547947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3" name="Text 59"/>
          <p:cNvSpPr/>
          <p:nvPr/>
        </p:nvSpPr>
        <p:spPr>
          <a:xfrm>
            <a:off x="6167456" y="1810215"/>
            <a:ext cx="226219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b="1" spc="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FASE 3</a:t>
            </a:r>
            <a:endParaRPr lang="en-US" sz="600" dirty="0"/>
          </a:p>
        </p:txBody>
      </p:sp>
      <p:sp>
        <p:nvSpPr>
          <p:cNvPr id="74" name="Text 60"/>
          <p:cNvSpPr/>
          <p:nvPr/>
        </p:nvSpPr>
        <p:spPr>
          <a:xfrm>
            <a:off x="6167456" y="1974521"/>
            <a:ext cx="226219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Operação Autônoma</a:t>
            </a:r>
            <a:endParaRPr lang="en-US" sz="1100" dirty="0"/>
          </a:p>
        </p:txBody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4216" y="2269201"/>
            <a:ext cx="125016" cy="100013"/>
          </a:xfrm>
          <a:prstGeom prst="rect">
            <a:avLst/>
          </a:prstGeom>
        </p:spPr>
      </p:pic>
      <p:sp>
        <p:nvSpPr>
          <p:cNvPr id="76" name="Text 61"/>
          <p:cNvSpPr/>
          <p:nvPr/>
        </p:nvSpPr>
        <p:spPr>
          <a:xfrm>
            <a:off x="7109231" y="2251342"/>
            <a:ext cx="503634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Contínua</a:t>
            </a:r>
            <a:endParaRPr lang="en-US" sz="700" dirty="0"/>
          </a:p>
        </p:txBody>
      </p:sp>
      <p:sp>
        <p:nvSpPr>
          <p:cNvPr id="77" name="Text 62"/>
          <p:cNvSpPr/>
          <p:nvPr/>
        </p:nvSpPr>
        <p:spPr>
          <a:xfrm>
            <a:off x="6167456" y="2683539"/>
            <a:ext cx="2262197" cy="18216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EQUIPE INTERNA BS2</a:t>
            </a:r>
            <a:endParaRPr lang="en-US" sz="650" dirty="0"/>
          </a:p>
        </p:txBody>
      </p:sp>
      <p:pic>
        <p:nvPicPr>
          <p:cNvPr id="7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7456" y="2963038"/>
            <a:ext cx="114300" cy="100013"/>
          </a:xfrm>
          <a:prstGeom prst="rect">
            <a:avLst/>
          </a:prstGeom>
        </p:spPr>
      </p:pic>
      <p:sp>
        <p:nvSpPr>
          <p:cNvPr id="79" name="Text 63"/>
          <p:cNvSpPr/>
          <p:nvPr/>
        </p:nvSpPr>
        <p:spPr>
          <a:xfrm>
            <a:off x="6353194" y="2937142"/>
            <a:ext cx="106084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Núcleo Fixo Dedicado</a:t>
            </a:r>
            <a:endParaRPr lang="en-US" sz="750" dirty="0"/>
          </a:p>
        </p:txBody>
      </p:sp>
      <p:sp>
        <p:nvSpPr>
          <p:cNvPr id="80" name="Shape 64"/>
          <p:cNvSpPr/>
          <p:nvPr/>
        </p:nvSpPr>
        <p:spPr>
          <a:xfrm>
            <a:off x="8056392" y="2940714"/>
            <a:ext cx="373261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1" name="Text 65"/>
          <p:cNvSpPr/>
          <p:nvPr/>
        </p:nvSpPr>
        <p:spPr>
          <a:xfrm>
            <a:off x="8056392" y="2940714"/>
            <a:ext cx="373261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2-3 FTE</a:t>
            </a:r>
            <a:endParaRPr lang="en-US" sz="550" dirty="0"/>
          </a:p>
        </p:txBody>
      </p:sp>
      <p:sp>
        <p:nvSpPr>
          <p:cNvPr id="82" name="Text 66"/>
          <p:cNvSpPr/>
          <p:nvPr/>
        </p:nvSpPr>
        <p:spPr>
          <a:xfrm>
            <a:off x="6167456" y="3160384"/>
            <a:ext cx="226219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Squad permanente responsável por monitoramento, patches e upgrades de rotina.</a:t>
            </a:r>
            <a:endParaRPr lang="en-US" sz="600" dirty="0"/>
          </a:p>
        </p:txBody>
      </p:sp>
      <p:pic>
        <p:nvPicPr>
          <p:cNvPr id="8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7456" y="3533422"/>
            <a:ext cx="114300" cy="100013"/>
          </a:xfrm>
          <a:prstGeom prst="rect">
            <a:avLst/>
          </a:prstGeom>
        </p:spPr>
      </p:pic>
      <p:sp>
        <p:nvSpPr>
          <p:cNvPr id="84" name="Text 67"/>
          <p:cNvSpPr/>
          <p:nvPr/>
        </p:nvSpPr>
        <p:spPr>
          <a:xfrm>
            <a:off x="6353194" y="3507525"/>
            <a:ext cx="109120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Horas Evolutivo</a:t>
            </a:r>
            <a:endParaRPr lang="en-US" sz="750" dirty="0"/>
          </a:p>
        </p:txBody>
      </p:sp>
      <p:sp>
        <p:nvSpPr>
          <p:cNvPr id="85" name="Shape 68"/>
          <p:cNvSpPr/>
          <p:nvPr/>
        </p:nvSpPr>
        <p:spPr>
          <a:xfrm>
            <a:off x="7979597" y="3511097"/>
            <a:ext cx="450056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6" name="Text 69"/>
          <p:cNvSpPr/>
          <p:nvPr/>
        </p:nvSpPr>
        <p:spPr>
          <a:xfrm>
            <a:off x="7979597" y="3511097"/>
            <a:ext cx="450056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40h/mês</a:t>
            </a:r>
            <a:endParaRPr lang="en-US" sz="550" dirty="0"/>
          </a:p>
        </p:txBody>
      </p:sp>
      <p:sp>
        <p:nvSpPr>
          <p:cNvPr id="87" name="Text 70"/>
          <p:cNvSpPr/>
          <p:nvPr/>
        </p:nvSpPr>
        <p:spPr>
          <a:xfrm>
            <a:off x="6167456" y="3837924"/>
            <a:ext cx="2262197" cy="182166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CONSULTORIA ESPECIALIZADA</a:t>
            </a:r>
            <a:endParaRPr lang="en-US" sz="650" dirty="0"/>
          </a:p>
        </p:txBody>
      </p:sp>
      <p:pic>
        <p:nvPicPr>
          <p:cNvPr id="8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7456" y="4117423"/>
            <a:ext cx="114300" cy="100013"/>
          </a:xfrm>
          <a:prstGeom prst="rect">
            <a:avLst/>
          </a:prstGeom>
        </p:spPr>
      </p:pic>
      <p:sp>
        <p:nvSpPr>
          <p:cNvPr id="89" name="Text 71"/>
          <p:cNvSpPr/>
          <p:nvPr/>
        </p:nvSpPr>
        <p:spPr>
          <a:xfrm>
            <a:off x="6353194" y="4091527"/>
            <a:ext cx="58043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Plantão 8x5</a:t>
            </a:r>
            <a:endParaRPr lang="en-US" sz="750" dirty="0"/>
          </a:p>
        </p:txBody>
      </p:sp>
      <p:sp>
        <p:nvSpPr>
          <p:cNvPr id="90" name="Shape 72"/>
          <p:cNvSpPr/>
          <p:nvPr/>
        </p:nvSpPr>
        <p:spPr>
          <a:xfrm>
            <a:off x="7970667" y="4095099"/>
            <a:ext cx="458986" cy="144661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1" name="Text 73"/>
          <p:cNvSpPr/>
          <p:nvPr/>
        </p:nvSpPr>
        <p:spPr>
          <a:xfrm>
            <a:off x="7970667" y="4095099"/>
            <a:ext cx="458986" cy="144661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555555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Sob dem.</a:t>
            </a:r>
            <a:endParaRPr lang="en-US" sz="550" dirty="0"/>
          </a:p>
        </p:txBody>
      </p:sp>
      <p:sp>
        <p:nvSpPr>
          <p:cNvPr id="92" name="Text 74"/>
          <p:cNvSpPr/>
          <p:nvPr/>
        </p:nvSpPr>
        <p:spPr>
          <a:xfrm>
            <a:off x="6167456" y="4314769"/>
            <a:ext cx="226219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Acionamento restrito a incidentes de severidade 1 (indisponibilidade total).</a:t>
            </a:r>
            <a:endParaRPr lang="en-US" sz="600" dirty="0"/>
          </a:p>
        </p:txBody>
      </p:sp>
      <p:sp>
        <p:nvSpPr>
          <p:cNvPr id="93" name="Shape 75"/>
          <p:cNvSpPr/>
          <p:nvPr/>
        </p:nvSpPr>
        <p:spPr>
          <a:xfrm>
            <a:off x="6024581" y="4804786"/>
            <a:ext cx="2547947" cy="366117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4" name="Text 76"/>
          <p:cNvSpPr/>
          <p:nvPr/>
        </p:nvSpPr>
        <p:spPr>
          <a:xfrm>
            <a:off x="6024581" y="4804786"/>
            <a:ext cx="2547947" cy="366117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Autonomia com Retaguarda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10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Análise de Custos: CAPEX e OPEX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1500" y="1283364"/>
            <a:ext cx="8001000" cy="16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Detalhamento do investimento On-Premise vs Proposta Comercial Evertec (23º Termo Aditivo).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1667340"/>
            <a:ext cx="2295292" cy="22895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667340"/>
            <a:ext cx="2295292" cy="75009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1753065"/>
            <a:ext cx="1255877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CAPEX (Infraestrutura Ano 1)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70252" y="1806643"/>
            <a:ext cx="753666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R$ 1.250.000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546021"/>
            <a:ext cx="153811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Servidores / Nós Kubernetes (5x)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223911" y="2546021"/>
            <a:ext cx="528582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R$ 750.000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85800" y="2942499"/>
            <a:ext cx="1312664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Storage SAN/NAS HA (5TB)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193494" y="2942499"/>
            <a:ext cx="558998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R$ 200.000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85800" y="3187173"/>
            <a:ext cx="1366242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Networking (Switches, WAF)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214925" y="3187173"/>
            <a:ext cx="53756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R$ 100.000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85800" y="3431846"/>
            <a:ext cx="119836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Backup e DR Geográfico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214925" y="3431846"/>
            <a:ext cx="537567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R$ 150.000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85800" y="3676520"/>
            <a:ext cx="69830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Licenças Base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252430" y="3676520"/>
            <a:ext cx="500063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R$ 50.000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2973949" y="1667340"/>
            <a:ext cx="2295292" cy="22895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2973949" y="1667340"/>
            <a:ext cx="2295292" cy="64293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23" name="Text 20"/>
          <p:cNvSpPr/>
          <p:nvPr/>
        </p:nvSpPr>
        <p:spPr>
          <a:xfrm>
            <a:off x="3116824" y="1795928"/>
            <a:ext cx="136839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Consultoria (Habilitação 8 sem.)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485215" y="1753065"/>
            <a:ext cx="641152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R$ 734.000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088249" y="2438865"/>
            <a:ext cx="1576481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Consultoria Sênior (Arq/Liderança)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664729" y="2438865"/>
            <a:ext cx="490212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R$ 160.000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088249" y="2835343"/>
            <a:ext cx="1614376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Engenheiros Especialistas (Implantação)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702625" y="2835343"/>
            <a:ext cx="45231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R$ 448.000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088249" y="3231821"/>
            <a:ext cx="1450181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Operação Assistida (90 dias)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622732" y="3231821"/>
            <a:ext cx="53220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R$ 126.000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71500" y="4064068"/>
            <a:ext cx="4697741" cy="1305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9"/>
          <p:cNvSpPr/>
          <p:nvPr/>
        </p:nvSpPr>
        <p:spPr>
          <a:xfrm>
            <a:off x="571500" y="4064068"/>
            <a:ext cx="4697741" cy="407194"/>
          </a:xfrm>
          <a:prstGeom prst="rect">
            <a:avLst/>
          </a:prstGeom>
          <a:solidFill>
            <a:srgbClr val="FF3366"/>
          </a:solidFill>
          <a:ln/>
        </p:spPr>
      </p:sp>
      <p:sp>
        <p:nvSpPr>
          <p:cNvPr id="33" name="Text 30"/>
          <p:cNvSpPr/>
          <p:nvPr/>
        </p:nvSpPr>
        <p:spPr>
          <a:xfrm>
            <a:off x="714375" y="4171224"/>
            <a:ext cx="220563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OPEX (Operação Contínua Anual)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710118" y="4149793"/>
            <a:ext cx="141624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R$ 1.140.000 / ano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5800" y="4599849"/>
            <a:ext cx="1498402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Núcleo Fixo Dedicado (2.5 FTE)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4604872" y="4599849"/>
            <a:ext cx="5500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R$ 720.000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85800" y="4844523"/>
            <a:ext cx="1812727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 de Horas Evolutivo (40h/mês)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613802" y="4844523"/>
            <a:ext cx="54113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R$ 144.000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85800" y="5089196"/>
            <a:ext cx="173414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Plantão 8x5 e Manutenção de Infra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604872" y="5089196"/>
            <a:ext cx="5500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R$ 276.000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440691" y="1667340"/>
            <a:ext cx="3131809" cy="2960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5440691" y="1667340"/>
            <a:ext cx="3131809" cy="35719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586" y="1824503"/>
            <a:ext cx="160734" cy="128588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5949321" y="1801285"/>
            <a:ext cx="2275284" cy="18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Comparativo SaaS vs On-Premise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5569279" y="2074534"/>
            <a:ext cx="1149837" cy="2607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Shape 42"/>
          <p:cNvSpPr/>
          <p:nvPr/>
        </p:nvSpPr>
        <p:spPr>
          <a:xfrm>
            <a:off x="5569279" y="2320993"/>
            <a:ext cx="1149837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7" name="Text 43"/>
          <p:cNvSpPr/>
          <p:nvPr/>
        </p:nvSpPr>
        <p:spPr>
          <a:xfrm>
            <a:off x="5569279" y="2074534"/>
            <a:ext cx="1149837" cy="260747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Métrica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6719115" y="2074534"/>
            <a:ext cx="844190" cy="2607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Shape 45"/>
          <p:cNvSpPr/>
          <p:nvPr/>
        </p:nvSpPr>
        <p:spPr>
          <a:xfrm>
            <a:off x="6719115" y="2320993"/>
            <a:ext cx="844190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0" name="Text 46"/>
          <p:cNvSpPr/>
          <p:nvPr/>
        </p:nvSpPr>
        <p:spPr>
          <a:xfrm>
            <a:off x="6719115" y="2074534"/>
            <a:ext cx="844190" cy="260747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 (Evertec)</a:t>
            </a:r>
            <a:endParaRPr lang="en-US" sz="650" dirty="0"/>
          </a:p>
        </p:txBody>
      </p:sp>
      <p:sp>
        <p:nvSpPr>
          <p:cNvPr id="51" name="Shape 47"/>
          <p:cNvSpPr/>
          <p:nvPr/>
        </p:nvSpPr>
        <p:spPr>
          <a:xfrm>
            <a:off x="7563306" y="2074534"/>
            <a:ext cx="880607" cy="2607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2" name="Shape 48"/>
          <p:cNvSpPr/>
          <p:nvPr/>
        </p:nvSpPr>
        <p:spPr>
          <a:xfrm>
            <a:off x="7563306" y="2320993"/>
            <a:ext cx="880607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3" name="Text 49"/>
          <p:cNvSpPr/>
          <p:nvPr/>
        </p:nvSpPr>
        <p:spPr>
          <a:xfrm>
            <a:off x="7563306" y="2074534"/>
            <a:ext cx="880607" cy="260747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On-Premise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5569279" y="2328137"/>
            <a:ext cx="1149837" cy="307181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Investimento Ano 1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6719115" y="2328137"/>
            <a:ext cx="844190" cy="307181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R$ 0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7563306" y="2328137"/>
            <a:ext cx="880607" cy="307181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R$ 1.98M</a:t>
            </a:r>
            <a:endParaRPr lang="en-US" sz="750" dirty="0"/>
          </a:p>
        </p:txBody>
      </p:sp>
      <p:sp>
        <p:nvSpPr>
          <p:cNvPr id="57" name="Text 53"/>
          <p:cNvSpPr/>
          <p:nvPr/>
        </p:nvSpPr>
        <p:spPr>
          <a:xfrm>
            <a:off x="5569279" y="2635318"/>
            <a:ext cx="1149837" cy="31075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Total Ano 1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6719115" y="2635318"/>
            <a:ext cx="844190" cy="31075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R$ 180k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7563306" y="2635318"/>
            <a:ext cx="880607" cy="31075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R$ 3.12M</a:t>
            </a:r>
            <a:endParaRPr lang="en-US" sz="750" dirty="0"/>
          </a:p>
        </p:txBody>
      </p:sp>
      <p:sp>
        <p:nvSpPr>
          <p:cNvPr id="60" name="Text 56"/>
          <p:cNvSpPr/>
          <p:nvPr/>
        </p:nvSpPr>
        <p:spPr>
          <a:xfrm>
            <a:off x="5569279" y="2946071"/>
            <a:ext cx="1149837" cy="31075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Custo Total Ano 2+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6719115" y="2946071"/>
            <a:ext cx="844190" cy="31075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R$ 180k / ano</a:t>
            </a:r>
            <a:endParaRPr lang="en-US" sz="750" dirty="0"/>
          </a:p>
        </p:txBody>
      </p:sp>
      <p:sp>
        <p:nvSpPr>
          <p:cNvPr id="62" name="Text 58"/>
          <p:cNvSpPr/>
          <p:nvPr/>
        </p:nvSpPr>
        <p:spPr>
          <a:xfrm>
            <a:off x="7563306" y="2946071"/>
            <a:ext cx="880607" cy="310753"/>
          </a:xfrm>
          <a:prstGeom prst="rect">
            <a:avLst/>
          </a:prstGeom>
          <a:noFill/>
          <a:ln/>
        </p:spPr>
        <p:txBody>
          <a:bodyPr wrap="none" lIns="68072" tIns="85090" rIns="68072" bIns="8509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R$ 1.14M / ano</a:t>
            </a:r>
            <a:endParaRPr lang="en-US" sz="750" dirty="0"/>
          </a:p>
        </p:txBody>
      </p:sp>
      <p:sp>
        <p:nvSpPr>
          <p:cNvPr id="63" name="Shape 59"/>
          <p:cNvSpPr/>
          <p:nvPr/>
        </p:nvSpPr>
        <p:spPr>
          <a:xfrm>
            <a:off x="5569279" y="3346121"/>
            <a:ext cx="2874634" cy="1103263"/>
          </a:xfrm>
          <a:prstGeom prst="rect">
            <a:avLst/>
          </a:prstGeom>
          <a:solidFill>
            <a:srgbClr val="FFF3CD"/>
          </a:solidFill>
          <a:ln w="9144">
            <a:solidFill>
              <a:srgbClr val="FFC107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655004" y="3431846"/>
            <a:ext cx="2703184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5640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ANÁLISE FINANCEIRA (TCO 5 ANOS)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5655004" y="3619370"/>
            <a:ext cx="270318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56404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SaaS: R$ 0,9M | On-Prem: R$ 7,68M</a:t>
            </a:r>
            <a:endParaRPr lang="en-US" sz="1000" dirty="0"/>
          </a:p>
        </p:txBody>
      </p:sp>
      <p:sp>
        <p:nvSpPr>
          <p:cNvPr id="66" name="Text 62"/>
          <p:cNvSpPr/>
          <p:nvPr/>
        </p:nvSpPr>
        <p:spPr>
          <a:xfrm>
            <a:off x="5655004" y="3869401"/>
            <a:ext cx="270318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 os valores oficiais (R$ 15k/mês), o SaaS é </a:t>
            </a: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substancialmente mais econômico. A adoção do On-Premise </a:t>
            </a: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justifica-se </a:t>
            </a:r>
            <a:r>
              <a:rPr lang="en-US" sz="6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exclusivamente</a:t>
            </a: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por exigência regulatória ou </a:t>
            </a:r>
            <a:r>
              <a:rPr lang="en-US" sz="6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mitigação de riscos críticos, não por viabilidade financeira.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123586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-1" kern="0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</a:t>
            </a:r>
            <a:r>
              <a:rPr lang="en-US" sz="1600" b="1" spc="-1" kern="0" dirty="0">
                <a:solidFill>
                  <a:srgbClr val="FF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557213"/>
            <a:ext cx="1235869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851892"/>
            <a:ext cx="80010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Termo de Decisão e Assunção de Risco Multidisciplinar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71500" y="1657685"/>
            <a:ext cx="8001000" cy="839391"/>
          </a:xfrm>
          <a:prstGeom prst="rect">
            <a:avLst/>
          </a:prstGeom>
          <a:solidFill>
            <a:srgbClr val="003366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57685"/>
            <a:ext cx="42863" cy="839391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743410"/>
            <a:ext cx="77152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"Os signatários abaixo atestam que avaliaram tecnicamente as opções arquitetônicas para o sistema </a:t>
            </a:r>
            <a:r>
              <a:rPr lang="en-US" sz="750" b="1" dirty="0">
                <a:solidFill>
                  <a:srgbClr val="0033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DUPIE</a:t>
            </a: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, compreendem os riscos </a:t>
            </a: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inerentes (incluindo segurança, conformidade e dependência de terceiros) e formalizam sua concordância com o modelo selecionado, </a:t>
            </a:r>
            <a:r>
              <a:rPr lang="en-US" sz="800" i="1" dirty="0">
                <a:solidFill>
                  <a:srgbClr val="333333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assumindo as responsabilidades de governança associadas às suas respectivas áreas."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4375" y="2250616"/>
            <a:ext cx="9947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Modelo Aprovado: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009180" y="2250616"/>
            <a:ext cx="81081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SaaS (Evertec)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312914" y="2250616"/>
            <a:ext cx="116978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3366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On-Premise (Interno)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1500" y="2625663"/>
            <a:ext cx="2595553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625663"/>
            <a:ext cx="2595553" cy="28575"/>
          </a:xfrm>
          <a:prstGeom prst="rect">
            <a:avLst/>
          </a:prstGeom>
          <a:solidFill>
            <a:srgbClr val="00336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2745321"/>
            <a:ext cx="92869" cy="928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7244" y="2711388"/>
            <a:ext cx="1453753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Segurança da Informação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57225" y="2893554"/>
            <a:ext cx="2424103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controles técnicos e plano de mitigação de riscos.</a:t>
            </a:r>
            <a:endParaRPr lang="en-US" sz="550" dirty="0"/>
          </a:p>
        </p:txBody>
      </p:sp>
      <p:sp>
        <p:nvSpPr>
          <p:cNvPr id="17" name="Text 13"/>
          <p:cNvSpPr/>
          <p:nvPr/>
        </p:nvSpPr>
        <p:spPr>
          <a:xfrm>
            <a:off x="657225" y="33678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18" name="Text 14"/>
          <p:cNvSpPr/>
          <p:nvPr/>
        </p:nvSpPr>
        <p:spPr>
          <a:xfrm>
            <a:off x="2268727" y="33678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19" name="Shape 15"/>
          <p:cNvSpPr/>
          <p:nvPr/>
        </p:nvSpPr>
        <p:spPr>
          <a:xfrm>
            <a:off x="3274209" y="2625663"/>
            <a:ext cx="2595553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274209" y="2625663"/>
            <a:ext cx="2595553" cy="28575"/>
          </a:xfrm>
          <a:prstGeom prst="rect">
            <a:avLst/>
          </a:prstGeom>
          <a:solidFill>
            <a:srgbClr val="0055A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34" y="2745321"/>
            <a:ext cx="105370" cy="9286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22455" y="2711388"/>
            <a:ext cx="134481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3359934" y="2893554"/>
            <a:ext cx="2424103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integração, performance e escalabilidade técnica.</a:t>
            </a:r>
            <a:endParaRPr lang="en-US" sz="550" dirty="0"/>
          </a:p>
        </p:txBody>
      </p:sp>
      <p:sp>
        <p:nvSpPr>
          <p:cNvPr id="24" name="Text 19"/>
          <p:cNvSpPr/>
          <p:nvPr/>
        </p:nvSpPr>
        <p:spPr>
          <a:xfrm>
            <a:off x="3359934" y="33678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25" name="Text 20"/>
          <p:cNvSpPr/>
          <p:nvPr/>
        </p:nvSpPr>
        <p:spPr>
          <a:xfrm>
            <a:off x="4971436" y="33678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26" name="Shape 21"/>
          <p:cNvSpPr/>
          <p:nvPr/>
        </p:nvSpPr>
        <p:spPr>
          <a:xfrm>
            <a:off x="5976919" y="2625663"/>
            <a:ext cx="2595581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5976919" y="2625663"/>
            <a:ext cx="2595581" cy="28575"/>
          </a:xfrm>
          <a:prstGeom prst="rect">
            <a:avLst/>
          </a:prstGeom>
          <a:solidFill>
            <a:srgbClr val="FF336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644" y="2745321"/>
            <a:ext cx="92869" cy="9286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2663" y="2711388"/>
            <a:ext cx="111621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Negócios / Produtos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6062644" y="2893554"/>
            <a:ext cx="2424131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time-to-market, viabilidade financeira e operação.</a:t>
            </a:r>
            <a:endParaRPr lang="en-US" sz="550" dirty="0"/>
          </a:p>
        </p:txBody>
      </p:sp>
      <p:sp>
        <p:nvSpPr>
          <p:cNvPr id="31" name="Text 25"/>
          <p:cNvSpPr/>
          <p:nvPr/>
        </p:nvSpPr>
        <p:spPr>
          <a:xfrm>
            <a:off x="6062644" y="33678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32" name="Text 26"/>
          <p:cNvSpPr/>
          <p:nvPr/>
        </p:nvSpPr>
        <p:spPr>
          <a:xfrm>
            <a:off x="7674173" y="33678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33" name="Shape 27"/>
          <p:cNvSpPr/>
          <p:nvPr/>
        </p:nvSpPr>
        <p:spPr>
          <a:xfrm>
            <a:off x="571500" y="3676855"/>
            <a:ext cx="2595553" cy="972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8"/>
          <p:cNvSpPr/>
          <p:nvPr/>
        </p:nvSpPr>
        <p:spPr>
          <a:xfrm>
            <a:off x="571500" y="3676855"/>
            <a:ext cx="2595553" cy="28575"/>
          </a:xfrm>
          <a:prstGeom prst="rect">
            <a:avLst/>
          </a:prstGeom>
          <a:solidFill>
            <a:srgbClr val="009900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3796512"/>
            <a:ext cx="92869" cy="9286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07244" y="3762580"/>
            <a:ext cx="78402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657225" y="3944745"/>
            <a:ext cx="2424103" cy="18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capacidade, recursos e operação técnica contínua.</a:t>
            </a:r>
            <a:endParaRPr lang="en-US" sz="550" dirty="0"/>
          </a:p>
        </p:txBody>
      </p:sp>
      <p:sp>
        <p:nvSpPr>
          <p:cNvPr id="38" name="Text 31"/>
          <p:cNvSpPr/>
          <p:nvPr/>
        </p:nvSpPr>
        <p:spPr>
          <a:xfrm>
            <a:off x="657225" y="4419079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39" name="Text 32"/>
          <p:cNvSpPr/>
          <p:nvPr/>
        </p:nvSpPr>
        <p:spPr>
          <a:xfrm>
            <a:off x="2268727" y="4419079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40" name="Shape 33"/>
          <p:cNvSpPr/>
          <p:nvPr/>
        </p:nvSpPr>
        <p:spPr>
          <a:xfrm>
            <a:off x="3274209" y="3676855"/>
            <a:ext cx="2595553" cy="87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4"/>
          <p:cNvSpPr/>
          <p:nvPr/>
        </p:nvSpPr>
        <p:spPr>
          <a:xfrm>
            <a:off x="3274209" y="3676855"/>
            <a:ext cx="2595553" cy="28575"/>
          </a:xfrm>
          <a:prstGeom prst="rect">
            <a:avLst/>
          </a:prstGeom>
          <a:solidFill>
            <a:srgbClr val="FF6600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934" y="3796512"/>
            <a:ext cx="116086" cy="9286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533170" y="3762580"/>
            <a:ext cx="68222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44" name="Text 36"/>
          <p:cNvSpPr/>
          <p:nvPr/>
        </p:nvSpPr>
        <p:spPr>
          <a:xfrm>
            <a:off x="3359934" y="3944745"/>
            <a:ext cx="2424103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regulatória (Res. BCB 339/2023) e LGPD.</a:t>
            </a:r>
            <a:endParaRPr lang="en-US" sz="550" dirty="0"/>
          </a:p>
        </p:txBody>
      </p:sp>
      <p:sp>
        <p:nvSpPr>
          <p:cNvPr id="45" name="Text 37"/>
          <p:cNvSpPr/>
          <p:nvPr/>
        </p:nvSpPr>
        <p:spPr>
          <a:xfrm>
            <a:off x="3359934" y="43247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46" name="Text 38"/>
          <p:cNvSpPr/>
          <p:nvPr/>
        </p:nvSpPr>
        <p:spPr>
          <a:xfrm>
            <a:off x="4971436" y="43247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  <p:sp>
        <p:nvSpPr>
          <p:cNvPr id="47" name="Shape 39"/>
          <p:cNvSpPr/>
          <p:nvPr/>
        </p:nvSpPr>
        <p:spPr>
          <a:xfrm>
            <a:off x="5976919" y="3676855"/>
            <a:ext cx="2595581" cy="8783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0"/>
          <p:cNvSpPr/>
          <p:nvPr/>
        </p:nvSpPr>
        <p:spPr>
          <a:xfrm>
            <a:off x="5976919" y="3676855"/>
            <a:ext cx="2595581" cy="2857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644" y="3796512"/>
            <a:ext cx="92869" cy="92869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212663" y="3762580"/>
            <a:ext cx="4554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Jurídico</a:t>
            </a:r>
            <a:endParaRPr lang="en-US" sz="750" dirty="0"/>
          </a:p>
        </p:txBody>
      </p:sp>
      <p:sp>
        <p:nvSpPr>
          <p:cNvPr id="51" name="Text 42"/>
          <p:cNvSpPr/>
          <p:nvPr/>
        </p:nvSpPr>
        <p:spPr>
          <a:xfrm>
            <a:off x="6062644" y="3944745"/>
            <a:ext cx="2424131" cy="94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contratual, SLAs, multas e responsabilidade civil.</a:t>
            </a:r>
            <a:endParaRPr lang="en-US" sz="550" dirty="0"/>
          </a:p>
        </p:txBody>
      </p:sp>
      <p:sp>
        <p:nvSpPr>
          <p:cNvPr id="52" name="Text 43"/>
          <p:cNvSpPr/>
          <p:nvPr/>
        </p:nvSpPr>
        <p:spPr>
          <a:xfrm>
            <a:off x="6062644" y="4324787"/>
            <a:ext cx="248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Nome:</a:t>
            </a:r>
            <a:endParaRPr lang="en-US" sz="550" dirty="0"/>
          </a:p>
        </p:txBody>
      </p:sp>
      <p:sp>
        <p:nvSpPr>
          <p:cNvPr id="53" name="Text 44"/>
          <p:cNvSpPr/>
          <p:nvPr/>
        </p:nvSpPr>
        <p:spPr>
          <a:xfrm>
            <a:off x="7674173" y="4324787"/>
            <a:ext cx="8126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 ___/___/___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2026-06-16T16:43:10Z</dcterms:created>
  <dcterms:modified xsi:type="dcterms:W3CDTF">2026-06-16T16:43:10Z</dcterms:modified>
</cp:coreProperties>
</file>